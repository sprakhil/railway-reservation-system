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f8c2193b41413f" /><Relationship Type="http://schemas.openxmlformats.org/officeDocument/2006/relationships/extended-properties" Target="/docProps/app.xml" Id="R12e8c53d5f7c41d8" /><Relationship Type="http://schemas.openxmlformats.org/officeDocument/2006/relationships/officeDocument" Target="/ppt/presentation.xml" Id="Re384dbc2714342bf" /></Relationships>
</file>

<file path=ppt/presentation.xml><?xml version="1.0" encoding="utf-8"?>
<p:presentation xmlns:p="http://schemas.openxmlformats.org/presentationml/2006/main">
  <p:sldMasterIdLst>
    <p:sldMasterId xmlns:r="http://schemas.openxmlformats.org/officeDocument/2006/relationships" id="2147483648" r:id="Re22d076ff57d4b9f"/>
  </p:sldMasterIdLst>
  <p:notesMasterIdLst>
    <p:notesMasterId xmlns:r="http://schemas.openxmlformats.org/officeDocument/2006/relationships" r:id="Rc58bdac930654d7e"/>
  </p:notesMasterIdLst>
  <p:sldIdLst>
    <p:sldId xmlns:r="http://schemas.openxmlformats.org/officeDocument/2006/relationships" id="256" r:id="R9bce6661344748b0"/>
    <p:sldId xmlns:r="http://schemas.openxmlformats.org/officeDocument/2006/relationships" id="257" r:id="R097bc6c681b242cb"/>
    <p:sldId xmlns:r="http://schemas.openxmlformats.org/officeDocument/2006/relationships" id="258" r:id="R7a5a02020bc34e30"/>
    <p:sldId xmlns:r="http://schemas.openxmlformats.org/officeDocument/2006/relationships" id="259" r:id="R60874ed2617b43b9"/>
    <p:sldId xmlns:r="http://schemas.openxmlformats.org/officeDocument/2006/relationships" id="260" r:id="Rf7d40b59a4b0410a"/>
    <p:sldId xmlns:r="http://schemas.openxmlformats.org/officeDocument/2006/relationships" id="261" r:id="R0aecf02669b84750"/>
    <p:sldId xmlns:r="http://schemas.openxmlformats.org/officeDocument/2006/relationships" id="262" r:id="R6700fa3c9c5b44e6"/>
    <p:sldId xmlns:r="http://schemas.openxmlformats.org/officeDocument/2006/relationships" id="263" r:id="R0f2d817dfb6246a7"/>
    <p:sldId xmlns:r="http://schemas.openxmlformats.org/officeDocument/2006/relationships" id="264" r:id="R50bc41383ffd41da"/>
    <p:sldId xmlns:r="http://schemas.openxmlformats.org/officeDocument/2006/relationships" id="265" r:id="R3a6b21c13e064821"/>
    <p:sldId xmlns:r="http://schemas.openxmlformats.org/officeDocument/2006/relationships" id="266" r:id="R16a6586b6c474e4e"/>
    <p:sldId xmlns:r="http://schemas.openxmlformats.org/officeDocument/2006/relationships" id="267" r:id="R4f50c1b35ce24cd6"/>
    <p:sldId xmlns:r="http://schemas.openxmlformats.org/officeDocument/2006/relationships" id="268" r:id="R3fc470efa7854797"/>
    <p:sldId xmlns:r="http://schemas.openxmlformats.org/officeDocument/2006/relationships" id="269" r:id="R0d534058ab4c4f0b"/>
    <p:sldId xmlns:r="http://schemas.openxmlformats.org/officeDocument/2006/relationships" id="270" r:id="R5078583c535a45d6"/>
    <p:sldId xmlns:r="http://schemas.openxmlformats.org/officeDocument/2006/relationships" id="271" r:id="R1b85d8b0986e40f3"/>
    <p:sldId xmlns:r="http://schemas.openxmlformats.org/officeDocument/2006/relationships" id="272" r:id="R3f0639fcc1f64295"/>
    <p:sldId xmlns:r="http://schemas.openxmlformats.org/officeDocument/2006/relationships" id="273" r:id="R3ce90e351da04e4f"/>
    <p:sldId xmlns:r="http://schemas.openxmlformats.org/officeDocument/2006/relationships" id="274" r:id="R09102184e1824756"/>
    <p:sldId xmlns:r="http://schemas.openxmlformats.org/officeDocument/2006/relationships" id="275" r:id="Rc6ee9601a1094925"/>
    <p:sldId xmlns:r="http://schemas.openxmlformats.org/officeDocument/2006/relationships" id="276" r:id="R0a39cfb09d764ec9"/>
    <p:sldId xmlns:r="http://schemas.openxmlformats.org/officeDocument/2006/relationships" id="277" r:id="R395a0f1bba774d63"/>
    <p:sldId xmlns:r="http://schemas.openxmlformats.org/officeDocument/2006/relationships" id="278" r:id="R4b6f5feca81f483b"/>
    <p:sldId xmlns:r="http://schemas.openxmlformats.org/officeDocument/2006/relationships" id="279" r:id="R384e5ca696d64b23"/>
    <p:sldId xmlns:r="http://schemas.openxmlformats.org/officeDocument/2006/relationships" id="280" r:id="Rf0b2c2cb3f5a469e"/>
    <p:sldId xmlns:r="http://schemas.openxmlformats.org/officeDocument/2006/relationships" id="281" r:id="Rb5ee44af1e83404f"/>
    <p:sldId xmlns:r="http://schemas.openxmlformats.org/officeDocument/2006/relationships" id="282" r:id="R922cd38f411f4e23"/>
    <p:sldId xmlns:r="http://schemas.openxmlformats.org/officeDocument/2006/relationships" id="283" r:id="R234ddb241f8943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ab2dc3ba6d41f2" /><Relationship Type="http://schemas.openxmlformats.org/officeDocument/2006/relationships/slideMaster" Target="/ppt/slideMasters/slideMaster1.xml" Id="Re22d076ff57d4b9f" /><Relationship Type="http://schemas.openxmlformats.org/officeDocument/2006/relationships/notesMaster" Target="/ppt/notesMasters/notesMaster1.xml" Id="Rc58bdac930654d7e" /><Relationship Type="http://schemas.openxmlformats.org/officeDocument/2006/relationships/presProps" Target="/ppt/presProps.xml" Id="Rffadb31d8f8e4f5e" /><Relationship Type="http://schemas.openxmlformats.org/officeDocument/2006/relationships/tableStyles" Target="/ppt/tableStyles.xml" Id="Rd39419576cea4345" /><Relationship Type="http://schemas.openxmlformats.org/officeDocument/2006/relationships/slide" Target="/ppt/slides/slide1.xml" Id="R9bce6661344748b0" /><Relationship Type="http://schemas.openxmlformats.org/officeDocument/2006/relationships/slide" Target="/ppt/slides/slide2.xml" Id="R097bc6c681b242cb" /><Relationship Type="http://schemas.openxmlformats.org/officeDocument/2006/relationships/slide" Target="/ppt/slides/slide3.xml" Id="R7a5a02020bc34e30" /><Relationship Type="http://schemas.openxmlformats.org/officeDocument/2006/relationships/slide" Target="/ppt/slides/slide4.xml" Id="R60874ed2617b43b9" /><Relationship Type="http://schemas.openxmlformats.org/officeDocument/2006/relationships/slide" Target="/ppt/slides/slide5.xml" Id="Rf7d40b59a4b0410a" /><Relationship Type="http://schemas.openxmlformats.org/officeDocument/2006/relationships/slide" Target="/ppt/slides/slide6.xml" Id="R0aecf02669b84750" /><Relationship Type="http://schemas.openxmlformats.org/officeDocument/2006/relationships/slide" Target="/ppt/slides/slide7.xml" Id="R6700fa3c9c5b44e6" /><Relationship Type="http://schemas.openxmlformats.org/officeDocument/2006/relationships/slide" Target="/ppt/slides/slide8.xml" Id="R0f2d817dfb6246a7" /><Relationship Type="http://schemas.openxmlformats.org/officeDocument/2006/relationships/slide" Target="/ppt/slides/slide9.xml" Id="R50bc41383ffd41da" /><Relationship Type="http://schemas.openxmlformats.org/officeDocument/2006/relationships/slide" Target="/ppt/slides/slide10.xml" Id="R3a6b21c13e064821" /><Relationship Type="http://schemas.openxmlformats.org/officeDocument/2006/relationships/slide" Target="/ppt/slides/slide11.xml" Id="R16a6586b6c474e4e" /><Relationship Type="http://schemas.openxmlformats.org/officeDocument/2006/relationships/slide" Target="/ppt/slides/slide12.xml" Id="R4f50c1b35ce24cd6" /><Relationship Type="http://schemas.openxmlformats.org/officeDocument/2006/relationships/slide" Target="/ppt/slides/slide13.xml" Id="R3fc470efa7854797" /><Relationship Type="http://schemas.openxmlformats.org/officeDocument/2006/relationships/slide" Target="/ppt/slides/slide14.xml" Id="R0d534058ab4c4f0b" /><Relationship Type="http://schemas.openxmlformats.org/officeDocument/2006/relationships/slide" Target="/ppt/slides/slide15.xml" Id="R5078583c535a45d6" /><Relationship Type="http://schemas.openxmlformats.org/officeDocument/2006/relationships/slide" Target="/ppt/slides/slide16.xml" Id="R1b85d8b0986e40f3" /><Relationship Type="http://schemas.openxmlformats.org/officeDocument/2006/relationships/slide" Target="/ppt/slides/slide17.xml" Id="R3f0639fcc1f64295" /><Relationship Type="http://schemas.openxmlformats.org/officeDocument/2006/relationships/slide" Target="/ppt/slides/slide18.xml" Id="R3ce90e351da04e4f" /><Relationship Type="http://schemas.openxmlformats.org/officeDocument/2006/relationships/slide" Target="/ppt/slides/slide19.xml" Id="R09102184e1824756" /><Relationship Type="http://schemas.openxmlformats.org/officeDocument/2006/relationships/slide" Target="/ppt/slides/slide20.xml" Id="Rc6ee9601a1094925" /><Relationship Type="http://schemas.openxmlformats.org/officeDocument/2006/relationships/slide" Target="/ppt/slides/slide21.xml" Id="R0a39cfb09d764ec9" /><Relationship Type="http://schemas.openxmlformats.org/officeDocument/2006/relationships/slide" Target="/ppt/slides/slide22.xml" Id="R395a0f1bba774d63" /><Relationship Type="http://schemas.openxmlformats.org/officeDocument/2006/relationships/slide" Target="/ppt/slides/slide23.xml" Id="R4b6f5feca81f483b" /><Relationship Type="http://schemas.openxmlformats.org/officeDocument/2006/relationships/slide" Target="/ppt/slides/slide24.xml" Id="R384e5ca696d64b23" /><Relationship Type="http://schemas.openxmlformats.org/officeDocument/2006/relationships/slide" Target="/ppt/slides/slide25.xml" Id="Rf0b2c2cb3f5a469e" /><Relationship Type="http://schemas.openxmlformats.org/officeDocument/2006/relationships/slide" Target="/ppt/slides/slide26.xml" Id="Rb5ee44af1e83404f" /><Relationship Type="http://schemas.openxmlformats.org/officeDocument/2006/relationships/slide" Target="/ppt/slides/slide27.xml" Id="R922cd38f411f4e23" /><Relationship Type="http://schemas.openxmlformats.org/officeDocument/2006/relationships/slide" Target="/ppt/slides/slide28.xml" Id="R234ddb241f8943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bd3f2def8444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4cdcc8bdb5403a" /><Relationship Type="http://schemas.openxmlformats.org/officeDocument/2006/relationships/notesMaster" Target="/ppt/notesMasters/notesMaster1.xml" Id="R5b9629a464dd46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e95feb4b35471f" /><Relationship Type="http://schemas.openxmlformats.org/officeDocument/2006/relationships/notesMaster" Target="/ppt/notesMasters/notesMaster1.xml" Id="Rc7a44558ada84d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0221abfa4c45c7" /><Relationship Type="http://schemas.openxmlformats.org/officeDocument/2006/relationships/notesMaster" Target="/ppt/notesMasters/notesMaster1.xml" Id="R9a6234c5df6f48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54b895ba0a48b1" /><Relationship Type="http://schemas.openxmlformats.org/officeDocument/2006/relationships/notesMaster" Target="/ppt/notesMasters/notesMaster1.xml" Id="Re49aa211d32449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99404436874058" /><Relationship Type="http://schemas.openxmlformats.org/officeDocument/2006/relationships/notesMaster" Target="/ppt/notesMasters/notesMaster1.xml" Id="R29b622eb2f8949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5744a78f2d4341" /><Relationship Type="http://schemas.openxmlformats.org/officeDocument/2006/relationships/notesMaster" Target="/ppt/notesMasters/notesMaster1.xml" Id="Rc067db53ad3e47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7c7b1357504ca2" /><Relationship Type="http://schemas.openxmlformats.org/officeDocument/2006/relationships/notesMaster" Target="/ppt/notesMasters/notesMaster1.xml" Id="R841339b3ea6747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5b29b43f7d478c" /><Relationship Type="http://schemas.openxmlformats.org/officeDocument/2006/relationships/notesMaster" Target="/ppt/notesMasters/notesMaster1.xml" Id="R8d8d477d2b834c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91eb7e77294ac5" /><Relationship Type="http://schemas.openxmlformats.org/officeDocument/2006/relationships/notesMaster" Target="/ppt/notesMasters/notesMaster1.xml" Id="R513876e3642b47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2cb65bd8574496" /><Relationship Type="http://schemas.openxmlformats.org/officeDocument/2006/relationships/notesMaster" Target="/ppt/notesMasters/notesMaster1.xml" Id="R774a754ebc2e4d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728de413d44c34" /><Relationship Type="http://schemas.openxmlformats.org/officeDocument/2006/relationships/notesMaster" Target="/ppt/notesMasters/notesMaster1.xml" Id="R258e750ee9e749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0061bfdc554ace" /><Relationship Type="http://schemas.openxmlformats.org/officeDocument/2006/relationships/notesMaster" Target="/ppt/notesMasters/notesMaster1.xml" Id="Rb1a6ed2235b5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996b8498824df1" /><Relationship Type="http://schemas.openxmlformats.org/officeDocument/2006/relationships/notesMaster" Target="/ppt/notesMasters/notesMaster1.xml" Id="R7736fcf351c24f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fc4a70424c4f62" /><Relationship Type="http://schemas.openxmlformats.org/officeDocument/2006/relationships/notesMaster" Target="/ppt/notesMasters/notesMaster1.xml" Id="R8151a4eded2e43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b443aafb654455" /><Relationship Type="http://schemas.openxmlformats.org/officeDocument/2006/relationships/notesMaster" Target="/ppt/notesMasters/notesMaster1.xml" Id="R4bca63609ebd48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efea450b4846b8" /><Relationship Type="http://schemas.openxmlformats.org/officeDocument/2006/relationships/notesMaster" Target="/ppt/notesMasters/notesMaster1.xml" Id="R5f67a67728c74e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50984688ff49a6" /><Relationship Type="http://schemas.openxmlformats.org/officeDocument/2006/relationships/notesMaster" Target="/ppt/notesMasters/notesMaster1.xml" Id="R6f561ed0f3004c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7426172656437e" /><Relationship Type="http://schemas.openxmlformats.org/officeDocument/2006/relationships/notesMaster" Target="/ppt/notesMasters/notesMaster1.xml" Id="R3e39efee6eeb45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56ede43a7743df" /><Relationship Type="http://schemas.openxmlformats.org/officeDocument/2006/relationships/notesMaster" Target="/ppt/notesMasters/notesMaster1.xml" Id="Rb688fcf2b39143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5897e6542b4d08" /><Relationship Type="http://schemas.openxmlformats.org/officeDocument/2006/relationships/notesMaster" Target="/ppt/notesMasters/notesMaster1.xml" Id="R9be667175a354bc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e1982170d245df" /><Relationship Type="http://schemas.openxmlformats.org/officeDocument/2006/relationships/notesMaster" Target="/ppt/notesMasters/notesMaster1.xml" Id="Rc63046073b32400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8aeff38ed74554" /><Relationship Type="http://schemas.openxmlformats.org/officeDocument/2006/relationships/notesMaster" Target="/ppt/notesMasters/notesMaster1.xml" Id="Re816974083c247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9ba06f956a14384" /><Relationship Type="http://schemas.openxmlformats.org/officeDocument/2006/relationships/notesMaster" Target="/ppt/notesMasters/notesMaster1.xml" Id="Reb2e07bc42304d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1cd3c83cfe4834" /><Relationship Type="http://schemas.openxmlformats.org/officeDocument/2006/relationships/notesMaster" Target="/ppt/notesMasters/notesMaster1.xml" Id="R68278e68ed7f4c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350f626936246ff" /><Relationship Type="http://schemas.openxmlformats.org/officeDocument/2006/relationships/notesMaster" Target="/ppt/notesMasters/notesMaster1.xml" Id="Re5d76cc60c9b49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086499b0424d2a" /><Relationship Type="http://schemas.openxmlformats.org/officeDocument/2006/relationships/notesMaster" Target="/ppt/notesMasters/notesMaster1.xml" Id="R1f587bbbc2484e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ef4c5c2bb545ec" /><Relationship Type="http://schemas.openxmlformats.org/officeDocument/2006/relationships/notesMaster" Target="/ppt/notesMasters/notesMaster1.xml" Id="R6061f3f8134449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116f90005f4b9f" /><Relationship Type="http://schemas.openxmlformats.org/officeDocument/2006/relationships/notesMaster" Target="/ppt/notesMasters/notesMaster1.xml" Id="R078a25d172164b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Railwize as a complete railway reservation platform. My main contribution is bringing direct trains, nearby terminals and one-interchange journeys into a single discovery workflow. I will explain the passenger experience, the backend design and the safeguards behind booking and payment. The application uses its own catalogue and inventory; payments and refunds run in Razorpay test mode.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passenger searching an exact pair of stations may see no suitable direct train. They then have to look up nearby terminals, find an interchange and compare times and fares manually. I combine these checks and show the actual boarding and arrival stations clearly. This is useful discovery assistance; it does not guarantee a connection or replace local transport planning.</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Passengers can discover trains, reserve tickets, pay, cancel, maintain a Master List and get support. Administrators maintain the catalogue, manage dated cancellations and review users, bookings and reports. Both use the same login screen. I enforce authorization in the backend, so hiding a button is never the security boundary.</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Angular application calls the API Gateway. The gateway routes requests to backend services registered with Eureka. Config Server supplies shared configuration. The eight business services own eight logical MySQL schemas, while the chatbot uses in-memory state. RabbitMQ decouples booking events from notification delivery. This diagram groups related services for readability; it does not represent one shared database schema.</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standalone components, signals and RxJS organize the frontend. Java 21 source with Spring Boot supports service implementation. Spring Security handles authentication and authorization; JPA maps entities to MySQL. OpenFeign handles synchronous service calls, RabbitMQ carries events, and Resilience4j protects selected remote dependencies. Logging uses SLF4J and Logback. The chatbot uses Spring AI with Gemini.</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local account, the passenger registers, verifies the email OTP and then logs in. Passwords are hashed with BCrypt. Google sign-in uses an OAuth callback. Protected APIs validate the JWT and server-side session state, allowing logout to revoke access. User IDs and ownership are derived from authenticated context. Administrators are bootstrapped explicitly or invited; a public request cannot choose an elevated role.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administrator creates stations and a train, then publishes an ordered timetable. Each stop has cumulative route distance, day number and arrival/departure times. The source has no arrival time and the destination has no departure time. For a segment I subtract origin distance from destination distance. A class fare uses the configured base, per-kilometre rate and minimum, then multiplies by passenger count. The example is illustrative, not a fixed production fare.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removed the need to choose passenger count and class before searching. The passenger enters origin, destination and date, compares all supported classes, and chooses a class. On the booking page they enter one to six passengers or select saved passengers. The backend refreshes availability and calculates the group quote before holding seats. A result card is therefore an offer to check, not a guaranteed seat.</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Mumbai Central to Old Delhi. A direct train to New Delhi can be useful because New Delhi is near the requested destination. The planner considers stations near both the source and destination, using valid coordinates and the configured radius. It can therefore find an alternative at either end or both ends. Station names accompany codes. Local travel between the requested and actual stations remains the passenger's responsibility.</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catalogue contains an illustrative journey from Hazrat Nizamuddin to Varanasi through Lucknow Junction. The first leg arrives at 14:30 and the second leaves at 16:00, leaving ninety minutes. I check dates, overnight day numbers, class compatibility and availability. The planner supports one interchange at the same station. Each leg has its own PNR and payment; this is not a single protected through-ticket.</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starts with eligible exact and nearby stations. It evaluates nearby direct options and one-interchange candidates, checks dates, transfer limits and availability, and ranks the results. Confirmed availability is preferred, then fewer legs, less nearby travel, earlier arrival and fare. Work and result limits keep requests bounded. This is a rule-based algorithm, not a trained machine-learning model. A future ranking model could personalize already-feasible options, but should not replace the safety checks.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choosing passengers, the system validates the request and quote, locks the relevant run inventory and creates a pending-payment booking with a two-minute hold. Payment success is verified by the backend. The booking becomes confirmed if it holds seats, or waiting if it was allocated to the waitlist. An unpaid expiry releases inventory. Idempotency prevents a repeated request from creating the same logical booking twice.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avoid treating availability as one number for an entire train. A passenger travelling A to B does not occupy the berth from B to C. Inventory checks consider overlapping segments, and pessimistic locking serializes conflicting allocation changes. Class-specific layouts provide readable coach and berth descriptions. Preferences are requests subject to availability; they are not guarantees.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deliberately supports CNF and WL without RAC. I do not split a paid booking passenger by passenger. When capacity becomes available, the waitlist is considered in FIFO order for the run and class. The oldest eligible booking must fit as a whole; later smaller groups do not jump ahead. Promotion needs no passenger action and sends an update. A booking still waiting at the configured cutoff receives a full refund. The default cutoff is one hour before boarding.</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creates the Razorpay order and binds it to the booking and amount. After checkout it validates the signature and verifies the captured payment details. Webhooks and reconciliation handle delayed results. If a capture arrives after the booking has expired or been cancelled, the system refunds it rather than bringing the booking back to life. All provider transactions in this project are test-mode transactions.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passenger cancels their whole booking after reviewing the estimate. Confirmed passenger cancellations use the configured default twenty-percent fee, while paid waitlist cancellations receive a full refund. When an administrator cancels a future dated train run, all affected bookings receive full captured-fare refunds without a cancellation deduction. The train itself and historical records remain; other source departure dates continue operating. Refund status is tracked separately until processing completes.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Reservation owns bookings and passenger snapshots, so later profile edits cannot rewrite a historical ticket. Train and schedule own catalogue information. Payment owns provider records and refunds. A user identifier associates a booking with its owner across services, but it is not a database foreign key across independent schemas. The solid line illustrates a local parent-child relationship. This simplified ER view shows the most important relationships rather than every implementation field.</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Controllers accept and validate request shapes. Service classes enforce business rules and coordinate collaborators. Repositories handle persistence; Feign clients represent remote service contracts. ReservationService is the central booking collaborator, but payment and notification responsibilities remain separate. I can navigate from an endpoint to its service and repository when asked where a feature is implemented.</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Booking state and an outbox event are saved together. Dispatch retries send the event through RabbitMQ, with an internal HTTP fallback path. Notification handling deduplicates events and retries email delivery. Booking confirmation can include the PDF ticket. Cancellation, refund and waitlist-promotion changes also notify the user. The Angular notification centre polls about every five seconds while active. SMTP does not offer perfect exactly-once delivery, so I do not claim it.</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passengers are owned by the account and copied into each booking. Recent searches are limited to the latest five and scoped to the account in browser storage, so one user's history is not shown to another. The authenticated PDF endpoint generates a branded ticket with current state. Calendar export creates an ICS file for an upcoming confirmed journey with a reminder. It does not silently sync a Google Calendar account.</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provides users, trains, bookings and cancellation measures. Administrators can inspect users and their booking history, manage bookings, publish timetables and cancel dated runs. Revenue reports show paid fares and refund adjustments grouped by journey date, month or train. Popular trains are ranked by verified paid booking count. CSV exports are Excel-compatible and neutralize formula-like input. These are operational reports, not accounting profit or bank settlement reports.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 centre provides searchable guidance. If it is not enough, a passenger opens a support ticket and can attach an owned PNR. The admin inbox supports replies and status management. Tickets move through Open, In progress and Resolved; a new passenger reply can reopen a resolved issue. Ownership protects private conversations, idempotency handles retries, and version checking prevents stale admin changes from silently overwriting each other.</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Gemini answers with retrieved FAQ context from SimpleVectorStore and can use read-only tools for live availability and owned booking information. Some account questions use deterministic handling. In-memory message history supports follow-ups, and a bounded semantic cache is limited to reusable policy responses rather than private live data. Guardrails reduce injection and PII risks, but authorization is still enforced by normal backend services. Responses use validated structures for useful cards, then SSE to the Angular interface. Circuit breakers provide graceful failures when dependencies are unavailable.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standalone Angular components and signals for local reactive state, with RxJS for asynchronous work. Shared API access and interceptors handle authentication and consistent errors. Guards redirect already-signed-in users away from login and protect admin navigation. The assistant can open as a right-side conversation panel or a full page. Search, booking and administration retain consistent Railwize navy, cobalt and cyan styling. Accessibility and clear status messages matter more than ornamental animation.</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Backend tests use JUnit and Mockito for business rules and collaborators, plus integration tests with H2 where appropriate. Frontend tests use Jasmine and controlled browser scenarios with Playwright. I focus on failures that could corrupt bookings: invalid passengers, old dates, concurrent seats, repeated requests, delayed payment and cancellation/refund transitions. A green automated suite is not proof of production capacity. SMTP and Razorpay test flows also require environment-specific checks. SonarQube has been deferred.</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keep Run-Service.ps1 for individual services and provide Start-Backend.ps1 for ordered startup with readiness checks. Start MySQL and RabbitMQ and fill the environment configuration first. The launcher starts Config Server, Eureka, the business services and finally the gateway. Angular then calls the gateway through its development proxy. A different laptop needs the same runtime prerequisites and its own secrets. The Git repository contains examples and SQL catalogue data, not my private credentials.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routing algorithm is deterministic and supports one interchange. Each leg has its own booking and there is no automatic protection against missed connections. The application owns its inventory and does not connect to live Indian Railways reservations. AI memory and caches are in-process, so restarts lose them. Next steps could include durable shared AI state, measured load testing, observability, accessibility testing and operational reconciliation. I would not claim these as completed features.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demonstrate the application in this order: search a normal direct route, show all-class results, then show a nearby or connecting alternative. I would choose passengers from the Master List, complete test checkout, download the PDF and inspect updates. Finally I would demonstrate an admin dated cancellation, the full refund workflow and support history. My contribution is both the passenger-facing discovery feature and the service coordination required to make the booking lifecycle understandable and reliable.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1140e27874c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c5dcbf113940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1622ffd95f46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7780fd828944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e99a47202e4c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b284d19e5147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A8822A-4E80-475B-9336-B1DFAA879A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574E60-0B3A-4C6A-96B1-DF1495979B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5EB193-4D72-48F5-808B-1BE56BC1F1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B47AAD-CD38-4821-A5B1-7195E1992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1C17E9-9376-4470-80EA-77046593C3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6C0891-8EB3-441E-A644-532AA06F1D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7DD77A-A166-4693-BD9E-9E92B3D0E5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42170A-D0CF-487C-8636-77E9D891E1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060BC7-2B5B-49E5-B3C1-5E68E7B624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B56D1A-592C-476E-8B1A-45F1B9DD71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9022cdadda4037" /><Relationship Type="http://schemas.openxmlformats.org/officeDocument/2006/relationships/slideLayout" Target="/ppt/slideLayouts/slideLayout1.xml" Id="Re5f4e4c59ffb49b3" /><Relationship Type="http://schemas.openxmlformats.org/officeDocument/2006/relationships/slideLayout" Target="/ppt/slideLayouts/slideLayout2.xml" Id="R8e4d262acd7c4f70" /><Relationship Type="http://schemas.openxmlformats.org/officeDocument/2006/relationships/slideLayout" Target="/ppt/slideLayouts/slideLayout3.xml" Id="R88e5739671ac489d" /><Relationship Type="http://schemas.openxmlformats.org/officeDocument/2006/relationships/slideLayout" Target="/ppt/slideLayouts/slideLayout4.xml" Id="R5608ff4963f54f53" /><Relationship Type="http://schemas.openxmlformats.org/officeDocument/2006/relationships/slideLayout" Target="/ppt/slideLayouts/slideLayout5.xml" Id="Rd90a16269437425b" /><Relationship Type="http://schemas.openxmlformats.org/officeDocument/2006/relationships/slideLayout" Target="/ppt/slideLayouts/slideLayout6.xml" Id="R88b484631b4b4b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f4e4c59ffb49b3"/>
    <p:sldLayoutId xmlns:r="http://schemas.openxmlformats.org/officeDocument/2006/relationships" id="2147483650" r:id="R8e4d262acd7c4f70"/>
    <p:sldLayoutId xmlns:r="http://schemas.openxmlformats.org/officeDocument/2006/relationships" id="2147483651" r:id="R88e5739671ac489d"/>
    <p:sldLayoutId xmlns:r="http://schemas.openxmlformats.org/officeDocument/2006/relationships" id="2147483652" r:id="R5608ff4963f54f53"/>
    <p:sldLayoutId xmlns:r="http://schemas.openxmlformats.org/officeDocument/2006/relationships" id="2147483653" r:id="Rd90a16269437425b"/>
    <p:sldLayoutId xmlns:r="http://schemas.openxmlformats.org/officeDocument/2006/relationships" id="2147483654" r:id="R88b484631b4b4b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f5b318466a45c7" /><Relationship Type="http://schemas.openxmlformats.org/officeDocument/2006/relationships/notesSlide" Target="/ppt/notesSlides/notesSlide1.xml" Id="R916dad6d3a0141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2e9f3e8a9242da" /><Relationship Type="http://schemas.openxmlformats.org/officeDocument/2006/relationships/notesSlide" Target="/ppt/notesSlides/notesSlide2.xml" Id="Rc9511098d97b40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516a08b6464052" /><Relationship Type="http://schemas.openxmlformats.org/officeDocument/2006/relationships/notesSlide" Target="/ppt/notesSlides/notesSlide3.xml" Id="R0764c7f61eac4c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03ffe56670435c" /><Relationship Type="http://schemas.openxmlformats.org/officeDocument/2006/relationships/notesSlide" Target="/ppt/notesSlides/notesSlide4.xml" Id="Rcc63e700926e42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1f51b47f3945e7" /><Relationship Type="http://schemas.openxmlformats.org/officeDocument/2006/relationships/notesSlide" Target="/ppt/notesSlides/notesSlide5.xml" Id="Rd779c37f97f94e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b4a39ca5d940fc" /><Relationship Type="http://schemas.openxmlformats.org/officeDocument/2006/relationships/notesSlide" Target="/ppt/notesSlides/notesSlide6.xml" Id="Rf51ad6fc1e624b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84cebe2c3a4aa4" /><Relationship Type="http://schemas.openxmlformats.org/officeDocument/2006/relationships/notesSlide" Target="/ppt/notesSlides/notesSlide7.xml" Id="R298ef89bc61f4f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c5f45464264fdc" /><Relationship Type="http://schemas.openxmlformats.org/officeDocument/2006/relationships/notesSlide" Target="/ppt/notesSlides/notesSlide8.xml" Id="R5b6d7ba82ca746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1c32ee2cdf4d39" /><Relationship Type="http://schemas.openxmlformats.org/officeDocument/2006/relationships/notesSlide" Target="/ppt/notesSlides/notesSlide9.xml" Id="Rba91e4d6b4e649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80d5b4412384480" /><Relationship Type="http://schemas.openxmlformats.org/officeDocument/2006/relationships/notesSlide" Target="/ppt/notesSlides/notesSlide10.xml" Id="R1ee8c7197b834d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771d7313f94cd3" /><Relationship Type="http://schemas.openxmlformats.org/officeDocument/2006/relationships/notesSlide" Target="/ppt/notesSlides/notesSlide11.xml" Id="Reaffe7d8aeb64c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6117037a444fcd" /><Relationship Type="http://schemas.openxmlformats.org/officeDocument/2006/relationships/notesSlide" Target="/ppt/notesSlides/notesSlide12.xml" Id="Rb9dadb5ec06747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e1a9958de14a80" /><Relationship Type="http://schemas.openxmlformats.org/officeDocument/2006/relationships/notesSlide" Target="/ppt/notesSlides/notesSlide13.xml" Id="Rd3704f1475634a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beb1cd41554e61" /><Relationship Type="http://schemas.openxmlformats.org/officeDocument/2006/relationships/notesSlide" Target="/ppt/notesSlides/notesSlide14.xml" Id="R6fc978ef88b047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8ca3728da724dee" /><Relationship Type="http://schemas.openxmlformats.org/officeDocument/2006/relationships/notesSlide" Target="/ppt/notesSlides/notesSlide15.xml" Id="R9dd7914b025c48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5c787f7f6194beb" /><Relationship Type="http://schemas.openxmlformats.org/officeDocument/2006/relationships/notesSlide" Target="/ppt/notesSlides/notesSlide16.xml" Id="R8cd6006375774e3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861c28ec934619" /><Relationship Type="http://schemas.openxmlformats.org/officeDocument/2006/relationships/notesSlide" Target="/ppt/notesSlides/notesSlide17.xml" Id="R25e2676ed27d45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bf4dc67d7d94a9b" /><Relationship Type="http://schemas.openxmlformats.org/officeDocument/2006/relationships/notesSlide" Target="/ppt/notesSlides/notesSlide18.xml" Id="Rab77109e2a5448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f26d9da9a34d90" /><Relationship Type="http://schemas.openxmlformats.org/officeDocument/2006/relationships/notesSlide" Target="/ppt/notesSlides/notesSlide19.xml" Id="Rb80884ee7d6e40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f4f02cd50c94ab6" /><Relationship Type="http://schemas.openxmlformats.org/officeDocument/2006/relationships/notesSlide" Target="/ppt/notesSlides/notesSlide20.xml" Id="R7604cf73bf7244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1b3e3f2a1ae4538" /><Relationship Type="http://schemas.openxmlformats.org/officeDocument/2006/relationships/notesSlide" Target="/ppt/notesSlides/notesSlide21.xml" Id="Ra0ed1994853746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ed034d709c44fa9" /><Relationship Type="http://schemas.openxmlformats.org/officeDocument/2006/relationships/notesSlide" Target="/ppt/notesSlides/notesSlide22.xml" Id="R8c00925f1d8d4e3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f57c892c1864f56" /><Relationship Type="http://schemas.openxmlformats.org/officeDocument/2006/relationships/notesSlide" Target="/ppt/notesSlides/notesSlide23.xml" Id="Rc378d6b6830c43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41bf345ef1b4cf3" /><Relationship Type="http://schemas.openxmlformats.org/officeDocument/2006/relationships/notesSlide" Target="/ppt/notesSlides/notesSlide24.xml" Id="R09c04951628443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987a109ff9e4363" /><Relationship Type="http://schemas.openxmlformats.org/officeDocument/2006/relationships/notesSlide" Target="/ppt/notesSlides/notesSlide25.xml" Id="Re165f70a713145e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93a97c141ae4c1a" /><Relationship Type="http://schemas.openxmlformats.org/officeDocument/2006/relationships/notesSlide" Target="/ppt/notesSlides/notesSlide26.xml" Id="R302a725bd8ef482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30471987cbd4c42" /><Relationship Type="http://schemas.openxmlformats.org/officeDocument/2006/relationships/notesSlide" Target="/ppt/notesSlides/notesSlide27.xml" Id="R1b236cab5838445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bb828d265747fc" /><Relationship Type="http://schemas.openxmlformats.org/officeDocument/2006/relationships/notesSlide" Target="/ppt/notesSlides/notesSlide28.xml" Id="R6ed24f86f9be47f3" /></Relationships>
</file>

<file path=ppt/slides/slide1.xml><?xml version="1.0" encoding="utf-8"?>
<p:sld xmlns:p="http://schemas.openxmlformats.org/presentationml/2006/main">
  <p:cSld>
    <p:bg>
      <p:bgPr>
        <a:solidFill xmlns:a="http://schemas.openxmlformats.org/drawingml/2006/main">
          <a:srgbClr val="0B1630"/>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64C10831-BDD0-498B-973E-B7BB438E95B4}"/>
              </a:ext>
            </a:extLst>
          </p:cNvPr>
          <p:cNvCxnSpPr>
            <a:stCxn xmlns:a="http://schemas.openxmlformats.org/drawingml/2006/main" id="8" idx="3"/>
            <a:endCxn xmlns:a="http://schemas.openxmlformats.org/drawingml/2006/main" id="9" idx="1"/>
          </p:cNvCxnSpPr>
          <p:nvPr/>
        </p:nvCxnSpPr>
        <p:spPr>
          <a:xfrm xmlns:a="http://schemas.openxmlformats.org/drawingml/2006/main">
            <a:off x="7648575" y="4686300"/>
            <a:ext cx="885825" cy="0"/>
          </a:xfrm>
          <a:prstGeom xmlns:a="http://schemas.openxmlformats.org/drawingml/2006/main" prst="straightConnector1">
            <a:avLst/>
          </a:prstGeom>
          <a:ln xmlns:a="http://schemas.openxmlformats.org/drawingml/2006/main" w="25718">
            <a:solidFill>
              <a:srgbClr val="61DCF2"/>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B6987EC2-7740-431D-8D34-952827680956}"/>
              </a:ext>
            </a:extLst>
          </p:cNvPr>
          <p:cNvCxnSpPr>
            <a:stCxn xmlns:a="http://schemas.openxmlformats.org/drawingml/2006/main" id="7" idx="3"/>
            <a:endCxn xmlns:a="http://schemas.openxmlformats.org/drawingml/2006/main" id="8" idx="1"/>
          </p:cNvCxnSpPr>
          <p:nvPr/>
        </p:nvCxnSpPr>
        <p:spPr>
          <a:xfrm xmlns:a="http://schemas.openxmlformats.org/drawingml/2006/main">
            <a:off x="3667125" y="4686300"/>
            <a:ext cx="885825" cy="0"/>
          </a:xfrm>
          <a:prstGeom xmlns:a="http://schemas.openxmlformats.org/drawingml/2006/main" prst="straightConnector1">
            <a:avLst/>
          </a:prstGeom>
          <a:ln xmlns:a="http://schemas.openxmlformats.org/drawingml/2006/main" w="25718">
            <a:solidFill>
              <a:srgbClr val="61DCF2"/>
            </a:solidFill>
            <a:prstDash val="solid"/>
            <a:tailEnd type="arrow" w="med" len="med"/>
          </a:ln>
        </p:spPr>
      </p:cxnSp>
      <p:sp>
        <p:nvSpPr>
          <p:cNvPr id="14" name="shape-1">
            <a:extLst xmlns:a="http://schemas.openxmlformats.org/drawingml/2006/main">
              <a:ext uri="{FF2B5EF4-FFF2-40B4-BE49-F238E27FC236}">
                <a16:creationId xmlns:a16="http://schemas.microsoft.com/office/drawing/2014/main" id="{B3BDC77C-8197-4CEE-9CF5-AB9C06783C41}"/>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61DCF2"/>
                </a:solidFill>
                <a:latin typeface="Arial"/>
                <a:ea typeface="Arial"/>
                <a:cs typeface="Arial"/>
              </a:defRPr>
            </a:defPPr>
          </a:lstStyle>
          <a:p xmlns:a="http://schemas.openxmlformats.org/drawingml/2006/main">
            <a:pPr algn="l">
              <a:defRPr sz="1200" b="1">
                <a:solidFill>
                  <a:srgbClr val="61DCF2"/>
                </a:solidFill>
                <a:latin typeface="Arial"/>
                <a:ea typeface="Arial"/>
                <a:cs typeface="Arial"/>
              </a:defRPr>
            </a:pPr>
            <a:r>
              <a:rPr sz="1200" b="1">
                <a:solidFill>
                  <a:srgbClr val="61DCF2"/>
                </a:solidFill>
                <a:latin typeface="Arial"/>
                <a:ea typeface="Arial"/>
                <a:cs typeface="Arial"/>
              </a:rPr>
              <a:t>MY PROJECT</a:t>
            </a:r>
          </a:p>
        </p:txBody>
      </p:sp>
      <p:sp>
        <p:nvSpPr>
          <p:cNvPr id="2" name="shape-2">
            <a:extLst xmlns:a="http://schemas.openxmlformats.org/drawingml/2006/main">
              <a:ext uri="{FF2B5EF4-FFF2-40B4-BE49-F238E27FC236}">
                <a16:creationId xmlns:a16="http://schemas.microsoft.com/office/drawing/2014/main" id="{22D040CE-EDDF-4419-BEF6-3DF5BAE0D9C8}"/>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Railwize</a:t>
            </a:r>
          </a:p>
        </p:txBody>
      </p:sp>
      <p:sp>
        <p:nvSpPr>
          <p:cNvPr id="3" name="shape-3">
            <a:extLst xmlns:a="http://schemas.openxmlformats.org/drawingml/2006/main">
              <a:ext uri="{FF2B5EF4-FFF2-40B4-BE49-F238E27FC236}">
                <a16:creationId xmlns:a16="http://schemas.microsoft.com/office/drawing/2014/main" id="{71B396F3-AEAF-47E9-8F65-D83FFAC5EA28}"/>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B9C9E4"/>
                </a:solidFill>
                <a:latin typeface="Arial"/>
                <a:ea typeface="Arial"/>
                <a:cs typeface="Arial"/>
              </a:defRPr>
            </a:defPPr>
          </a:lstStyle>
          <a:p xmlns:a="http://schemas.openxmlformats.org/drawingml/2006/main">
            <a:pPr algn="l">
              <a:defRPr sz="1800" b="0">
                <a:solidFill>
                  <a:srgbClr val="B9C9E4"/>
                </a:solidFill>
                <a:latin typeface="Arial"/>
                <a:ea typeface="Arial"/>
                <a:cs typeface="Arial"/>
              </a:defRPr>
            </a:pPr>
            <a:r>
              <a:rPr sz="1800" b="0">
                <a:solidFill>
                  <a:srgbClr val="B9C9E4"/>
                </a:solidFill>
                <a:latin typeface="Arial"/>
                <a:ea typeface="Arial"/>
                <a:cs typeface="Arial"/>
              </a:rPr>
              <a:t>Railway reservations with smarter journey discovery</a:t>
            </a:r>
          </a:p>
        </p:txBody>
      </p:sp>
      <p:sp>
        <p:nvSpPr>
          <p:cNvPr id="4" name="shape-4">
            <a:extLst xmlns:a="http://schemas.openxmlformats.org/drawingml/2006/main">
              <a:ext uri="{FF2B5EF4-FFF2-40B4-BE49-F238E27FC236}">
                <a16:creationId xmlns:a16="http://schemas.microsoft.com/office/drawing/2014/main" id="{0AF1F7B4-C99B-488D-9D81-3F78F76F2628}"/>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9CB1D5"/>
                </a:solidFill>
                <a:latin typeface="Arial"/>
                <a:ea typeface="Arial"/>
                <a:cs typeface="Arial"/>
              </a:defRPr>
            </a:defPPr>
          </a:lstStyle>
          <a:p xmlns:a="http://schemas.openxmlformats.org/drawingml/2006/main">
            <a:pPr algn="l">
              <a:defRPr sz="975" b="0">
                <a:solidFill>
                  <a:srgbClr val="9CB1D5"/>
                </a:solidFill>
                <a:latin typeface="Arial"/>
                <a:ea typeface="Arial"/>
                <a:cs typeface="Arial"/>
              </a:defRPr>
            </a:pPr>
            <a:r>
              <a:rPr sz="975" b="0">
                <a:solidFill>
                  <a:srgbClr val="9CB1D5"/>
                </a:solidFill>
                <a:latin typeface="Arial"/>
                <a:ea typeface="Arial"/>
                <a:cs typeface="Arial"/>
              </a:rPr>
              <a:t>RAILWIZE  /  PROJECT PRESENTATION</a:t>
            </a:r>
          </a:p>
        </p:txBody>
      </p:sp>
      <p:sp>
        <p:nvSpPr>
          <p:cNvPr id="5" name="shape-5">
            <a:extLst xmlns:a="http://schemas.openxmlformats.org/drawingml/2006/main">
              <a:ext uri="{FF2B5EF4-FFF2-40B4-BE49-F238E27FC236}">
                <a16:creationId xmlns:a16="http://schemas.microsoft.com/office/drawing/2014/main" id="{5CF411EB-E2DA-4972-BF7A-BDE202D2896A}"/>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9CB1D5"/>
                </a:solidFill>
                <a:latin typeface="Arial"/>
                <a:ea typeface="Arial"/>
                <a:cs typeface="Arial"/>
              </a:defRPr>
            </a:defPPr>
          </a:lstStyle>
          <a:p xmlns:a="http://schemas.openxmlformats.org/drawingml/2006/main">
            <a:pPr algn="r">
              <a:defRPr sz="1125" b="0">
                <a:solidFill>
                  <a:srgbClr val="9CB1D5"/>
                </a:solidFill>
                <a:latin typeface="Arial"/>
                <a:ea typeface="Arial"/>
                <a:cs typeface="Arial"/>
              </a:defRPr>
            </a:pPr>
            <a:r>
              <a:rPr sz="1125" b="0">
                <a:solidFill>
                  <a:srgbClr val="9CB1D5"/>
                </a:solidFill>
                <a:latin typeface="Arial"/>
                <a:ea typeface="Arial"/>
                <a:cs typeface="Arial"/>
              </a:rPr>
              <a:t>01 / 28</a:t>
            </a:r>
          </a:p>
        </p:txBody>
      </p:sp>
      <p:sp>
        <p:nvSpPr>
          <p:cNvPr id="6" name="shape-6">
            <a:extLst xmlns:a="http://schemas.openxmlformats.org/drawingml/2006/main">
              <a:ext uri="{FF2B5EF4-FFF2-40B4-BE49-F238E27FC236}">
                <a16:creationId xmlns:a16="http://schemas.microsoft.com/office/drawing/2014/main" id="{63B98453-4DC5-4C04-A525-4A4CE4151E00}"/>
              </a:ext>
            </a:extLst>
          </p:cNvPr>
          <p:cNvSpPr>
            <a:spLocks xmlns:a="http://schemas.openxmlformats.org/drawingml/2006/main" noGrp="1"/>
          </p:cNvSpPr>
          <p:nvPr/>
        </p:nvSpPr>
        <p:spPr>
          <a:xfrm xmlns:a="http://schemas.openxmlformats.org/drawingml/2006/main">
            <a:off x="533400" y="2219325"/>
            <a:ext cx="6524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Find a practical journey.</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Then book with confidence.</a:t>
            </a:r>
          </a:p>
        </p:txBody>
      </p:sp>
      <p:sp>
        <p:nvSpPr>
          <p:cNvPr id="7" name="shape-7">
            <a:extLst xmlns:a="http://schemas.openxmlformats.org/drawingml/2006/main">
              <a:ext uri="{FF2B5EF4-FFF2-40B4-BE49-F238E27FC236}">
                <a16:creationId xmlns:a16="http://schemas.microsoft.com/office/drawing/2014/main" id="{6A7248C0-491C-48B7-83DD-D66EF31E9E3E}"/>
              </a:ext>
            </a:extLst>
          </p:cNvPr>
          <p:cNvSpPr>
            <a:spLocks xmlns:a="http://schemas.openxmlformats.org/drawingml/2006/main" noGrp="1"/>
          </p:cNvSpPr>
          <p:nvPr/>
        </p:nvSpPr>
        <p:spPr>
          <a:xfrm xmlns:a="http://schemas.openxmlformats.org/drawingml/2006/main">
            <a:off x="571500" y="4276725"/>
            <a:ext cx="3095625" cy="8191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Discover</a:t>
            </a:r>
          </a:p>
        </p:txBody>
      </p:sp>
      <p:sp>
        <p:nvSpPr>
          <p:cNvPr id="8" name="shape-8">
            <a:extLst xmlns:a="http://schemas.openxmlformats.org/drawingml/2006/main">
              <a:ext uri="{FF2B5EF4-FFF2-40B4-BE49-F238E27FC236}">
                <a16:creationId xmlns:a16="http://schemas.microsoft.com/office/drawing/2014/main" id="{C13D6A47-0F1D-4047-BC2E-4D4298776C9E}"/>
              </a:ext>
            </a:extLst>
          </p:cNvPr>
          <p:cNvSpPr>
            <a:spLocks xmlns:a="http://schemas.openxmlformats.org/drawingml/2006/main" noGrp="1"/>
          </p:cNvSpPr>
          <p:nvPr/>
        </p:nvSpPr>
        <p:spPr>
          <a:xfrm xmlns:a="http://schemas.openxmlformats.org/drawingml/2006/main">
            <a:off x="4552950" y="4276725"/>
            <a:ext cx="3095625" cy="8191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Reserve</a:t>
            </a:r>
          </a:p>
        </p:txBody>
      </p:sp>
      <p:sp>
        <p:nvSpPr>
          <p:cNvPr id="9" name="shape-9">
            <a:extLst xmlns:a="http://schemas.openxmlformats.org/drawingml/2006/main">
              <a:ext uri="{FF2B5EF4-FFF2-40B4-BE49-F238E27FC236}">
                <a16:creationId xmlns:a16="http://schemas.microsoft.com/office/drawing/2014/main" id="{90D88675-183C-4EB5-9D47-9A575B3B18F7}"/>
              </a:ext>
            </a:extLst>
          </p:cNvPr>
          <p:cNvSpPr>
            <a:spLocks xmlns:a="http://schemas.openxmlformats.org/drawingml/2006/main" noGrp="1"/>
          </p:cNvSpPr>
          <p:nvPr/>
        </p:nvSpPr>
        <p:spPr>
          <a:xfrm xmlns:a="http://schemas.openxmlformats.org/drawingml/2006/main">
            <a:off x="8534400" y="4276725"/>
            <a:ext cx="3095625" cy="8191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Stay informed</a:t>
            </a:r>
          </a:p>
        </p:txBody>
      </p:sp>
      <p:sp>
        <p:nvSpPr>
          <p:cNvPr id="12" name="shape-10">
            <a:extLst xmlns:a="http://schemas.openxmlformats.org/drawingml/2006/main">
              <a:ext uri="{FF2B5EF4-FFF2-40B4-BE49-F238E27FC236}">
                <a16:creationId xmlns:a16="http://schemas.microsoft.com/office/drawing/2014/main" id="{F1E4BDAA-C9CF-4F2D-BC65-43F0AD9B56E1}"/>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304361"/>
          </a:solidFill>
          <a:ln xmlns:a="http://schemas.openxmlformats.org/drawingml/2006/main" w="0">
            <a:noFill/>
          </a:ln>
        </p:spPr>
      </p:sp>
      <p:sp>
        <p:nvSpPr>
          <p:cNvPr id="13" name="shape-11">
            <a:extLst xmlns:a="http://schemas.openxmlformats.org/drawingml/2006/main">
              <a:ext uri="{FF2B5EF4-FFF2-40B4-BE49-F238E27FC236}">
                <a16:creationId xmlns:a16="http://schemas.microsoft.com/office/drawing/2014/main" id="{CA4FAF1C-B3CF-4C99-8BB6-33FACC167877}"/>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61DCF2"/>
                </a:solidFill>
                <a:latin typeface="Arial"/>
                <a:ea typeface="Arial"/>
                <a:cs typeface="Arial"/>
              </a:defRPr>
            </a:defPPr>
          </a:lstStyle>
          <a:p xmlns:a="http://schemas.openxmlformats.org/drawingml/2006/main">
            <a:pPr algn="l">
              <a:defRPr sz="1800" b="1">
                <a:solidFill>
                  <a:srgbClr val="61DCF2"/>
                </a:solidFill>
                <a:latin typeface="Arial"/>
                <a:ea typeface="Arial"/>
                <a:cs typeface="Arial"/>
              </a:defRPr>
            </a:pPr>
            <a:r>
              <a:rPr sz="1800" b="1">
                <a:solidFill>
                  <a:srgbClr val="61DCF2"/>
                </a:solidFill>
                <a:latin typeface="Arial"/>
                <a:ea typeface="Arial"/>
                <a:cs typeface="Arial"/>
              </a:rPr>
              <a:t>Angular frontend  ·  12 Spring Boot services  ·  Own reservation inventory</a:t>
            </a:r>
          </a:p>
        </p:txBody>
      </p:sp>
    </p:spTree>
    <p:extLst>
      <p:ext uri="{BB962C8B-B14F-4D97-AF65-F5344CB8AC3E}">
        <p14:creationId xmlns:p14="http://schemas.microsoft.com/office/powerpoint/2010/main" val="18061364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9C1836E-5900-4188-B703-FA834CE5B5FD}"/>
              </a:ext>
            </a:extLst>
          </p:cNvPr>
          <p:cNvCxnSpPr>
            <a:stCxn xmlns:a="http://schemas.openxmlformats.org/drawingml/2006/main" id="7" idx="3"/>
            <a:endCxn xmlns:a="http://schemas.openxmlformats.org/drawingml/2006/main" id="8" idx="1"/>
          </p:cNvCxnSpPr>
          <p:nvPr/>
        </p:nvCxnSpPr>
        <p:spPr>
          <a:xfrm xmlns:a="http://schemas.openxmlformats.org/drawingml/2006/main">
            <a:off x="5381625" y="3190875"/>
            <a:ext cx="66675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8C0A387-1A5A-4111-B19D-58FCE82E832B}"/>
              </a:ext>
            </a:extLst>
          </p:cNvPr>
          <p:cNvCxnSpPr>
            <a:stCxn xmlns:a="http://schemas.openxmlformats.org/drawingml/2006/main" id="6" idx="3"/>
            <a:endCxn xmlns:a="http://schemas.openxmlformats.org/drawingml/2006/main" id="7" idx="1"/>
          </p:cNvCxnSpPr>
          <p:nvPr/>
        </p:nvCxnSpPr>
        <p:spPr>
          <a:xfrm xmlns:a="http://schemas.openxmlformats.org/drawingml/2006/main">
            <a:off x="2533650" y="3190875"/>
            <a:ext cx="6572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12">
            <a:extLst xmlns:a="http://schemas.openxmlformats.org/drawingml/2006/main">
              <a:ext uri="{FF2B5EF4-FFF2-40B4-BE49-F238E27FC236}">
                <a16:creationId xmlns:a16="http://schemas.microsoft.com/office/drawing/2014/main" id="{5432BB49-D39B-4C6B-9FC0-86E673D111A7}"/>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01 / PROBLEM</a:t>
            </a:r>
          </a:p>
        </p:txBody>
      </p:sp>
      <p:sp>
        <p:nvSpPr>
          <p:cNvPr id="2" name="shape-13">
            <a:extLst xmlns:a="http://schemas.openxmlformats.org/drawingml/2006/main">
              <a:ext uri="{FF2B5EF4-FFF2-40B4-BE49-F238E27FC236}">
                <a16:creationId xmlns:a16="http://schemas.microsoft.com/office/drawing/2014/main" id="{8800DEAF-18F7-4B0A-9803-00E735C8C3FD}"/>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missing direct train need not end a journey</a:t>
            </a:r>
          </a:p>
        </p:txBody>
      </p:sp>
      <p:sp>
        <p:nvSpPr>
          <p:cNvPr id="3" name="shape-14">
            <a:extLst xmlns:a="http://schemas.openxmlformats.org/drawingml/2006/main">
              <a:ext uri="{FF2B5EF4-FFF2-40B4-BE49-F238E27FC236}">
                <a16:creationId xmlns:a16="http://schemas.microsoft.com/office/drawing/2014/main" id="{3D262B0A-A721-41D8-8CF6-76CD7E2AAA80}"/>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reduce the manual work of finding a usable alternative.</a:t>
            </a:r>
          </a:p>
        </p:txBody>
      </p:sp>
      <p:sp>
        <p:nvSpPr>
          <p:cNvPr id="4" name="shape-15">
            <a:extLst xmlns:a="http://schemas.openxmlformats.org/drawingml/2006/main">
              <a:ext uri="{FF2B5EF4-FFF2-40B4-BE49-F238E27FC236}">
                <a16:creationId xmlns:a16="http://schemas.microsoft.com/office/drawing/2014/main" id="{FE1053E9-12BD-4708-A755-714809B41008}"/>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6">
            <a:extLst xmlns:a="http://schemas.openxmlformats.org/drawingml/2006/main">
              <a:ext uri="{FF2B5EF4-FFF2-40B4-BE49-F238E27FC236}">
                <a16:creationId xmlns:a16="http://schemas.microsoft.com/office/drawing/2014/main" id="{DF02AB93-F3B5-4B70-84B9-96097B79F4E3}"/>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02 / 28</a:t>
            </a:r>
          </a:p>
        </p:txBody>
      </p:sp>
      <p:sp>
        <p:nvSpPr>
          <p:cNvPr id="6" name="shape-17">
            <a:extLst xmlns:a="http://schemas.openxmlformats.org/drawingml/2006/main">
              <a:ext uri="{FF2B5EF4-FFF2-40B4-BE49-F238E27FC236}">
                <a16:creationId xmlns:a16="http://schemas.microsoft.com/office/drawing/2014/main" id="{3AEF7328-A8A6-4650-926A-6DF08F5D5ED3}"/>
              </a:ext>
            </a:extLst>
          </p:cNvPr>
          <p:cNvSpPr>
            <a:spLocks xmlns:a="http://schemas.openxmlformats.org/drawingml/2006/main" noGrp="1"/>
          </p:cNvSpPr>
          <p:nvPr/>
        </p:nvSpPr>
        <p:spPr>
          <a:xfrm xmlns:a="http://schemas.openxmlformats.org/drawingml/2006/main">
            <a:off x="533400" y="2724150"/>
            <a:ext cx="2000250" cy="9334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Requested</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origin</a:t>
            </a:r>
          </a:p>
        </p:txBody>
      </p:sp>
      <p:sp>
        <p:nvSpPr>
          <p:cNvPr id="7" name="shape-18">
            <a:extLst xmlns:a="http://schemas.openxmlformats.org/drawingml/2006/main">
              <a:ext uri="{FF2B5EF4-FFF2-40B4-BE49-F238E27FC236}">
                <a16:creationId xmlns:a16="http://schemas.microsoft.com/office/drawing/2014/main" id="{E2862A97-A53C-41E1-9A47-472BEB7AB458}"/>
              </a:ext>
            </a:extLst>
          </p:cNvPr>
          <p:cNvSpPr>
            <a:spLocks xmlns:a="http://schemas.openxmlformats.org/drawingml/2006/main" noGrp="1"/>
          </p:cNvSpPr>
          <p:nvPr/>
        </p:nvSpPr>
        <p:spPr>
          <a:xfrm xmlns:a="http://schemas.openxmlformats.org/drawingml/2006/main">
            <a:off x="3190875" y="2724150"/>
            <a:ext cx="2190750" cy="9334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No suitable</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direct train</a:t>
            </a:r>
          </a:p>
        </p:txBody>
      </p:sp>
      <p:sp>
        <p:nvSpPr>
          <p:cNvPr id="8" name="shape-19">
            <a:extLst xmlns:a="http://schemas.openxmlformats.org/drawingml/2006/main">
              <a:ext uri="{FF2B5EF4-FFF2-40B4-BE49-F238E27FC236}">
                <a16:creationId xmlns:a16="http://schemas.microsoft.com/office/drawing/2014/main" id="{B7A5B0C8-4895-4A41-8C31-8665C279110F}"/>
              </a:ext>
            </a:extLst>
          </p:cNvPr>
          <p:cNvSpPr>
            <a:spLocks xmlns:a="http://schemas.openxmlformats.org/drawingml/2006/main" noGrp="1"/>
          </p:cNvSpPr>
          <p:nvPr/>
        </p:nvSpPr>
        <p:spPr>
          <a:xfrm xmlns:a="http://schemas.openxmlformats.org/drawingml/2006/main">
            <a:off x="6048375" y="2724150"/>
            <a:ext cx="2000250" cy="9334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Requested</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destination</a:t>
            </a:r>
          </a:p>
        </p:txBody>
      </p:sp>
      <p:sp>
        <p:nvSpPr>
          <p:cNvPr id="11" name="shape-20">
            <a:extLst xmlns:a="http://schemas.openxmlformats.org/drawingml/2006/main">
              <a:ext uri="{FF2B5EF4-FFF2-40B4-BE49-F238E27FC236}">
                <a16:creationId xmlns:a16="http://schemas.microsoft.com/office/drawing/2014/main" id="{43E9CD22-4A28-4018-A5AC-7A92B2E1345B}"/>
              </a:ext>
            </a:extLst>
          </p:cNvPr>
          <p:cNvSpPr>
            <a:spLocks xmlns:a="http://schemas.openxmlformats.org/drawingml/2006/main" noGrp="1"/>
          </p:cNvSpPr>
          <p:nvPr/>
        </p:nvSpPr>
        <p:spPr>
          <a:xfrm xmlns:a="http://schemas.openxmlformats.org/drawingml/2006/main">
            <a:off x="895350" y="4371975"/>
            <a:ext cx="3048000" cy="68580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Nearby terminals</a:t>
            </a:r>
          </a:p>
        </p:txBody>
      </p:sp>
      <p:sp>
        <p:nvSpPr>
          <p:cNvPr id="12" name="shape-21">
            <a:extLst xmlns:a="http://schemas.openxmlformats.org/drawingml/2006/main">
              <a:ext uri="{FF2B5EF4-FFF2-40B4-BE49-F238E27FC236}">
                <a16:creationId xmlns:a16="http://schemas.microsoft.com/office/drawing/2014/main" id="{FF2FCC4D-FA96-4911-BF40-93090181AFB1}"/>
              </a:ext>
            </a:extLst>
          </p:cNvPr>
          <p:cNvSpPr>
            <a:spLocks xmlns:a="http://schemas.openxmlformats.org/drawingml/2006/main" noGrp="1"/>
          </p:cNvSpPr>
          <p:nvPr/>
        </p:nvSpPr>
        <p:spPr>
          <a:xfrm xmlns:a="http://schemas.openxmlformats.org/drawingml/2006/main">
            <a:off x="4657725" y="4371975"/>
            <a:ext cx="3048000" cy="68580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One interchange</a:t>
            </a:r>
          </a:p>
        </p:txBody>
      </p:sp>
      <p:sp>
        <p:nvSpPr>
          <p:cNvPr id="13" name="shape-22">
            <a:extLst xmlns:a="http://schemas.openxmlformats.org/drawingml/2006/main">
              <a:ext uri="{FF2B5EF4-FFF2-40B4-BE49-F238E27FC236}">
                <a16:creationId xmlns:a16="http://schemas.microsoft.com/office/drawing/2014/main" id="{55675451-3B80-47A1-AFF8-F441EE5A797C}"/>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The friction</a:t>
            </a:r>
          </a:p>
        </p:txBody>
      </p:sp>
      <p:sp>
        <p:nvSpPr>
          <p:cNvPr id="14" name="shape-23">
            <a:extLst xmlns:a="http://schemas.openxmlformats.org/drawingml/2006/main">
              <a:ext uri="{FF2B5EF4-FFF2-40B4-BE49-F238E27FC236}">
                <a16:creationId xmlns:a16="http://schemas.microsoft.com/office/drawing/2014/main" id="{00FFB832-03BE-4AB4-8D83-54C7D506AEB6}"/>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Passengers compare several station pairs and timetables themselves.</a:t>
            </a:r>
          </a:p>
        </p:txBody>
      </p:sp>
      <p:sp>
        <p:nvSpPr>
          <p:cNvPr id="15" name="shape-24">
            <a:extLst xmlns:a="http://schemas.openxmlformats.org/drawingml/2006/main">
              <a:ext uri="{FF2B5EF4-FFF2-40B4-BE49-F238E27FC236}">
                <a16:creationId xmlns:a16="http://schemas.microsoft.com/office/drawing/2014/main" id="{C5A9610D-D054-4D94-9EA2-DFE73E47CB1C}"/>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My response</a:t>
            </a:r>
          </a:p>
        </p:txBody>
      </p:sp>
      <p:sp>
        <p:nvSpPr>
          <p:cNvPr id="16" name="shape-25">
            <a:extLst xmlns:a="http://schemas.openxmlformats.org/drawingml/2006/main">
              <a:ext uri="{FF2B5EF4-FFF2-40B4-BE49-F238E27FC236}">
                <a16:creationId xmlns:a16="http://schemas.microsoft.com/office/drawing/2014/main" id="{FB1E1E34-E77B-4F58-8013-FD2AEF756264}"/>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Offer feasible alternatives with times, stations, classes and fares.</a:t>
            </a:r>
          </a:p>
        </p:txBody>
      </p:sp>
      <p:sp>
        <p:nvSpPr>
          <p:cNvPr id="17" name="shape-26">
            <a:extLst xmlns:a="http://schemas.openxmlformats.org/drawingml/2006/main">
              <a:ext uri="{FF2B5EF4-FFF2-40B4-BE49-F238E27FC236}">
                <a16:creationId xmlns:a16="http://schemas.microsoft.com/office/drawing/2014/main" id="{CDE1BCF0-64B0-4821-9661-C82289593857}"/>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27">
            <a:extLst xmlns:a="http://schemas.openxmlformats.org/drawingml/2006/main">
              <a:ext uri="{FF2B5EF4-FFF2-40B4-BE49-F238E27FC236}">
                <a16:creationId xmlns:a16="http://schemas.microsoft.com/office/drawing/2014/main" id="{4C73286D-A589-44D3-BCB7-40392DE034F9}"/>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The value is a better discovery workflow, not a claim of exclusive routing technology.</a:t>
            </a:r>
          </a:p>
        </p:txBody>
      </p:sp>
    </p:spTree>
    <p:extLst>
      <p:ext uri="{BB962C8B-B14F-4D97-AF65-F5344CB8AC3E}">
        <p14:creationId xmlns:p14="http://schemas.microsoft.com/office/powerpoint/2010/main" val="16727709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25F28C3-21CB-4CDE-B6D3-B17BB76E7DF2}"/>
              </a:ext>
            </a:extLst>
          </p:cNvPr>
          <p:cNvCxnSpPr>
            <a:stCxn xmlns:a="http://schemas.openxmlformats.org/drawingml/2006/main" id="8" idx="1"/>
            <a:endCxn xmlns:a="http://schemas.openxmlformats.org/drawingml/2006/main" id="7" idx="3"/>
          </p:cNvCxnSpPr>
          <p:nvPr/>
        </p:nvCxnSpPr>
        <p:spPr>
          <a:xfrm xmlns:a="http://schemas.openxmlformats.org/drawingml/2006/main" flipH="1">
            <a:off x="5057775" y="3395663"/>
            <a:ext cx="11525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26B5447-0D0C-4555-85FC-AC600C2F27DA}"/>
              </a:ext>
            </a:extLst>
          </p:cNvPr>
          <p:cNvCxnSpPr>
            <a:stCxn xmlns:a="http://schemas.openxmlformats.org/drawingml/2006/main" id="6" idx="3"/>
            <a:endCxn xmlns:a="http://schemas.openxmlformats.org/drawingml/2006/main" id="7" idx="1"/>
          </p:cNvCxnSpPr>
          <p:nvPr/>
        </p:nvCxnSpPr>
        <p:spPr>
          <a:xfrm xmlns:a="http://schemas.openxmlformats.org/drawingml/2006/main">
            <a:off x="2247900" y="3395663"/>
            <a:ext cx="9048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28">
            <a:extLst xmlns:a="http://schemas.openxmlformats.org/drawingml/2006/main">
              <a:ext uri="{FF2B5EF4-FFF2-40B4-BE49-F238E27FC236}">
                <a16:creationId xmlns:a16="http://schemas.microsoft.com/office/drawing/2014/main" id="{C2CC1020-B616-4C03-A870-FCE1AB92FEDC}"/>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02 / SCOPE</a:t>
            </a:r>
          </a:p>
        </p:txBody>
      </p:sp>
      <p:sp>
        <p:nvSpPr>
          <p:cNvPr id="2" name="shape-29">
            <a:extLst xmlns:a="http://schemas.openxmlformats.org/drawingml/2006/main">
              <a:ext uri="{FF2B5EF4-FFF2-40B4-BE49-F238E27FC236}">
                <a16:creationId xmlns:a16="http://schemas.microsoft.com/office/drawing/2014/main" id="{5324CE85-5AF9-4F7F-84CF-D1CEDAE35EBC}"/>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Two roles, one connected platform</a:t>
            </a:r>
          </a:p>
        </p:txBody>
      </p:sp>
      <p:sp>
        <p:nvSpPr>
          <p:cNvPr id="3" name="shape-30">
            <a:extLst xmlns:a="http://schemas.openxmlformats.org/drawingml/2006/main">
              <a:ext uri="{FF2B5EF4-FFF2-40B4-BE49-F238E27FC236}">
                <a16:creationId xmlns:a16="http://schemas.microsoft.com/office/drawing/2014/main" id="{38FDC239-6D38-4867-9111-D527C65C00A0}"/>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Passenger convenience and controlled administration share the same business rules.</a:t>
            </a:r>
          </a:p>
        </p:txBody>
      </p:sp>
      <p:sp>
        <p:nvSpPr>
          <p:cNvPr id="4" name="shape-31">
            <a:extLst xmlns:a="http://schemas.openxmlformats.org/drawingml/2006/main">
              <a:ext uri="{FF2B5EF4-FFF2-40B4-BE49-F238E27FC236}">
                <a16:creationId xmlns:a16="http://schemas.microsoft.com/office/drawing/2014/main" id="{C4F9656A-F348-447F-BC07-3CE614170775}"/>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2">
            <a:extLst xmlns:a="http://schemas.openxmlformats.org/drawingml/2006/main">
              <a:ext uri="{FF2B5EF4-FFF2-40B4-BE49-F238E27FC236}">
                <a16:creationId xmlns:a16="http://schemas.microsoft.com/office/drawing/2014/main" id="{086A6EF1-4543-4986-B630-21905B8E853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03 / 28</a:t>
            </a:r>
          </a:p>
        </p:txBody>
      </p:sp>
      <p:sp>
        <p:nvSpPr>
          <p:cNvPr id="6" name="shape-33">
            <a:extLst xmlns:a="http://schemas.openxmlformats.org/drawingml/2006/main">
              <a:ext uri="{FF2B5EF4-FFF2-40B4-BE49-F238E27FC236}">
                <a16:creationId xmlns:a16="http://schemas.microsoft.com/office/drawing/2014/main" id="{8662F17F-DDA3-4A32-BD05-2BAB13894CFE}"/>
              </a:ext>
            </a:extLst>
          </p:cNvPr>
          <p:cNvSpPr>
            <a:spLocks xmlns:a="http://schemas.openxmlformats.org/drawingml/2006/main" noGrp="1"/>
          </p:cNvSpPr>
          <p:nvPr/>
        </p:nvSpPr>
        <p:spPr>
          <a:xfrm xmlns:a="http://schemas.openxmlformats.org/drawingml/2006/main">
            <a:off x="533400" y="2943225"/>
            <a:ext cx="1714500" cy="9048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Passenger</a:t>
            </a:r>
          </a:p>
        </p:txBody>
      </p:sp>
      <p:sp>
        <p:nvSpPr>
          <p:cNvPr id="7" name="shape-34">
            <a:extLst xmlns:a="http://schemas.openxmlformats.org/drawingml/2006/main">
              <a:ext uri="{FF2B5EF4-FFF2-40B4-BE49-F238E27FC236}">
                <a16:creationId xmlns:a16="http://schemas.microsoft.com/office/drawing/2014/main" id="{A6D67A96-D4FB-40B9-98AF-1109A7AA5429}"/>
              </a:ext>
            </a:extLst>
          </p:cNvPr>
          <p:cNvSpPr>
            <a:spLocks xmlns:a="http://schemas.openxmlformats.org/drawingml/2006/main" noGrp="1"/>
          </p:cNvSpPr>
          <p:nvPr/>
        </p:nvSpPr>
        <p:spPr>
          <a:xfrm xmlns:a="http://schemas.openxmlformats.org/drawingml/2006/main">
            <a:off x="3152775" y="2943225"/>
            <a:ext cx="1905000" cy="904875"/>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Railwize</a:t>
            </a:r>
          </a:p>
        </p:txBody>
      </p:sp>
      <p:sp>
        <p:nvSpPr>
          <p:cNvPr id="8" name="shape-35">
            <a:extLst xmlns:a="http://schemas.openxmlformats.org/drawingml/2006/main">
              <a:ext uri="{FF2B5EF4-FFF2-40B4-BE49-F238E27FC236}">
                <a16:creationId xmlns:a16="http://schemas.microsoft.com/office/drawing/2014/main" id="{5894E6D5-5F61-42DC-8288-9046744B416D}"/>
              </a:ext>
            </a:extLst>
          </p:cNvPr>
          <p:cNvSpPr>
            <a:spLocks xmlns:a="http://schemas.openxmlformats.org/drawingml/2006/main" noGrp="1"/>
          </p:cNvSpPr>
          <p:nvPr/>
        </p:nvSpPr>
        <p:spPr>
          <a:xfrm xmlns:a="http://schemas.openxmlformats.org/drawingml/2006/main">
            <a:off x="6210300" y="2943225"/>
            <a:ext cx="1905000" cy="9048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Administrator</a:t>
            </a:r>
          </a:p>
        </p:txBody>
      </p:sp>
      <p:sp>
        <p:nvSpPr>
          <p:cNvPr id="11" name="shape-36">
            <a:extLst xmlns:a="http://schemas.openxmlformats.org/drawingml/2006/main">
              <a:ext uri="{FF2B5EF4-FFF2-40B4-BE49-F238E27FC236}">
                <a16:creationId xmlns:a16="http://schemas.microsoft.com/office/drawing/2014/main" id="{6A4F0C8E-BA34-48D3-A8D3-66BA24A10A72}"/>
              </a:ext>
            </a:extLst>
          </p:cNvPr>
          <p:cNvSpPr>
            <a:spLocks xmlns:a="http://schemas.openxmlformats.org/drawingml/2006/main" noGrp="1"/>
          </p:cNvSpPr>
          <p:nvPr/>
        </p:nvSpPr>
        <p:spPr>
          <a:xfrm xmlns:a="http://schemas.openxmlformats.org/drawingml/2006/main">
            <a:off x="533400" y="4133850"/>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442"/>
                </a:solidFill>
                <a:latin typeface="Arial"/>
                <a:ea typeface="Arial"/>
                <a:cs typeface="Arial"/>
              </a:defRPr>
            </a:defPPr>
          </a:lstStyle>
          <a:p xmlns:a="http://schemas.openxmlformats.org/drawingml/2006/main">
            <a:pPr algn="l">
              <a:defRPr sz="2025" b="0">
                <a:solidFill>
                  <a:srgbClr val="152442"/>
                </a:solidFill>
                <a:latin typeface="Arial"/>
                <a:ea typeface="Arial"/>
                <a:cs typeface="Arial"/>
              </a:defRPr>
            </a:pPr>
            <a:r>
              <a:rPr sz="2025" b="0">
                <a:solidFill>
                  <a:srgbClr val="152442"/>
                </a:solidFill>
                <a:latin typeface="Arial"/>
                <a:ea typeface="Arial"/>
                <a:cs typeface="Arial"/>
              </a:rPr>
              <a:t>Search · Book · Pay</a:t>
            </a:r>
          </a:p>
          <a:p xmlns:a="http://schemas.openxmlformats.org/drawingml/2006/main">
            <a:pPr algn="l">
              <a:defRPr sz="2025" b="0">
                <a:solidFill>
                  <a:srgbClr val="152442"/>
                </a:solidFill>
                <a:latin typeface="Arial"/>
                <a:ea typeface="Arial"/>
                <a:cs typeface="Arial"/>
              </a:defRPr>
            </a:pPr>
            <a:r>
              <a:rPr sz="2025" b="0">
                <a:solidFill>
                  <a:srgbClr val="152442"/>
                </a:solidFill>
                <a:latin typeface="Arial"/>
                <a:ea typeface="Arial"/>
                <a:cs typeface="Arial"/>
              </a:rPr>
              <a:t>Cancel · Ask · Get help</a:t>
            </a:r>
          </a:p>
        </p:txBody>
      </p:sp>
      <p:sp>
        <p:nvSpPr>
          <p:cNvPr id="12" name="shape-37">
            <a:extLst xmlns:a="http://schemas.openxmlformats.org/drawingml/2006/main">
              <a:ext uri="{FF2B5EF4-FFF2-40B4-BE49-F238E27FC236}">
                <a16:creationId xmlns:a16="http://schemas.microsoft.com/office/drawing/2014/main" id="{5AE37BDF-3270-4990-8852-CEDF092B4620}"/>
              </a:ext>
            </a:extLst>
          </p:cNvPr>
          <p:cNvSpPr>
            <a:spLocks xmlns:a="http://schemas.openxmlformats.org/drawingml/2006/main" noGrp="1"/>
          </p:cNvSpPr>
          <p:nvPr/>
        </p:nvSpPr>
        <p:spPr>
          <a:xfrm xmlns:a="http://schemas.openxmlformats.org/drawingml/2006/main">
            <a:off x="5086350" y="4133850"/>
            <a:ext cx="3219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52442"/>
                </a:solidFill>
                <a:latin typeface="Arial"/>
                <a:ea typeface="Arial"/>
                <a:cs typeface="Arial"/>
              </a:defRPr>
            </a:defPPr>
          </a:lstStyle>
          <a:p xmlns:a="http://schemas.openxmlformats.org/drawingml/2006/main">
            <a:pPr algn="l">
              <a:defRPr sz="2025" b="0">
                <a:solidFill>
                  <a:srgbClr val="152442"/>
                </a:solidFill>
                <a:latin typeface="Arial"/>
                <a:ea typeface="Arial"/>
                <a:cs typeface="Arial"/>
              </a:defRPr>
            </a:pPr>
            <a:r>
              <a:rPr sz="2025" b="0">
                <a:solidFill>
                  <a:srgbClr val="152442"/>
                </a:solidFill>
                <a:latin typeface="Arial"/>
                <a:ea typeface="Arial"/>
                <a:cs typeface="Arial"/>
              </a:rPr>
              <a:t>Catalogue · Users</a:t>
            </a:r>
          </a:p>
          <a:p xmlns:a="http://schemas.openxmlformats.org/drawingml/2006/main">
            <a:pPr algn="l">
              <a:defRPr sz="2025" b="0">
                <a:solidFill>
                  <a:srgbClr val="152442"/>
                </a:solidFill>
                <a:latin typeface="Arial"/>
                <a:ea typeface="Arial"/>
                <a:cs typeface="Arial"/>
              </a:defRPr>
            </a:pPr>
            <a:r>
              <a:rPr sz="2025" b="0">
                <a:solidFill>
                  <a:srgbClr val="152442"/>
                </a:solidFill>
                <a:latin typeface="Arial"/>
                <a:ea typeface="Arial"/>
                <a:cs typeface="Arial"/>
              </a:rPr>
              <a:t>Reports · Run cancellation</a:t>
            </a:r>
          </a:p>
        </p:txBody>
      </p:sp>
      <p:sp>
        <p:nvSpPr>
          <p:cNvPr id="13" name="shape-38">
            <a:extLst xmlns:a="http://schemas.openxmlformats.org/drawingml/2006/main">
              <a:ext uri="{FF2B5EF4-FFF2-40B4-BE49-F238E27FC236}">
                <a16:creationId xmlns:a16="http://schemas.microsoft.com/office/drawing/2014/main" id="{61179D5D-D989-4E8D-9FAB-AF048273CC17}"/>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Shared foundation</a:t>
            </a:r>
          </a:p>
        </p:txBody>
      </p:sp>
      <p:sp>
        <p:nvSpPr>
          <p:cNvPr id="14" name="shape-39">
            <a:extLst xmlns:a="http://schemas.openxmlformats.org/drawingml/2006/main">
              <a:ext uri="{FF2B5EF4-FFF2-40B4-BE49-F238E27FC236}">
                <a16:creationId xmlns:a16="http://schemas.microsoft.com/office/drawing/2014/main" id="{C1E65EAD-4B0A-484B-9AA3-21C45A0A50D4}"/>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Verified identities, ownership checks and consistent API errors.</a:t>
            </a:r>
          </a:p>
        </p:txBody>
      </p:sp>
      <p:sp>
        <p:nvSpPr>
          <p:cNvPr id="15" name="shape-40">
            <a:extLst xmlns:a="http://schemas.openxmlformats.org/drawingml/2006/main">
              <a:ext uri="{FF2B5EF4-FFF2-40B4-BE49-F238E27FC236}">
                <a16:creationId xmlns:a16="http://schemas.microsoft.com/office/drawing/2014/main" id="{5DEA24E0-6B0A-4705-BCFE-6698703804CE}"/>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Clear scope</a:t>
            </a:r>
          </a:p>
        </p:txBody>
      </p:sp>
      <p:sp>
        <p:nvSpPr>
          <p:cNvPr id="16" name="shape-41">
            <a:extLst xmlns:a="http://schemas.openxmlformats.org/drawingml/2006/main">
              <a:ext uri="{FF2B5EF4-FFF2-40B4-BE49-F238E27FC236}">
                <a16:creationId xmlns:a16="http://schemas.microsoft.com/office/drawing/2014/main" id="{1AD01C7B-9BAA-4D02-A1C6-61B6354125D7}"/>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Own catalogue and inventory; Razorpay test transactions.</a:t>
            </a:r>
          </a:p>
        </p:txBody>
      </p:sp>
      <p:sp>
        <p:nvSpPr>
          <p:cNvPr id="17" name="shape-42">
            <a:extLst xmlns:a="http://schemas.openxmlformats.org/drawingml/2006/main">
              <a:ext uri="{FF2B5EF4-FFF2-40B4-BE49-F238E27FC236}">
                <a16:creationId xmlns:a16="http://schemas.microsoft.com/office/drawing/2014/main" id="{25BF5A7B-E6D4-48BB-8B02-FB0BEF92CC64}"/>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43">
            <a:extLst xmlns:a="http://schemas.openxmlformats.org/drawingml/2006/main">
              <a:ext uri="{FF2B5EF4-FFF2-40B4-BE49-F238E27FC236}">
                <a16:creationId xmlns:a16="http://schemas.microsoft.com/office/drawing/2014/main" id="{E5A29B9D-F90D-4F5E-BD5C-231A36440884}"/>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Public registration creates passenger accounts; it cannot assign the ADMIN role.</a:t>
            </a:r>
          </a:p>
        </p:txBody>
      </p:sp>
    </p:spTree>
    <p:extLst>
      <p:ext uri="{BB962C8B-B14F-4D97-AF65-F5344CB8AC3E}">
        <p14:creationId xmlns:p14="http://schemas.microsoft.com/office/powerpoint/2010/main" val="6451216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23730C2-C3E7-4190-A6DC-0B3BCF77A8B3}"/>
              </a:ext>
            </a:extLst>
          </p:cNvPr>
          <p:cNvCxnSpPr>
            <a:stCxn xmlns:a="http://schemas.openxmlformats.org/drawingml/2006/main" id="7" idx="2"/>
            <a:endCxn xmlns:a="http://schemas.openxmlformats.org/drawingml/2006/main" id="11" idx="0"/>
          </p:cNvCxnSpPr>
          <p:nvPr/>
        </p:nvCxnSpPr>
        <p:spPr>
          <a:xfrm xmlns:a="http://schemas.openxmlformats.org/drawingml/2006/main">
            <a:off x="4286250" y="2657475"/>
            <a:ext cx="47625" cy="48577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5572CFB3-3C46-4CB8-BD8D-F93E7E2992AB}"/>
              </a:ext>
            </a:extLst>
          </p:cNvPr>
          <p:cNvCxnSpPr>
            <a:stCxn xmlns:a="http://schemas.openxmlformats.org/drawingml/2006/main" id="9" idx="1"/>
            <a:endCxn xmlns:a="http://schemas.openxmlformats.org/drawingml/2006/main" id="7" idx="3"/>
          </p:cNvCxnSpPr>
          <p:nvPr/>
        </p:nvCxnSpPr>
        <p:spPr>
          <a:xfrm xmlns:a="http://schemas.openxmlformats.org/drawingml/2006/main" flipH="1">
            <a:off x="5334000" y="2352675"/>
            <a:ext cx="771525" cy="0"/>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BD54CAF3-0E20-4F4A-9976-760F4ADA2A93}"/>
              </a:ext>
            </a:extLst>
          </p:cNvPr>
          <p:cNvCxnSpPr>
            <a:stCxn xmlns:a="http://schemas.openxmlformats.org/drawingml/2006/main" id="6" idx="3"/>
            <a:endCxn xmlns:a="http://schemas.openxmlformats.org/drawingml/2006/main" id="7" idx="1"/>
          </p:cNvCxnSpPr>
          <p:nvPr/>
        </p:nvCxnSpPr>
        <p:spPr>
          <a:xfrm xmlns:a="http://schemas.openxmlformats.org/drawingml/2006/main">
            <a:off x="2628900" y="2352675"/>
            <a:ext cx="60960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6" name="shape-44">
            <a:extLst xmlns:a="http://schemas.openxmlformats.org/drawingml/2006/main">
              <a:ext uri="{FF2B5EF4-FFF2-40B4-BE49-F238E27FC236}">
                <a16:creationId xmlns:a16="http://schemas.microsoft.com/office/drawing/2014/main" id="{9D5376C8-B845-4A0E-AF2D-7979687394E9}"/>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03 / ARCHITECTURE</a:t>
            </a:r>
          </a:p>
        </p:txBody>
      </p:sp>
      <p:sp>
        <p:nvSpPr>
          <p:cNvPr id="2" name="shape-45">
            <a:extLst xmlns:a="http://schemas.openxmlformats.org/drawingml/2006/main">
              <a:ext uri="{FF2B5EF4-FFF2-40B4-BE49-F238E27FC236}">
                <a16:creationId xmlns:a16="http://schemas.microsoft.com/office/drawing/2014/main" id="{EC11DF5E-CC32-44D6-9189-19393F00AAC4}"/>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gateway connects focused services</a:t>
            </a:r>
          </a:p>
        </p:txBody>
      </p:sp>
      <p:sp>
        <p:nvSpPr>
          <p:cNvPr id="3" name="shape-46">
            <a:extLst xmlns:a="http://schemas.openxmlformats.org/drawingml/2006/main">
              <a:ext uri="{FF2B5EF4-FFF2-40B4-BE49-F238E27FC236}">
                <a16:creationId xmlns:a16="http://schemas.microsoft.com/office/drawing/2014/main" id="{C847E077-40C7-43C4-90AD-E27F09F0466F}"/>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Business data belongs to the service responsible for it.</a:t>
            </a:r>
          </a:p>
        </p:txBody>
      </p:sp>
      <p:sp>
        <p:nvSpPr>
          <p:cNvPr id="4" name="shape-47">
            <a:extLst xmlns:a="http://schemas.openxmlformats.org/drawingml/2006/main">
              <a:ext uri="{FF2B5EF4-FFF2-40B4-BE49-F238E27FC236}">
                <a16:creationId xmlns:a16="http://schemas.microsoft.com/office/drawing/2014/main" id="{B36ACAED-0510-467B-982C-424E229D3236}"/>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8">
            <a:extLst xmlns:a="http://schemas.openxmlformats.org/drawingml/2006/main">
              <a:ext uri="{FF2B5EF4-FFF2-40B4-BE49-F238E27FC236}">
                <a16:creationId xmlns:a16="http://schemas.microsoft.com/office/drawing/2014/main" id="{B6C6DD48-4CE0-49BD-B91B-F0AAC7DA14A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04 / 28</a:t>
            </a:r>
          </a:p>
        </p:txBody>
      </p:sp>
      <p:sp>
        <p:nvSpPr>
          <p:cNvPr id="6" name="shape-49">
            <a:extLst xmlns:a="http://schemas.openxmlformats.org/drawingml/2006/main">
              <a:ext uri="{FF2B5EF4-FFF2-40B4-BE49-F238E27FC236}">
                <a16:creationId xmlns:a16="http://schemas.microsoft.com/office/drawing/2014/main" id="{0BE20BC5-BEF9-4D54-86A4-9892A8B524B3}"/>
              </a:ext>
            </a:extLst>
          </p:cNvPr>
          <p:cNvSpPr>
            <a:spLocks xmlns:a="http://schemas.openxmlformats.org/drawingml/2006/main" noGrp="1"/>
          </p:cNvSpPr>
          <p:nvPr/>
        </p:nvSpPr>
        <p:spPr>
          <a:xfrm xmlns:a="http://schemas.openxmlformats.org/drawingml/2006/main">
            <a:off x="533400" y="2047875"/>
            <a:ext cx="2095500" cy="6096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Angular frontend</a:t>
            </a:r>
          </a:p>
        </p:txBody>
      </p:sp>
      <p:sp>
        <p:nvSpPr>
          <p:cNvPr id="7" name="shape-50">
            <a:extLst xmlns:a="http://schemas.openxmlformats.org/drawingml/2006/main">
              <a:ext uri="{FF2B5EF4-FFF2-40B4-BE49-F238E27FC236}">
                <a16:creationId xmlns:a16="http://schemas.microsoft.com/office/drawing/2014/main" id="{C0860093-3DAA-4B3D-84F1-69A578518EEB}"/>
              </a:ext>
            </a:extLst>
          </p:cNvPr>
          <p:cNvSpPr>
            <a:spLocks xmlns:a="http://schemas.openxmlformats.org/drawingml/2006/main" noGrp="1"/>
          </p:cNvSpPr>
          <p:nvPr/>
        </p:nvSpPr>
        <p:spPr>
          <a:xfrm xmlns:a="http://schemas.openxmlformats.org/drawingml/2006/main">
            <a:off x="3238500" y="2047875"/>
            <a:ext cx="2095500" cy="609600"/>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API Gateway</a:t>
            </a:r>
          </a:p>
        </p:txBody>
      </p:sp>
      <p:sp>
        <p:nvSpPr>
          <p:cNvPr id="9" name="shape-51">
            <a:extLst xmlns:a="http://schemas.openxmlformats.org/drawingml/2006/main">
              <a:ext uri="{FF2B5EF4-FFF2-40B4-BE49-F238E27FC236}">
                <a16:creationId xmlns:a16="http://schemas.microsoft.com/office/drawing/2014/main" id="{D4DD999B-B5C7-4C72-8F98-491B03071DD6}"/>
              </a:ext>
            </a:extLst>
          </p:cNvPr>
          <p:cNvSpPr>
            <a:spLocks xmlns:a="http://schemas.openxmlformats.org/drawingml/2006/main" noGrp="1"/>
          </p:cNvSpPr>
          <p:nvPr/>
        </p:nvSpPr>
        <p:spPr>
          <a:xfrm xmlns:a="http://schemas.openxmlformats.org/drawingml/2006/main">
            <a:off x="6105525" y="2047875"/>
            <a:ext cx="2000250" cy="6096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Config + Eureka</a:t>
            </a:r>
          </a:p>
        </p:txBody>
      </p:sp>
      <p:sp>
        <p:nvSpPr>
          <p:cNvPr id="11" name="shape-52">
            <a:extLst xmlns:a="http://schemas.openxmlformats.org/drawingml/2006/main">
              <a:ext uri="{FF2B5EF4-FFF2-40B4-BE49-F238E27FC236}">
                <a16:creationId xmlns:a16="http://schemas.microsoft.com/office/drawing/2014/main" id="{FDF292E8-0E06-435D-9DC5-785F5DB0691E}"/>
              </a:ext>
            </a:extLst>
          </p:cNvPr>
          <p:cNvSpPr>
            <a:spLocks xmlns:a="http://schemas.openxmlformats.org/drawingml/2006/main" noGrp="1"/>
          </p:cNvSpPr>
          <p:nvPr/>
        </p:nvSpPr>
        <p:spPr>
          <a:xfrm xmlns:a="http://schemas.openxmlformats.org/drawingml/2006/main">
            <a:off x="400050" y="3143250"/>
            <a:ext cx="7867650" cy="2219325"/>
          </a:xfrm>
          <a:prstGeom xmlns:a="http://schemas.openxmlformats.org/drawingml/2006/main" prst="rect">
            <a:avLst/>
          </a:prstGeom>
          <a:noFill xmlns:a="http://schemas.openxmlformats.org/drawingml/2006/main"/>
          <a:ln xmlns:a="http://schemas.openxmlformats.org/drawingml/2006/main" w="14288">
            <a:solidFill>
              <a:srgbClr val="C5D2E9"/>
            </a:solidFill>
          </a:ln>
        </p:spPr>
      </p:sp>
      <p:sp>
        <p:nvSpPr>
          <p:cNvPr id="13" name="shape-53">
            <a:extLst xmlns:a="http://schemas.openxmlformats.org/drawingml/2006/main">
              <a:ext uri="{FF2B5EF4-FFF2-40B4-BE49-F238E27FC236}">
                <a16:creationId xmlns:a16="http://schemas.microsoft.com/office/drawing/2014/main" id="{D5B594E6-F742-4755-9679-2A80A7A19286}"/>
              </a:ext>
            </a:extLst>
          </p:cNvPr>
          <p:cNvSpPr>
            <a:spLocks xmlns:a="http://schemas.openxmlformats.org/drawingml/2006/main" noGrp="1"/>
          </p:cNvSpPr>
          <p:nvPr/>
        </p:nvSpPr>
        <p:spPr>
          <a:xfrm xmlns:a="http://schemas.openxmlformats.org/drawingml/2006/main">
            <a:off x="533400" y="3305175"/>
            <a:ext cx="2333625" cy="69532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Auth + User</a:t>
            </a:r>
          </a:p>
        </p:txBody>
      </p:sp>
      <p:sp>
        <p:nvSpPr>
          <p:cNvPr id="14" name="shape-54">
            <a:extLst xmlns:a="http://schemas.openxmlformats.org/drawingml/2006/main">
              <a:ext uri="{FF2B5EF4-FFF2-40B4-BE49-F238E27FC236}">
                <a16:creationId xmlns:a16="http://schemas.microsoft.com/office/drawing/2014/main" id="{337FEBA8-13F4-4702-B7F6-D9FAE06591E7}"/>
              </a:ext>
            </a:extLst>
          </p:cNvPr>
          <p:cNvSpPr>
            <a:spLocks xmlns:a="http://schemas.openxmlformats.org/drawingml/2006/main" noGrp="1"/>
          </p:cNvSpPr>
          <p:nvPr/>
        </p:nvSpPr>
        <p:spPr>
          <a:xfrm xmlns:a="http://schemas.openxmlformats.org/drawingml/2006/main">
            <a:off x="3076575" y="3305175"/>
            <a:ext cx="2333625" cy="69532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Train + Schedule</a:t>
            </a:r>
          </a:p>
        </p:txBody>
      </p:sp>
      <p:sp>
        <p:nvSpPr>
          <p:cNvPr id="15" name="shape-55">
            <a:extLst xmlns:a="http://schemas.openxmlformats.org/drawingml/2006/main">
              <a:ext uri="{FF2B5EF4-FFF2-40B4-BE49-F238E27FC236}">
                <a16:creationId xmlns:a16="http://schemas.microsoft.com/office/drawing/2014/main" id="{A2AC155A-A846-4837-8D52-14F4D2950C87}"/>
              </a:ext>
            </a:extLst>
          </p:cNvPr>
          <p:cNvSpPr>
            <a:spLocks xmlns:a="http://schemas.openxmlformats.org/drawingml/2006/main" noGrp="1"/>
          </p:cNvSpPr>
          <p:nvPr/>
        </p:nvSpPr>
        <p:spPr>
          <a:xfrm xmlns:a="http://schemas.openxmlformats.org/drawingml/2006/main">
            <a:off x="5619750" y="3305175"/>
            <a:ext cx="2333625" cy="69532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Reservation + PNR</a:t>
            </a:r>
          </a:p>
        </p:txBody>
      </p:sp>
      <p:sp>
        <p:nvSpPr>
          <p:cNvPr id="16" name="shape-56">
            <a:extLst xmlns:a="http://schemas.openxmlformats.org/drawingml/2006/main">
              <a:ext uri="{FF2B5EF4-FFF2-40B4-BE49-F238E27FC236}">
                <a16:creationId xmlns:a16="http://schemas.microsoft.com/office/drawing/2014/main" id="{1BCAB30D-4010-423C-A0FC-7C085CE241B7}"/>
              </a:ext>
            </a:extLst>
          </p:cNvPr>
          <p:cNvSpPr>
            <a:spLocks xmlns:a="http://schemas.openxmlformats.org/drawingml/2006/main" noGrp="1"/>
          </p:cNvSpPr>
          <p:nvPr/>
        </p:nvSpPr>
        <p:spPr>
          <a:xfrm xmlns:a="http://schemas.openxmlformats.org/drawingml/2006/main">
            <a:off x="533400" y="4648200"/>
            <a:ext cx="2095500" cy="6096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Payment</a:t>
            </a:r>
          </a:p>
        </p:txBody>
      </p:sp>
      <p:sp>
        <p:nvSpPr>
          <p:cNvPr id="17" name="shape-57">
            <a:extLst xmlns:a="http://schemas.openxmlformats.org/drawingml/2006/main">
              <a:ext uri="{FF2B5EF4-FFF2-40B4-BE49-F238E27FC236}">
                <a16:creationId xmlns:a16="http://schemas.microsoft.com/office/drawing/2014/main" id="{39628B00-E474-4D9A-8C45-60B1C3E9333A}"/>
              </a:ext>
            </a:extLst>
          </p:cNvPr>
          <p:cNvSpPr>
            <a:spLocks xmlns:a="http://schemas.openxmlformats.org/drawingml/2006/main" noGrp="1"/>
          </p:cNvSpPr>
          <p:nvPr/>
        </p:nvSpPr>
        <p:spPr>
          <a:xfrm xmlns:a="http://schemas.openxmlformats.org/drawingml/2006/main">
            <a:off x="3238500" y="4648200"/>
            <a:ext cx="2095500" cy="6096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Notification</a:t>
            </a:r>
          </a:p>
        </p:txBody>
      </p:sp>
      <p:sp>
        <p:nvSpPr>
          <p:cNvPr id="18" name="shape-58">
            <a:extLst xmlns:a="http://schemas.openxmlformats.org/drawingml/2006/main">
              <a:ext uri="{FF2B5EF4-FFF2-40B4-BE49-F238E27FC236}">
                <a16:creationId xmlns:a16="http://schemas.microsoft.com/office/drawing/2014/main" id="{5FD9830A-4BB3-446B-99D0-C7ED366AC2BC}"/>
              </a:ext>
            </a:extLst>
          </p:cNvPr>
          <p:cNvSpPr>
            <a:spLocks xmlns:a="http://schemas.openxmlformats.org/drawingml/2006/main" noGrp="1"/>
          </p:cNvSpPr>
          <p:nvPr/>
        </p:nvSpPr>
        <p:spPr>
          <a:xfrm xmlns:a="http://schemas.openxmlformats.org/drawingml/2006/main">
            <a:off x="6010275" y="4648200"/>
            <a:ext cx="2095500" cy="6096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Chatbot</a:t>
            </a:r>
          </a:p>
        </p:txBody>
      </p:sp>
      <p:sp>
        <p:nvSpPr>
          <p:cNvPr id="19" name="shape-59">
            <a:extLst xmlns:a="http://schemas.openxmlformats.org/drawingml/2006/main">
              <a:ext uri="{FF2B5EF4-FFF2-40B4-BE49-F238E27FC236}">
                <a16:creationId xmlns:a16="http://schemas.microsoft.com/office/drawing/2014/main" id="{13624D7F-A890-4AB6-8FDE-97C4C1600B80}"/>
              </a:ext>
            </a:extLst>
          </p:cNvPr>
          <p:cNvSpPr>
            <a:spLocks xmlns:a="http://schemas.openxmlformats.org/drawingml/2006/main" noGrp="1"/>
          </p:cNvSpPr>
          <p:nvPr/>
        </p:nvSpPr>
        <p:spPr>
          <a:xfrm xmlns:a="http://schemas.openxmlformats.org/drawingml/2006/main">
            <a:off x="533400" y="542925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8677F"/>
                </a:solidFill>
                <a:latin typeface="Arial"/>
                <a:ea typeface="Arial"/>
                <a:cs typeface="Arial"/>
              </a:defRPr>
            </a:defPPr>
          </a:lstStyle>
          <a:p xmlns:a="http://schemas.openxmlformats.org/drawingml/2006/main">
            <a:pPr algn="l">
              <a:defRPr sz="1650" b="0">
                <a:solidFill>
                  <a:srgbClr val="58677F"/>
                </a:solidFill>
                <a:latin typeface="Arial"/>
                <a:ea typeface="Arial"/>
                <a:cs typeface="Arial"/>
              </a:defRPr>
            </a:pPr>
            <a:r>
              <a:rPr sz="1650" b="0">
                <a:solidFill>
                  <a:srgbClr val="58677F"/>
                </a:solidFill>
                <a:latin typeface="Arial"/>
                <a:ea typeface="Arial"/>
                <a:cs typeface="Arial"/>
              </a:rPr>
              <a:t>8 owned MySQL schemas · RabbitMQ events · external providers</a:t>
            </a:r>
          </a:p>
        </p:txBody>
      </p:sp>
      <p:sp>
        <p:nvSpPr>
          <p:cNvPr id="20" name="shape-60">
            <a:extLst xmlns:a="http://schemas.openxmlformats.org/drawingml/2006/main">
              <a:ext uri="{FF2B5EF4-FFF2-40B4-BE49-F238E27FC236}">
                <a16:creationId xmlns:a16="http://schemas.microsoft.com/office/drawing/2014/main" id="{D0FD6EA3-EDAF-46CD-A694-FE87C3A5416E}"/>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Synchronous</a:t>
            </a:r>
          </a:p>
        </p:txBody>
      </p:sp>
      <p:sp>
        <p:nvSpPr>
          <p:cNvPr id="21" name="shape-61">
            <a:extLst xmlns:a="http://schemas.openxmlformats.org/drawingml/2006/main">
              <a:ext uri="{FF2B5EF4-FFF2-40B4-BE49-F238E27FC236}">
                <a16:creationId xmlns:a16="http://schemas.microsoft.com/office/drawing/2014/main" id="{0D0F2C40-747A-49CC-864B-A306099E8800}"/>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REST / OpenFeign for immediate business decisions.</a:t>
            </a:r>
          </a:p>
        </p:txBody>
      </p:sp>
      <p:sp>
        <p:nvSpPr>
          <p:cNvPr id="22" name="shape-62">
            <a:extLst xmlns:a="http://schemas.openxmlformats.org/drawingml/2006/main">
              <a:ext uri="{FF2B5EF4-FFF2-40B4-BE49-F238E27FC236}">
                <a16:creationId xmlns:a16="http://schemas.microsoft.com/office/drawing/2014/main" id="{89D4F39C-F473-45DA-8956-55E879338950}"/>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Asynchronous</a:t>
            </a:r>
          </a:p>
        </p:txBody>
      </p:sp>
      <p:sp>
        <p:nvSpPr>
          <p:cNvPr id="23" name="shape-63">
            <a:extLst xmlns:a="http://schemas.openxmlformats.org/drawingml/2006/main">
              <a:ext uri="{FF2B5EF4-FFF2-40B4-BE49-F238E27FC236}">
                <a16:creationId xmlns:a16="http://schemas.microsoft.com/office/drawing/2014/main" id="{AA777884-D20F-4263-86A1-B6A38811E118}"/>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Durable booking events drive email and notification work.</a:t>
            </a:r>
          </a:p>
        </p:txBody>
      </p:sp>
      <p:sp>
        <p:nvSpPr>
          <p:cNvPr id="24" name="shape-64">
            <a:extLst xmlns:a="http://schemas.openxmlformats.org/drawingml/2006/main">
              <a:ext uri="{FF2B5EF4-FFF2-40B4-BE49-F238E27FC236}">
                <a16:creationId xmlns:a16="http://schemas.microsoft.com/office/drawing/2014/main" id="{9CA3E7D6-8B7B-493A-AA25-34DB24BF0229}"/>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5" name="shape-65">
            <a:extLst xmlns:a="http://schemas.openxmlformats.org/drawingml/2006/main">
              <a:ext uri="{FF2B5EF4-FFF2-40B4-BE49-F238E27FC236}">
                <a16:creationId xmlns:a16="http://schemas.microsoft.com/office/drawing/2014/main" id="{E15AA012-12A8-4EE7-BA9B-5480499317C2}"/>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12 services: 3 infrastructure services, 8 business services and the AI assistant.</a:t>
            </a:r>
          </a:p>
        </p:txBody>
      </p:sp>
    </p:spTree>
    <p:extLst>
      <p:ext uri="{BB962C8B-B14F-4D97-AF65-F5344CB8AC3E}">
        <p14:creationId xmlns:p14="http://schemas.microsoft.com/office/powerpoint/2010/main" val="18276206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8E89510-75D7-4586-BD6C-79A9FD4FD2C3}"/>
              </a:ext>
            </a:extLst>
          </p:cNvPr>
          <p:cNvCxnSpPr>
            <a:stCxn xmlns:a="http://schemas.openxmlformats.org/drawingml/2006/main" id="7" idx="3"/>
            <a:endCxn xmlns:a="http://schemas.openxmlformats.org/drawingml/2006/main" id="8" idx="1"/>
          </p:cNvCxnSpPr>
          <p:nvPr/>
        </p:nvCxnSpPr>
        <p:spPr>
          <a:xfrm xmlns:a="http://schemas.openxmlformats.org/drawingml/2006/main">
            <a:off x="5438775" y="30003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6D3C5B9-5931-41DA-BFB0-502ACF89C284}"/>
              </a:ext>
            </a:extLst>
          </p:cNvPr>
          <p:cNvCxnSpPr>
            <a:stCxn xmlns:a="http://schemas.openxmlformats.org/drawingml/2006/main" id="6" idx="3"/>
            <a:endCxn xmlns:a="http://schemas.openxmlformats.org/drawingml/2006/main" id="7" idx="1"/>
          </p:cNvCxnSpPr>
          <p:nvPr/>
        </p:nvCxnSpPr>
        <p:spPr>
          <a:xfrm xmlns:a="http://schemas.openxmlformats.org/drawingml/2006/main">
            <a:off x="2819400" y="30003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66">
            <a:extLst xmlns:a="http://schemas.openxmlformats.org/drawingml/2006/main">
              <a:ext uri="{FF2B5EF4-FFF2-40B4-BE49-F238E27FC236}">
                <a16:creationId xmlns:a16="http://schemas.microsoft.com/office/drawing/2014/main" id="{89A16EA6-9D83-4F57-B0B9-29CEEB39B483}"/>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04 / TECHNOLOGY</a:t>
            </a:r>
          </a:p>
        </p:txBody>
      </p:sp>
      <p:sp>
        <p:nvSpPr>
          <p:cNvPr id="2" name="shape-67">
            <a:extLst xmlns:a="http://schemas.openxmlformats.org/drawingml/2006/main">
              <a:ext uri="{FF2B5EF4-FFF2-40B4-BE49-F238E27FC236}">
                <a16:creationId xmlns:a16="http://schemas.microsoft.com/office/drawing/2014/main" id="{23721825-283D-48FD-A99A-644A13556C0D}"/>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Each technology has a specific responsibility</a:t>
            </a:r>
          </a:p>
        </p:txBody>
      </p:sp>
      <p:sp>
        <p:nvSpPr>
          <p:cNvPr id="3" name="shape-68">
            <a:extLst xmlns:a="http://schemas.openxmlformats.org/drawingml/2006/main">
              <a:ext uri="{FF2B5EF4-FFF2-40B4-BE49-F238E27FC236}">
                <a16:creationId xmlns:a16="http://schemas.microsoft.com/office/drawing/2014/main" id="{BF474AA6-B5EF-4513-9CFF-14C0D7E806CD}"/>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chose a familiar Java backend and a component-based Angular client.</a:t>
            </a:r>
          </a:p>
        </p:txBody>
      </p:sp>
      <p:sp>
        <p:nvSpPr>
          <p:cNvPr id="4" name="shape-69">
            <a:extLst xmlns:a="http://schemas.openxmlformats.org/drawingml/2006/main">
              <a:ext uri="{FF2B5EF4-FFF2-40B4-BE49-F238E27FC236}">
                <a16:creationId xmlns:a16="http://schemas.microsoft.com/office/drawing/2014/main" id="{77B71B91-D86E-4675-B5F2-B2FF1CE334E5}"/>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70">
            <a:extLst xmlns:a="http://schemas.openxmlformats.org/drawingml/2006/main">
              <a:ext uri="{FF2B5EF4-FFF2-40B4-BE49-F238E27FC236}">
                <a16:creationId xmlns:a16="http://schemas.microsoft.com/office/drawing/2014/main" id="{ABCA58E3-EDD9-40A5-BDB7-E83DD84B5ED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05 / 28</a:t>
            </a:r>
          </a:p>
        </p:txBody>
      </p:sp>
      <p:sp>
        <p:nvSpPr>
          <p:cNvPr id="6" name="shape-71">
            <a:extLst xmlns:a="http://schemas.openxmlformats.org/drawingml/2006/main">
              <a:ext uri="{FF2B5EF4-FFF2-40B4-BE49-F238E27FC236}">
                <a16:creationId xmlns:a16="http://schemas.microsoft.com/office/drawing/2014/main" id="{9F43EA01-40D5-48B8-B6C6-47BDB809C1AD}"/>
              </a:ext>
            </a:extLst>
          </p:cNvPr>
          <p:cNvSpPr>
            <a:spLocks xmlns:a="http://schemas.openxmlformats.org/drawingml/2006/main" noGrp="1"/>
          </p:cNvSpPr>
          <p:nvPr/>
        </p:nvSpPr>
        <p:spPr>
          <a:xfrm xmlns:a="http://schemas.openxmlformats.org/drawingml/2006/main">
            <a:off x="533400" y="2571750"/>
            <a:ext cx="22860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Angular</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Signals + RxJS</a:t>
            </a:r>
          </a:p>
        </p:txBody>
      </p:sp>
      <p:sp>
        <p:nvSpPr>
          <p:cNvPr id="7" name="shape-72">
            <a:extLst xmlns:a="http://schemas.openxmlformats.org/drawingml/2006/main">
              <a:ext uri="{FF2B5EF4-FFF2-40B4-BE49-F238E27FC236}">
                <a16:creationId xmlns:a16="http://schemas.microsoft.com/office/drawing/2014/main" id="{A55C91F3-306D-4565-88BA-275D6166AD1F}"/>
              </a:ext>
            </a:extLst>
          </p:cNvPr>
          <p:cNvSpPr>
            <a:spLocks xmlns:a="http://schemas.openxmlformats.org/drawingml/2006/main" noGrp="1"/>
          </p:cNvSpPr>
          <p:nvPr/>
        </p:nvSpPr>
        <p:spPr>
          <a:xfrm xmlns:a="http://schemas.openxmlformats.org/drawingml/2006/main">
            <a:off x="3152775" y="257175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Spring Boot</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Security + JPA</a:t>
            </a:r>
          </a:p>
        </p:txBody>
      </p:sp>
      <p:sp>
        <p:nvSpPr>
          <p:cNvPr id="8" name="shape-73">
            <a:extLst xmlns:a="http://schemas.openxmlformats.org/drawingml/2006/main">
              <a:ext uri="{FF2B5EF4-FFF2-40B4-BE49-F238E27FC236}">
                <a16:creationId xmlns:a16="http://schemas.microsoft.com/office/drawing/2014/main" id="{3C0DE863-C733-44EA-8061-9DD52462ADE9}"/>
              </a:ext>
            </a:extLst>
          </p:cNvPr>
          <p:cNvSpPr>
            <a:spLocks xmlns:a="http://schemas.openxmlformats.org/drawingml/2006/main" noGrp="1"/>
          </p:cNvSpPr>
          <p:nvPr/>
        </p:nvSpPr>
        <p:spPr>
          <a:xfrm xmlns:a="http://schemas.openxmlformats.org/drawingml/2006/main">
            <a:off x="5772150" y="257175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MySQL</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Owned schemas</a:t>
            </a:r>
          </a:p>
        </p:txBody>
      </p:sp>
      <p:sp>
        <p:nvSpPr>
          <p:cNvPr id="11" name="shape-74">
            <a:extLst xmlns:a="http://schemas.openxmlformats.org/drawingml/2006/main">
              <a:ext uri="{FF2B5EF4-FFF2-40B4-BE49-F238E27FC236}">
                <a16:creationId xmlns:a16="http://schemas.microsoft.com/office/drawing/2014/main" id="{78E1D24E-7A25-44D8-B0EA-D0D88B3E0D9E}"/>
              </a:ext>
            </a:extLst>
          </p:cNvPr>
          <p:cNvSpPr>
            <a:spLocks xmlns:a="http://schemas.openxmlformats.org/drawingml/2006/main" noGrp="1"/>
          </p:cNvSpPr>
          <p:nvPr/>
        </p:nvSpPr>
        <p:spPr>
          <a:xfrm xmlns:a="http://schemas.openxmlformats.org/drawingml/2006/main">
            <a:off x="533400" y="4371975"/>
            <a:ext cx="3600450" cy="7429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OpenFeign: request / response</a:t>
            </a:r>
          </a:p>
        </p:txBody>
      </p:sp>
      <p:sp>
        <p:nvSpPr>
          <p:cNvPr id="12" name="shape-75">
            <a:extLst xmlns:a="http://schemas.openxmlformats.org/drawingml/2006/main">
              <a:ext uri="{FF2B5EF4-FFF2-40B4-BE49-F238E27FC236}">
                <a16:creationId xmlns:a16="http://schemas.microsoft.com/office/drawing/2014/main" id="{8681EEEE-04AA-46E5-AF48-9A31FEA12762}"/>
              </a:ext>
            </a:extLst>
          </p:cNvPr>
          <p:cNvSpPr>
            <a:spLocks xmlns:a="http://schemas.openxmlformats.org/drawingml/2006/main" noGrp="1"/>
          </p:cNvSpPr>
          <p:nvPr/>
        </p:nvSpPr>
        <p:spPr>
          <a:xfrm xmlns:a="http://schemas.openxmlformats.org/drawingml/2006/main">
            <a:off x="4476750" y="4371975"/>
            <a:ext cx="3600450" cy="7429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RabbitMQ: event delivery</a:t>
            </a:r>
          </a:p>
        </p:txBody>
      </p:sp>
      <p:sp>
        <p:nvSpPr>
          <p:cNvPr id="13" name="shape-76">
            <a:extLst xmlns:a="http://schemas.openxmlformats.org/drawingml/2006/main">
              <a:ext uri="{FF2B5EF4-FFF2-40B4-BE49-F238E27FC236}">
                <a16:creationId xmlns:a16="http://schemas.microsoft.com/office/drawing/2014/main" id="{360DAD2A-7E06-4290-8565-F07DDB934FC6}"/>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Core stack</a:t>
            </a:r>
          </a:p>
        </p:txBody>
      </p:sp>
      <p:sp>
        <p:nvSpPr>
          <p:cNvPr id="14" name="shape-77">
            <a:extLst xmlns:a="http://schemas.openxmlformats.org/drawingml/2006/main">
              <a:ext uri="{FF2B5EF4-FFF2-40B4-BE49-F238E27FC236}">
                <a16:creationId xmlns:a16="http://schemas.microsoft.com/office/drawing/2014/main" id="{AC09D46A-1C4F-493C-AAA0-4F82BC8A8E65}"/>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Java 21, Spring Boot, Spring Cloud and MySQL.</a:t>
            </a:r>
          </a:p>
        </p:txBody>
      </p:sp>
      <p:sp>
        <p:nvSpPr>
          <p:cNvPr id="15" name="shape-78">
            <a:extLst xmlns:a="http://schemas.openxmlformats.org/drawingml/2006/main">
              <a:ext uri="{FF2B5EF4-FFF2-40B4-BE49-F238E27FC236}">
                <a16:creationId xmlns:a16="http://schemas.microsoft.com/office/drawing/2014/main" id="{E490868C-9BAC-4069-A5A9-511CC3702BDB}"/>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Supporting tools</a:t>
            </a:r>
          </a:p>
        </p:txBody>
      </p:sp>
      <p:sp>
        <p:nvSpPr>
          <p:cNvPr id="16" name="shape-79">
            <a:extLst xmlns:a="http://schemas.openxmlformats.org/drawingml/2006/main">
              <a:ext uri="{FF2B5EF4-FFF2-40B4-BE49-F238E27FC236}">
                <a16:creationId xmlns:a16="http://schemas.microsoft.com/office/drawing/2014/main" id="{48A97D06-8557-4FD8-96CC-9C656D6CAC8F}"/>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JUnit, Mockito, Jasmine, Playwright and structured logging.</a:t>
            </a:r>
          </a:p>
        </p:txBody>
      </p:sp>
      <p:sp>
        <p:nvSpPr>
          <p:cNvPr id="17" name="shape-80">
            <a:extLst xmlns:a="http://schemas.openxmlformats.org/drawingml/2006/main">
              <a:ext uri="{FF2B5EF4-FFF2-40B4-BE49-F238E27FC236}">
                <a16:creationId xmlns:a16="http://schemas.microsoft.com/office/drawing/2014/main" id="{339971FD-F56D-435E-A961-2D0262B77091}"/>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81">
            <a:extLst xmlns:a="http://schemas.openxmlformats.org/drawingml/2006/main">
              <a:ext uri="{FF2B5EF4-FFF2-40B4-BE49-F238E27FC236}">
                <a16:creationId xmlns:a16="http://schemas.microsoft.com/office/drawing/2014/main" id="{99B1C632-D139-41ED-920F-941ECC59EF78}"/>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Libraries support the rules; service boundaries and transaction design enforce them.</a:t>
            </a:r>
          </a:p>
        </p:txBody>
      </p:sp>
    </p:spTree>
    <p:extLst>
      <p:ext uri="{BB962C8B-B14F-4D97-AF65-F5344CB8AC3E}">
        <p14:creationId xmlns:p14="http://schemas.microsoft.com/office/powerpoint/2010/main" val="18700081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F37DA0B-444D-4E91-8D92-BD4A22047FF4}"/>
              </a:ext>
            </a:extLst>
          </p:cNvPr>
          <p:cNvCxnSpPr>
            <a:stCxn xmlns:a="http://schemas.openxmlformats.org/drawingml/2006/main" id="12" idx="3"/>
            <a:endCxn xmlns:a="http://schemas.openxmlformats.org/drawingml/2006/main" id="13" idx="1"/>
          </p:cNvCxnSpPr>
          <p:nvPr/>
        </p:nvCxnSpPr>
        <p:spPr>
          <a:xfrm xmlns:a="http://schemas.openxmlformats.org/drawingml/2006/main">
            <a:off x="5438775" y="45720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8620A94A-92B7-4AA1-9695-D096530891F1}"/>
              </a:ext>
            </a:extLst>
          </p:cNvPr>
          <p:cNvCxnSpPr>
            <a:stCxn xmlns:a="http://schemas.openxmlformats.org/drawingml/2006/main" id="11" idx="3"/>
            <a:endCxn xmlns:a="http://schemas.openxmlformats.org/drawingml/2006/main" id="12" idx="1"/>
          </p:cNvCxnSpPr>
          <p:nvPr/>
        </p:nvCxnSpPr>
        <p:spPr>
          <a:xfrm xmlns:a="http://schemas.openxmlformats.org/drawingml/2006/main">
            <a:off x="2819400" y="45720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965153F2-5C90-4549-A06D-3CFDA58D5B31}"/>
              </a:ext>
            </a:extLst>
          </p:cNvPr>
          <p:cNvCxnSpPr>
            <a:stCxn xmlns:a="http://schemas.openxmlformats.org/drawingml/2006/main" id="7" idx="3"/>
            <a:endCxn xmlns:a="http://schemas.openxmlformats.org/drawingml/2006/main" id="8" idx="1"/>
          </p:cNvCxnSpPr>
          <p:nvPr/>
        </p:nvCxnSpPr>
        <p:spPr>
          <a:xfrm xmlns:a="http://schemas.openxmlformats.org/drawingml/2006/main">
            <a:off x="5438775" y="27146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DCC5D0C-D296-436D-9541-06A49BACB9A9}"/>
              </a:ext>
            </a:extLst>
          </p:cNvPr>
          <p:cNvCxnSpPr>
            <a:stCxn xmlns:a="http://schemas.openxmlformats.org/drawingml/2006/main" id="6" idx="3"/>
            <a:endCxn xmlns:a="http://schemas.openxmlformats.org/drawingml/2006/main" id="7" idx="1"/>
          </p:cNvCxnSpPr>
          <p:nvPr/>
        </p:nvCxnSpPr>
        <p:spPr>
          <a:xfrm xmlns:a="http://schemas.openxmlformats.org/drawingml/2006/main">
            <a:off x="2819400" y="27146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2" name="shape-82">
            <a:extLst xmlns:a="http://schemas.openxmlformats.org/drawingml/2006/main">
              <a:ext uri="{FF2B5EF4-FFF2-40B4-BE49-F238E27FC236}">
                <a16:creationId xmlns:a16="http://schemas.microsoft.com/office/drawing/2014/main" id="{A8CEA592-144A-49D1-B926-5400ECE3E8B0}"/>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05 / IDENTITY</a:t>
            </a:r>
          </a:p>
        </p:txBody>
      </p:sp>
      <p:sp>
        <p:nvSpPr>
          <p:cNvPr id="2" name="shape-83">
            <a:extLst xmlns:a="http://schemas.openxmlformats.org/drawingml/2006/main">
              <a:ext uri="{FF2B5EF4-FFF2-40B4-BE49-F238E27FC236}">
                <a16:creationId xmlns:a16="http://schemas.microsoft.com/office/drawing/2014/main" id="{C81D00EA-7D6A-4347-8A5C-9D4C4188A7EE}"/>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verified identity is the start of every protected action</a:t>
            </a:r>
          </a:p>
        </p:txBody>
      </p:sp>
      <p:sp>
        <p:nvSpPr>
          <p:cNvPr id="3" name="shape-84">
            <a:extLst xmlns:a="http://schemas.openxmlformats.org/drawingml/2006/main">
              <a:ext uri="{FF2B5EF4-FFF2-40B4-BE49-F238E27FC236}">
                <a16:creationId xmlns:a16="http://schemas.microsoft.com/office/drawing/2014/main" id="{14C68E52-627C-4F66-8FE1-3F6C58FCE0B5}"/>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separate account verification, login, session checks and role checks.</a:t>
            </a:r>
          </a:p>
        </p:txBody>
      </p:sp>
      <p:sp>
        <p:nvSpPr>
          <p:cNvPr id="4" name="shape-85">
            <a:extLst xmlns:a="http://schemas.openxmlformats.org/drawingml/2006/main">
              <a:ext uri="{FF2B5EF4-FFF2-40B4-BE49-F238E27FC236}">
                <a16:creationId xmlns:a16="http://schemas.microsoft.com/office/drawing/2014/main" id="{1B5C10D2-E02F-4CB4-BCF4-89568888E854}"/>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86">
            <a:extLst xmlns:a="http://schemas.openxmlformats.org/drawingml/2006/main">
              <a:ext uri="{FF2B5EF4-FFF2-40B4-BE49-F238E27FC236}">
                <a16:creationId xmlns:a16="http://schemas.microsoft.com/office/drawing/2014/main" id="{9D3C4A04-6DDD-4A68-9364-7255331E103A}"/>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06 / 28</a:t>
            </a:r>
          </a:p>
        </p:txBody>
      </p:sp>
      <p:sp>
        <p:nvSpPr>
          <p:cNvPr id="6" name="shape-87">
            <a:extLst xmlns:a="http://schemas.openxmlformats.org/drawingml/2006/main">
              <a:ext uri="{FF2B5EF4-FFF2-40B4-BE49-F238E27FC236}">
                <a16:creationId xmlns:a16="http://schemas.microsoft.com/office/drawing/2014/main" id="{EC9011CC-B801-4846-8376-C840A79C3E4A}"/>
              </a:ext>
            </a:extLst>
          </p:cNvPr>
          <p:cNvSpPr>
            <a:spLocks xmlns:a="http://schemas.openxmlformats.org/drawingml/2006/main" noGrp="1"/>
          </p:cNvSpPr>
          <p:nvPr/>
        </p:nvSpPr>
        <p:spPr>
          <a:xfrm xmlns:a="http://schemas.openxmlformats.org/drawingml/2006/main">
            <a:off x="533400" y="2362200"/>
            <a:ext cx="2286000" cy="7048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Register</a:t>
            </a:r>
          </a:p>
        </p:txBody>
      </p:sp>
      <p:sp>
        <p:nvSpPr>
          <p:cNvPr id="7" name="shape-88">
            <a:extLst xmlns:a="http://schemas.openxmlformats.org/drawingml/2006/main">
              <a:ext uri="{FF2B5EF4-FFF2-40B4-BE49-F238E27FC236}">
                <a16:creationId xmlns:a16="http://schemas.microsoft.com/office/drawing/2014/main" id="{9B26E60A-EF46-4FC3-880F-8F3F64448AE4}"/>
              </a:ext>
            </a:extLst>
          </p:cNvPr>
          <p:cNvSpPr>
            <a:spLocks xmlns:a="http://schemas.openxmlformats.org/drawingml/2006/main" noGrp="1"/>
          </p:cNvSpPr>
          <p:nvPr/>
        </p:nvSpPr>
        <p:spPr>
          <a:xfrm xmlns:a="http://schemas.openxmlformats.org/drawingml/2006/main">
            <a:off x="3152775" y="2362200"/>
            <a:ext cx="2286000" cy="7048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Verify OTP</a:t>
            </a:r>
          </a:p>
        </p:txBody>
      </p:sp>
      <p:sp>
        <p:nvSpPr>
          <p:cNvPr id="8" name="shape-89">
            <a:extLst xmlns:a="http://schemas.openxmlformats.org/drawingml/2006/main">
              <a:ext uri="{FF2B5EF4-FFF2-40B4-BE49-F238E27FC236}">
                <a16:creationId xmlns:a16="http://schemas.microsoft.com/office/drawing/2014/main" id="{37DF2D6C-E6B0-47C2-B4C2-A99BA8BEC71F}"/>
              </a:ext>
            </a:extLst>
          </p:cNvPr>
          <p:cNvSpPr>
            <a:spLocks xmlns:a="http://schemas.openxmlformats.org/drawingml/2006/main" noGrp="1"/>
          </p:cNvSpPr>
          <p:nvPr/>
        </p:nvSpPr>
        <p:spPr>
          <a:xfrm xmlns:a="http://schemas.openxmlformats.org/drawingml/2006/main">
            <a:off x="5772150" y="2362200"/>
            <a:ext cx="2286000" cy="7048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Log in</a:t>
            </a:r>
          </a:p>
        </p:txBody>
      </p:sp>
      <p:sp>
        <p:nvSpPr>
          <p:cNvPr id="11" name="shape-90">
            <a:extLst xmlns:a="http://schemas.openxmlformats.org/drawingml/2006/main">
              <a:ext uri="{FF2B5EF4-FFF2-40B4-BE49-F238E27FC236}">
                <a16:creationId xmlns:a16="http://schemas.microsoft.com/office/drawing/2014/main" id="{D42ED873-2811-4DA2-A428-AED7C72DC274}"/>
              </a:ext>
            </a:extLst>
          </p:cNvPr>
          <p:cNvSpPr>
            <a:spLocks xmlns:a="http://schemas.openxmlformats.org/drawingml/2006/main" noGrp="1"/>
          </p:cNvSpPr>
          <p:nvPr/>
        </p:nvSpPr>
        <p:spPr>
          <a:xfrm xmlns:a="http://schemas.openxmlformats.org/drawingml/2006/main">
            <a:off x="533400" y="4181475"/>
            <a:ext cx="2286000" cy="7810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JWT + session</a:t>
            </a:r>
          </a:p>
        </p:txBody>
      </p:sp>
      <p:sp>
        <p:nvSpPr>
          <p:cNvPr id="12" name="shape-91">
            <a:extLst xmlns:a="http://schemas.openxmlformats.org/drawingml/2006/main">
              <a:ext uri="{FF2B5EF4-FFF2-40B4-BE49-F238E27FC236}">
                <a16:creationId xmlns:a16="http://schemas.microsoft.com/office/drawing/2014/main" id="{B7C0E1F9-119A-439A-8613-322ED9DF8D38}"/>
              </a:ext>
            </a:extLst>
          </p:cNvPr>
          <p:cNvSpPr>
            <a:spLocks xmlns:a="http://schemas.openxmlformats.org/drawingml/2006/main" noGrp="1"/>
          </p:cNvSpPr>
          <p:nvPr/>
        </p:nvSpPr>
        <p:spPr>
          <a:xfrm xmlns:a="http://schemas.openxmlformats.org/drawingml/2006/main">
            <a:off x="3152775" y="4181475"/>
            <a:ext cx="2286000" cy="7810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Role / owner check</a:t>
            </a:r>
          </a:p>
        </p:txBody>
      </p:sp>
      <p:sp>
        <p:nvSpPr>
          <p:cNvPr id="13" name="shape-92">
            <a:extLst xmlns:a="http://schemas.openxmlformats.org/drawingml/2006/main">
              <a:ext uri="{FF2B5EF4-FFF2-40B4-BE49-F238E27FC236}">
                <a16:creationId xmlns:a16="http://schemas.microsoft.com/office/drawing/2014/main" id="{CD352DE0-6880-4F40-AC77-43B821A519E1}"/>
              </a:ext>
            </a:extLst>
          </p:cNvPr>
          <p:cNvSpPr>
            <a:spLocks xmlns:a="http://schemas.openxmlformats.org/drawingml/2006/main" noGrp="1"/>
          </p:cNvSpPr>
          <p:nvPr/>
        </p:nvSpPr>
        <p:spPr>
          <a:xfrm xmlns:a="http://schemas.openxmlformats.org/drawingml/2006/main">
            <a:off x="5772150" y="4181475"/>
            <a:ext cx="2286000" cy="7810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Protected action</a:t>
            </a:r>
          </a:p>
        </p:txBody>
      </p:sp>
      <p:sp>
        <p:nvSpPr>
          <p:cNvPr id="16" name="shape-93">
            <a:extLst xmlns:a="http://schemas.openxmlformats.org/drawingml/2006/main">
              <a:ext uri="{FF2B5EF4-FFF2-40B4-BE49-F238E27FC236}">
                <a16:creationId xmlns:a16="http://schemas.microsoft.com/office/drawing/2014/main" id="{2E5352C6-0FD7-4F12-BB85-E6BEB5D2B030}"/>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Account access</a:t>
            </a:r>
          </a:p>
        </p:txBody>
      </p:sp>
      <p:sp>
        <p:nvSpPr>
          <p:cNvPr id="17" name="shape-94">
            <a:extLst xmlns:a="http://schemas.openxmlformats.org/drawingml/2006/main">
              <a:ext uri="{FF2B5EF4-FFF2-40B4-BE49-F238E27FC236}">
                <a16:creationId xmlns:a16="http://schemas.microsoft.com/office/drawing/2014/main" id="{639DDBCF-B27B-4E02-9A13-C74D89498E09}"/>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Credentials or Google sign-in; password recovery and session logout.</a:t>
            </a:r>
          </a:p>
        </p:txBody>
      </p:sp>
      <p:sp>
        <p:nvSpPr>
          <p:cNvPr id="18" name="shape-95">
            <a:extLst xmlns:a="http://schemas.openxmlformats.org/drawingml/2006/main">
              <a:ext uri="{FF2B5EF4-FFF2-40B4-BE49-F238E27FC236}">
                <a16:creationId xmlns:a16="http://schemas.microsoft.com/office/drawing/2014/main" id="{923AF1B2-7A4F-4D9F-A6C9-C6B50E3CF66D}"/>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Admin access</a:t>
            </a:r>
          </a:p>
        </p:txBody>
      </p:sp>
      <p:sp>
        <p:nvSpPr>
          <p:cNvPr id="19" name="shape-96">
            <a:extLst xmlns:a="http://schemas.openxmlformats.org/drawingml/2006/main">
              <a:ext uri="{FF2B5EF4-FFF2-40B4-BE49-F238E27FC236}">
                <a16:creationId xmlns:a16="http://schemas.microsoft.com/office/drawing/2014/main" id="{160904F1-73CC-4C32-BC52-CDC4007173AC}"/>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Explicit first-admin setup and controlled invitations.</a:t>
            </a:r>
          </a:p>
        </p:txBody>
      </p:sp>
      <p:sp>
        <p:nvSpPr>
          <p:cNvPr id="20" name="shape-97">
            <a:extLst xmlns:a="http://schemas.openxmlformats.org/drawingml/2006/main">
              <a:ext uri="{FF2B5EF4-FFF2-40B4-BE49-F238E27FC236}">
                <a16:creationId xmlns:a16="http://schemas.microsoft.com/office/drawing/2014/main" id="{75FC600F-DEF3-4A88-8492-1C4043599D55}"/>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1" name="shape-98">
            <a:extLst xmlns:a="http://schemas.openxmlformats.org/drawingml/2006/main">
              <a:ext uri="{FF2B5EF4-FFF2-40B4-BE49-F238E27FC236}">
                <a16:creationId xmlns:a16="http://schemas.microsoft.com/office/drawing/2014/main" id="{0B055353-4DBF-470D-8FF6-CA620D3A1EEB}"/>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Frontend route guards improve navigation; backend authorization protects the data.</a:t>
            </a:r>
          </a:p>
        </p:txBody>
      </p:sp>
    </p:spTree>
    <p:extLst>
      <p:ext uri="{BB962C8B-B14F-4D97-AF65-F5344CB8AC3E}">
        <p14:creationId xmlns:p14="http://schemas.microsoft.com/office/powerpoint/2010/main" val="20486980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024973C-C4A0-499F-9455-75460017FCFA}"/>
              </a:ext>
            </a:extLst>
          </p:cNvPr>
          <p:cNvCxnSpPr>
            <a:stCxn xmlns:a="http://schemas.openxmlformats.org/drawingml/2006/main" id="7" idx="3"/>
            <a:endCxn xmlns:a="http://schemas.openxmlformats.org/drawingml/2006/main" id="8" idx="1"/>
          </p:cNvCxnSpPr>
          <p:nvPr/>
        </p:nvCxnSpPr>
        <p:spPr>
          <a:xfrm xmlns:a="http://schemas.openxmlformats.org/drawingml/2006/main">
            <a:off x="5438775" y="28765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837F0A3-16F1-4020-B660-400292FCBE6E}"/>
              </a:ext>
            </a:extLst>
          </p:cNvPr>
          <p:cNvCxnSpPr>
            <a:stCxn xmlns:a="http://schemas.openxmlformats.org/drawingml/2006/main" id="6" idx="3"/>
            <a:endCxn xmlns:a="http://schemas.openxmlformats.org/drawingml/2006/main" id="7" idx="1"/>
          </p:cNvCxnSpPr>
          <p:nvPr/>
        </p:nvCxnSpPr>
        <p:spPr>
          <a:xfrm xmlns:a="http://schemas.openxmlformats.org/drawingml/2006/main">
            <a:off x="2819400" y="28765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99">
            <a:extLst xmlns:a="http://schemas.openxmlformats.org/drawingml/2006/main">
              <a:ext uri="{FF2B5EF4-FFF2-40B4-BE49-F238E27FC236}">
                <a16:creationId xmlns:a16="http://schemas.microsoft.com/office/drawing/2014/main" id="{6B6797DC-81F9-49E2-AA7A-A72BD4206277}"/>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06 / CATALOGUE AND FARES</a:t>
            </a:r>
          </a:p>
        </p:txBody>
      </p:sp>
      <p:sp>
        <p:nvSpPr>
          <p:cNvPr id="2" name="shape-100">
            <a:extLst xmlns:a="http://schemas.openxmlformats.org/drawingml/2006/main">
              <a:ext uri="{FF2B5EF4-FFF2-40B4-BE49-F238E27FC236}">
                <a16:creationId xmlns:a16="http://schemas.microsoft.com/office/drawing/2014/main" id="{422F1F1B-7893-4FD7-AA8C-53DA2ADDC49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Timetable distance is what makes the fare meaningful</a:t>
            </a:r>
          </a:p>
        </p:txBody>
      </p:sp>
      <p:sp>
        <p:nvSpPr>
          <p:cNvPr id="3" name="shape-101">
            <a:extLst xmlns:a="http://schemas.openxmlformats.org/drawingml/2006/main">
              <a:ext uri="{FF2B5EF4-FFF2-40B4-BE49-F238E27FC236}">
                <a16:creationId xmlns:a16="http://schemas.microsoft.com/office/drawing/2014/main" id="{2DD4AFFF-A8F8-4802-B02D-CE4815DE3DE5}"/>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Station coordinates support discovery; cumulative route distance supports pricing.</a:t>
            </a:r>
          </a:p>
        </p:txBody>
      </p:sp>
      <p:sp>
        <p:nvSpPr>
          <p:cNvPr id="4" name="shape-102">
            <a:extLst xmlns:a="http://schemas.openxmlformats.org/drawingml/2006/main">
              <a:ext uri="{FF2B5EF4-FFF2-40B4-BE49-F238E27FC236}">
                <a16:creationId xmlns:a16="http://schemas.microsoft.com/office/drawing/2014/main" id="{AEC5BA8D-876F-47C5-AD23-B4873EC97996}"/>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03">
            <a:extLst xmlns:a="http://schemas.openxmlformats.org/drawingml/2006/main">
              <a:ext uri="{FF2B5EF4-FFF2-40B4-BE49-F238E27FC236}">
                <a16:creationId xmlns:a16="http://schemas.microsoft.com/office/drawing/2014/main" id="{F527E10A-8DC8-45D6-AF50-24EBC016B777}"/>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07 / 28</a:t>
            </a:r>
          </a:p>
        </p:txBody>
      </p:sp>
      <p:sp>
        <p:nvSpPr>
          <p:cNvPr id="6" name="shape-104">
            <a:extLst xmlns:a="http://schemas.openxmlformats.org/drawingml/2006/main">
              <a:ext uri="{FF2B5EF4-FFF2-40B4-BE49-F238E27FC236}">
                <a16:creationId xmlns:a16="http://schemas.microsoft.com/office/drawing/2014/main" id="{301021F8-83D0-4041-970E-86713CB3686D}"/>
              </a:ext>
            </a:extLst>
          </p:cNvPr>
          <p:cNvSpPr>
            <a:spLocks xmlns:a="http://schemas.openxmlformats.org/drawingml/2006/main" noGrp="1"/>
          </p:cNvSpPr>
          <p:nvPr/>
        </p:nvSpPr>
        <p:spPr>
          <a:xfrm xmlns:a="http://schemas.openxmlformats.org/drawingml/2006/main">
            <a:off x="533400" y="2447925"/>
            <a:ext cx="22860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Station A</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 km</a:t>
            </a:r>
          </a:p>
        </p:txBody>
      </p:sp>
      <p:sp>
        <p:nvSpPr>
          <p:cNvPr id="7" name="shape-105">
            <a:extLst xmlns:a="http://schemas.openxmlformats.org/drawingml/2006/main">
              <a:ext uri="{FF2B5EF4-FFF2-40B4-BE49-F238E27FC236}">
                <a16:creationId xmlns:a16="http://schemas.microsoft.com/office/drawing/2014/main" id="{B0CAFAAB-23E7-4697-BA9A-ED0F09FE14FB}"/>
              </a:ext>
            </a:extLst>
          </p:cNvPr>
          <p:cNvSpPr>
            <a:spLocks xmlns:a="http://schemas.openxmlformats.org/drawingml/2006/main" noGrp="1"/>
          </p:cNvSpPr>
          <p:nvPr/>
        </p:nvSpPr>
        <p:spPr>
          <a:xfrm xmlns:a="http://schemas.openxmlformats.org/drawingml/2006/main">
            <a:off x="3152775" y="2447925"/>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Station B</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200 km</a:t>
            </a:r>
          </a:p>
        </p:txBody>
      </p:sp>
      <p:sp>
        <p:nvSpPr>
          <p:cNvPr id="8" name="shape-106">
            <a:extLst xmlns:a="http://schemas.openxmlformats.org/drawingml/2006/main">
              <a:ext uri="{FF2B5EF4-FFF2-40B4-BE49-F238E27FC236}">
                <a16:creationId xmlns:a16="http://schemas.microsoft.com/office/drawing/2014/main" id="{166C30C1-E5F2-4032-824D-46E749969FE5}"/>
              </a:ext>
            </a:extLst>
          </p:cNvPr>
          <p:cNvSpPr>
            <a:spLocks xmlns:a="http://schemas.openxmlformats.org/drawingml/2006/main" noGrp="1"/>
          </p:cNvSpPr>
          <p:nvPr/>
        </p:nvSpPr>
        <p:spPr>
          <a:xfrm xmlns:a="http://schemas.openxmlformats.org/drawingml/2006/main">
            <a:off x="5772150" y="2447925"/>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Station C</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750 km</a:t>
            </a:r>
          </a:p>
        </p:txBody>
      </p:sp>
      <p:sp>
        <p:nvSpPr>
          <p:cNvPr id="11" name="shape-107">
            <a:extLst xmlns:a="http://schemas.openxmlformats.org/drawingml/2006/main">
              <a:ext uri="{FF2B5EF4-FFF2-40B4-BE49-F238E27FC236}">
                <a16:creationId xmlns:a16="http://schemas.microsoft.com/office/drawing/2014/main" id="{ECA8C879-7CDC-45B5-BC2C-03924EBF4606}"/>
              </a:ext>
            </a:extLst>
          </p:cNvPr>
          <p:cNvSpPr>
            <a:spLocks xmlns:a="http://schemas.openxmlformats.org/drawingml/2006/main" noGrp="1"/>
          </p:cNvSpPr>
          <p:nvPr/>
        </p:nvSpPr>
        <p:spPr>
          <a:xfrm xmlns:a="http://schemas.openxmlformats.org/drawingml/2006/main">
            <a:off x="533400" y="3714750"/>
            <a:ext cx="771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459E0"/>
                </a:solidFill>
                <a:latin typeface="Arial"/>
                <a:ea typeface="Arial"/>
                <a:cs typeface="Arial"/>
              </a:defRPr>
            </a:defPPr>
          </a:lstStyle>
          <a:p xmlns:a="http://schemas.openxmlformats.org/drawingml/2006/main">
            <a:pPr algn="l">
              <a:defRPr sz="2325" b="1">
                <a:solidFill>
                  <a:srgbClr val="2459E0"/>
                </a:solidFill>
                <a:latin typeface="Arial"/>
                <a:ea typeface="Arial"/>
                <a:cs typeface="Arial"/>
              </a:defRPr>
            </a:pPr>
            <a:r>
              <a:rPr sz="2325" b="1">
                <a:solidFill>
                  <a:srgbClr val="2459E0"/>
                </a:solidFill>
                <a:latin typeface="Arial"/>
                <a:ea typeface="Arial"/>
                <a:cs typeface="Arial"/>
              </a:rPr>
              <a:t>A → C distance = 750 − 0 = 750 km</a:t>
            </a:r>
          </a:p>
        </p:txBody>
      </p:sp>
      <p:sp>
        <p:nvSpPr>
          <p:cNvPr id="12" name="shape-108">
            <a:extLst xmlns:a="http://schemas.openxmlformats.org/drawingml/2006/main">
              <a:ext uri="{FF2B5EF4-FFF2-40B4-BE49-F238E27FC236}">
                <a16:creationId xmlns:a16="http://schemas.microsoft.com/office/drawing/2014/main" id="{AFDB763B-61DD-4CE7-9EAA-3B87503AB27F}"/>
              </a:ext>
            </a:extLst>
          </p:cNvPr>
          <p:cNvSpPr>
            <a:spLocks xmlns:a="http://schemas.openxmlformats.org/drawingml/2006/main" noGrp="1"/>
          </p:cNvSpPr>
          <p:nvPr/>
        </p:nvSpPr>
        <p:spPr>
          <a:xfrm xmlns:a="http://schemas.openxmlformats.org/drawingml/2006/main">
            <a:off x="533400" y="4352925"/>
            <a:ext cx="752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52442"/>
                </a:solidFill>
                <a:latin typeface="Arial"/>
                <a:ea typeface="Arial"/>
                <a:cs typeface="Arial"/>
              </a:defRPr>
            </a:defPPr>
          </a:lstStyle>
          <a:p xmlns:a="http://schemas.openxmlformats.org/drawingml/2006/main">
            <a:pPr algn="l">
              <a:defRPr sz="2100" b="0">
                <a:solidFill>
                  <a:srgbClr val="152442"/>
                </a:solidFill>
                <a:latin typeface="Arial"/>
                <a:ea typeface="Arial"/>
                <a:cs typeface="Arial"/>
              </a:defRPr>
            </a:pPr>
            <a:r>
              <a:rPr sz="2100" b="0">
                <a:solidFill>
                  <a:srgbClr val="152442"/>
                </a:solidFill>
                <a:latin typeface="Arial"/>
                <a:ea typeface="Arial"/>
                <a:cs typeface="Arial"/>
              </a:rPr>
              <a:t>Example: max(100, 50 + 1.20 × 750)</a:t>
            </a:r>
          </a:p>
          <a:p xmlns:a="http://schemas.openxmlformats.org/drawingml/2006/main">
            <a:pPr algn="l">
              <a:defRPr sz="2100" b="0">
                <a:solidFill>
                  <a:srgbClr val="152442"/>
                </a:solidFill>
                <a:latin typeface="Arial"/>
                <a:ea typeface="Arial"/>
                <a:cs typeface="Arial"/>
              </a:defRPr>
            </a:pPr>
            <a:r>
              <a:rPr sz="2100" b="0">
                <a:solidFill>
                  <a:srgbClr val="152442"/>
                </a:solidFill>
                <a:latin typeface="Arial"/>
                <a:ea typeface="Arial"/>
                <a:cs typeface="Arial"/>
              </a:rPr>
              <a:t>= ₹950 per passenger; 2 passengers = ₹1,900</a:t>
            </a:r>
          </a:p>
        </p:txBody>
      </p:sp>
      <p:sp>
        <p:nvSpPr>
          <p:cNvPr id="13" name="shape-109">
            <a:extLst xmlns:a="http://schemas.openxmlformats.org/drawingml/2006/main">
              <a:ext uri="{FF2B5EF4-FFF2-40B4-BE49-F238E27FC236}">
                <a16:creationId xmlns:a16="http://schemas.microsoft.com/office/drawing/2014/main" id="{2B50FBFF-BFC9-45F7-A598-637C5669187C}"/>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Route integrity</a:t>
            </a:r>
          </a:p>
        </p:txBody>
      </p:sp>
      <p:sp>
        <p:nvSpPr>
          <p:cNvPr id="14" name="shape-110">
            <a:extLst xmlns:a="http://schemas.openxmlformats.org/drawingml/2006/main">
              <a:ext uri="{FF2B5EF4-FFF2-40B4-BE49-F238E27FC236}">
                <a16:creationId xmlns:a16="http://schemas.microsoft.com/office/drawing/2014/main" id="{BEA4A10D-CC97-4365-A197-05684F6067EC}"/>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Ordered stops, increasing kilometres and valid overnight timing.</a:t>
            </a:r>
          </a:p>
        </p:txBody>
      </p:sp>
      <p:sp>
        <p:nvSpPr>
          <p:cNvPr id="15" name="shape-111">
            <a:extLst xmlns:a="http://schemas.openxmlformats.org/drawingml/2006/main">
              <a:ext uri="{FF2B5EF4-FFF2-40B4-BE49-F238E27FC236}">
                <a16:creationId xmlns:a16="http://schemas.microsoft.com/office/drawing/2014/main" id="{A0663CD4-93D9-4548-868C-E016E595DDE1}"/>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Fare authority</a:t>
            </a:r>
          </a:p>
        </p:txBody>
      </p:sp>
      <p:sp>
        <p:nvSpPr>
          <p:cNvPr id="16" name="shape-112">
            <a:extLst xmlns:a="http://schemas.openxmlformats.org/drawingml/2006/main">
              <a:ext uri="{FF2B5EF4-FFF2-40B4-BE49-F238E27FC236}">
                <a16:creationId xmlns:a16="http://schemas.microsoft.com/office/drawing/2014/main" id="{C884BC1E-76B0-4716-B413-D444C7992564}"/>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The backend calculates and snapshots the accepted quote.</a:t>
            </a:r>
          </a:p>
        </p:txBody>
      </p:sp>
      <p:sp>
        <p:nvSpPr>
          <p:cNvPr id="17" name="shape-113">
            <a:extLst xmlns:a="http://schemas.openxmlformats.org/drawingml/2006/main">
              <a:ext uri="{FF2B5EF4-FFF2-40B4-BE49-F238E27FC236}">
                <a16:creationId xmlns:a16="http://schemas.microsoft.com/office/drawing/2014/main" id="{EAB69C1F-1CEF-4FFA-81C9-7BA14EA1242E}"/>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114">
            <a:extLst xmlns:a="http://schemas.openxmlformats.org/drawingml/2006/main">
              <a:ext uri="{FF2B5EF4-FFF2-40B4-BE49-F238E27FC236}">
                <a16:creationId xmlns:a16="http://schemas.microsoft.com/office/drawing/2014/main" id="{BF5E8785-BDA0-405D-BF0B-4F3BD7F7A8BA}"/>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Latitude/longitude is never used as a substitute for the train’s travelled distance.</a:t>
            </a:r>
          </a:p>
        </p:txBody>
      </p:sp>
    </p:spTree>
    <p:extLst>
      <p:ext uri="{BB962C8B-B14F-4D97-AF65-F5344CB8AC3E}">
        <p14:creationId xmlns:p14="http://schemas.microsoft.com/office/powerpoint/2010/main" val="706783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4AE19F7-6B2B-487A-8103-07E84BC78024}"/>
              </a:ext>
            </a:extLst>
          </p:cNvPr>
          <p:cNvCxnSpPr>
            <a:stCxn xmlns:a="http://schemas.openxmlformats.org/drawingml/2006/main" id="8" idx="2"/>
            <a:endCxn xmlns:a="http://schemas.openxmlformats.org/drawingml/2006/main" id="11" idx="0"/>
          </p:cNvCxnSpPr>
          <p:nvPr/>
        </p:nvCxnSpPr>
        <p:spPr>
          <a:xfrm xmlns:a="http://schemas.openxmlformats.org/drawingml/2006/main" flipH="1">
            <a:off x="4310063" y="3267075"/>
            <a:ext cx="2605088" cy="96202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F01C106-7A62-44D9-9A62-29F2117E8C0D}"/>
              </a:ext>
            </a:extLst>
          </p:cNvPr>
          <p:cNvCxnSpPr>
            <a:stCxn xmlns:a="http://schemas.openxmlformats.org/drawingml/2006/main" id="7" idx="3"/>
            <a:endCxn xmlns:a="http://schemas.openxmlformats.org/drawingml/2006/main" id="8" idx="1"/>
          </p:cNvCxnSpPr>
          <p:nvPr/>
        </p:nvCxnSpPr>
        <p:spPr>
          <a:xfrm xmlns:a="http://schemas.openxmlformats.org/drawingml/2006/main">
            <a:off x="5438775" y="28384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EB33C04-E253-48F6-B524-7E30773759E8}"/>
              </a:ext>
            </a:extLst>
          </p:cNvPr>
          <p:cNvCxnSpPr>
            <a:stCxn xmlns:a="http://schemas.openxmlformats.org/drawingml/2006/main" id="6" idx="3"/>
            <a:endCxn xmlns:a="http://schemas.openxmlformats.org/drawingml/2006/main" id="7" idx="1"/>
          </p:cNvCxnSpPr>
          <p:nvPr/>
        </p:nvCxnSpPr>
        <p:spPr>
          <a:xfrm xmlns:a="http://schemas.openxmlformats.org/drawingml/2006/main">
            <a:off x="2819400" y="28384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115">
            <a:extLst xmlns:a="http://schemas.openxmlformats.org/drawingml/2006/main">
              <a:ext uri="{FF2B5EF4-FFF2-40B4-BE49-F238E27FC236}">
                <a16:creationId xmlns:a16="http://schemas.microsoft.com/office/drawing/2014/main" id="{B593AAF4-F6C2-4FAC-A65F-876524F34B8B}"/>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07 / SEARCH EXPERIENCE</a:t>
            </a:r>
          </a:p>
        </p:txBody>
      </p:sp>
      <p:sp>
        <p:nvSpPr>
          <p:cNvPr id="2" name="shape-116">
            <a:extLst xmlns:a="http://schemas.openxmlformats.org/drawingml/2006/main">
              <a:ext uri="{FF2B5EF4-FFF2-40B4-BE49-F238E27FC236}">
                <a16:creationId xmlns:a16="http://schemas.microsoft.com/office/drawing/2014/main" id="{0699F05D-C8FD-4139-9EC4-F9D6BEF8FCD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Search first; choose passengers when booking</a:t>
            </a:r>
          </a:p>
        </p:txBody>
      </p:sp>
      <p:sp>
        <p:nvSpPr>
          <p:cNvPr id="3" name="shape-117">
            <a:extLst xmlns:a="http://schemas.openxmlformats.org/drawingml/2006/main">
              <a:ext uri="{FF2B5EF4-FFF2-40B4-BE49-F238E27FC236}">
                <a16:creationId xmlns:a16="http://schemas.microsoft.com/office/drawing/2014/main" id="{D3B1B092-F310-4046-A7E2-9BA9410273B4}"/>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Results expose classes, availability and per-person prices together.</a:t>
            </a:r>
          </a:p>
        </p:txBody>
      </p:sp>
      <p:sp>
        <p:nvSpPr>
          <p:cNvPr id="4" name="shape-118">
            <a:extLst xmlns:a="http://schemas.openxmlformats.org/drawingml/2006/main">
              <a:ext uri="{FF2B5EF4-FFF2-40B4-BE49-F238E27FC236}">
                <a16:creationId xmlns:a16="http://schemas.microsoft.com/office/drawing/2014/main" id="{444A1205-D418-4287-BB0E-9000626B1011}"/>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19">
            <a:extLst xmlns:a="http://schemas.openxmlformats.org/drawingml/2006/main">
              <a:ext uri="{FF2B5EF4-FFF2-40B4-BE49-F238E27FC236}">
                <a16:creationId xmlns:a16="http://schemas.microsoft.com/office/drawing/2014/main" id="{CDBCC5DB-28AB-43A1-B481-B34F11CC602D}"/>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08 / 28</a:t>
            </a:r>
          </a:p>
        </p:txBody>
      </p:sp>
      <p:sp>
        <p:nvSpPr>
          <p:cNvPr id="6" name="shape-120">
            <a:extLst xmlns:a="http://schemas.openxmlformats.org/drawingml/2006/main">
              <a:ext uri="{FF2B5EF4-FFF2-40B4-BE49-F238E27FC236}">
                <a16:creationId xmlns:a16="http://schemas.microsoft.com/office/drawing/2014/main" id="{88307182-FA53-4174-B573-B3C53A0B9492}"/>
              </a:ext>
            </a:extLst>
          </p:cNvPr>
          <p:cNvSpPr>
            <a:spLocks xmlns:a="http://schemas.openxmlformats.org/drawingml/2006/main" noGrp="1"/>
          </p:cNvSpPr>
          <p:nvPr/>
        </p:nvSpPr>
        <p:spPr>
          <a:xfrm xmlns:a="http://schemas.openxmlformats.org/drawingml/2006/main">
            <a:off x="533400" y="2409825"/>
            <a:ext cx="22860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Stations + date</a:t>
            </a:r>
          </a:p>
        </p:txBody>
      </p:sp>
      <p:sp>
        <p:nvSpPr>
          <p:cNvPr id="7" name="shape-121">
            <a:extLst xmlns:a="http://schemas.openxmlformats.org/drawingml/2006/main">
              <a:ext uri="{FF2B5EF4-FFF2-40B4-BE49-F238E27FC236}">
                <a16:creationId xmlns:a16="http://schemas.microsoft.com/office/drawing/2014/main" id="{A3BB7FE3-CB9B-4C49-BD0C-81EEA2DC0FB8}"/>
              </a:ext>
            </a:extLst>
          </p:cNvPr>
          <p:cNvSpPr>
            <a:spLocks xmlns:a="http://schemas.openxmlformats.org/drawingml/2006/main" noGrp="1"/>
          </p:cNvSpPr>
          <p:nvPr/>
        </p:nvSpPr>
        <p:spPr>
          <a:xfrm xmlns:a="http://schemas.openxmlformats.org/drawingml/2006/main">
            <a:off x="3152775" y="2409825"/>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Compare classes</a:t>
            </a:r>
          </a:p>
        </p:txBody>
      </p:sp>
      <p:sp>
        <p:nvSpPr>
          <p:cNvPr id="8" name="shape-122">
            <a:extLst xmlns:a="http://schemas.openxmlformats.org/drawingml/2006/main">
              <a:ext uri="{FF2B5EF4-FFF2-40B4-BE49-F238E27FC236}">
                <a16:creationId xmlns:a16="http://schemas.microsoft.com/office/drawing/2014/main" id="{F9751067-EB6E-4C0B-AA28-F333F48C8EBB}"/>
              </a:ext>
            </a:extLst>
          </p:cNvPr>
          <p:cNvSpPr>
            <a:spLocks xmlns:a="http://schemas.openxmlformats.org/drawingml/2006/main" noGrp="1"/>
          </p:cNvSpPr>
          <p:nvPr/>
        </p:nvSpPr>
        <p:spPr>
          <a:xfrm xmlns:a="http://schemas.openxmlformats.org/drawingml/2006/main">
            <a:off x="5772150" y="2409825"/>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Choose a class</a:t>
            </a:r>
          </a:p>
        </p:txBody>
      </p:sp>
      <p:sp>
        <p:nvSpPr>
          <p:cNvPr id="11" name="shape-123">
            <a:extLst xmlns:a="http://schemas.openxmlformats.org/drawingml/2006/main">
              <a:ext uri="{FF2B5EF4-FFF2-40B4-BE49-F238E27FC236}">
                <a16:creationId xmlns:a16="http://schemas.microsoft.com/office/drawing/2014/main" id="{365FF7B3-53B6-4E83-8AEE-3A49BCD22410}"/>
              </a:ext>
            </a:extLst>
          </p:cNvPr>
          <p:cNvSpPr>
            <a:spLocks xmlns:a="http://schemas.openxmlformats.org/drawingml/2006/main" noGrp="1"/>
          </p:cNvSpPr>
          <p:nvPr/>
        </p:nvSpPr>
        <p:spPr>
          <a:xfrm xmlns:a="http://schemas.openxmlformats.org/drawingml/2006/main">
            <a:off x="2571750" y="4229100"/>
            <a:ext cx="3476625" cy="86677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1–6 passengers</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Enter or select saved details</a:t>
            </a:r>
          </a:p>
        </p:txBody>
      </p:sp>
      <p:sp>
        <p:nvSpPr>
          <p:cNvPr id="13" name="shape-124">
            <a:extLst xmlns:a="http://schemas.openxmlformats.org/drawingml/2006/main">
              <a:ext uri="{FF2B5EF4-FFF2-40B4-BE49-F238E27FC236}">
                <a16:creationId xmlns:a16="http://schemas.microsoft.com/office/drawing/2014/main" id="{CDB577FC-4CB2-4C0D-BA25-6300DF679D0B}"/>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Less friction</a:t>
            </a:r>
          </a:p>
        </p:txBody>
      </p:sp>
      <p:sp>
        <p:nvSpPr>
          <p:cNvPr id="14" name="shape-125">
            <a:extLst xmlns:a="http://schemas.openxmlformats.org/drawingml/2006/main">
              <a:ext uri="{FF2B5EF4-FFF2-40B4-BE49-F238E27FC236}">
                <a16:creationId xmlns:a16="http://schemas.microsoft.com/office/drawing/2014/main" id="{E8AEF88B-7C93-4500-A5F6-D29604D142E9}"/>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Search needs only where and when the passenger wants to travel.</a:t>
            </a:r>
          </a:p>
        </p:txBody>
      </p:sp>
      <p:sp>
        <p:nvSpPr>
          <p:cNvPr id="15" name="shape-126">
            <a:extLst xmlns:a="http://schemas.openxmlformats.org/drawingml/2006/main">
              <a:ext uri="{FF2B5EF4-FFF2-40B4-BE49-F238E27FC236}">
                <a16:creationId xmlns:a16="http://schemas.microsoft.com/office/drawing/2014/main" id="{1DCCFB14-0943-4B1F-B745-C231A20413BD}"/>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Fresh review</a:t>
            </a:r>
          </a:p>
        </p:txBody>
      </p:sp>
      <p:sp>
        <p:nvSpPr>
          <p:cNvPr id="16" name="shape-127">
            <a:extLst xmlns:a="http://schemas.openxmlformats.org/drawingml/2006/main">
              <a:ext uri="{FF2B5EF4-FFF2-40B4-BE49-F238E27FC236}">
                <a16:creationId xmlns:a16="http://schemas.microsoft.com/office/drawing/2014/main" id="{622BCFF7-62AE-448B-B8A1-CE6CFC502501}"/>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Passenger count triggers a current fare and availability check.</a:t>
            </a:r>
          </a:p>
        </p:txBody>
      </p:sp>
      <p:sp>
        <p:nvSpPr>
          <p:cNvPr id="17" name="shape-128">
            <a:extLst xmlns:a="http://schemas.openxmlformats.org/drawingml/2006/main">
              <a:ext uri="{FF2B5EF4-FFF2-40B4-BE49-F238E27FC236}">
                <a16:creationId xmlns:a16="http://schemas.microsoft.com/office/drawing/2014/main" id="{9EC37B12-C447-4B30-9BEF-37C14122ED49}"/>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129">
            <a:extLst xmlns:a="http://schemas.openxmlformats.org/drawingml/2006/main">
              <a:ext uri="{FF2B5EF4-FFF2-40B4-BE49-F238E27FC236}">
                <a16:creationId xmlns:a16="http://schemas.microsoft.com/office/drawing/2014/main" id="{A022D04F-9142-4ED8-A37C-8B05C6068A74}"/>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 search result does not reserve seats; the booking hold does.</a:t>
            </a:r>
          </a:p>
        </p:txBody>
      </p:sp>
    </p:spTree>
    <p:extLst>
      <p:ext uri="{BB962C8B-B14F-4D97-AF65-F5344CB8AC3E}">
        <p14:creationId xmlns:p14="http://schemas.microsoft.com/office/powerpoint/2010/main" val="13731047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684454DA-5989-48BC-A3BD-9DDDBA064124}"/>
              </a:ext>
            </a:extLst>
          </p:cNvPr>
          <p:cNvCxnSpPr>
            <a:stCxn xmlns:a="http://schemas.openxmlformats.org/drawingml/2006/main" id="7" idx="2"/>
            <a:endCxn xmlns:a="http://schemas.openxmlformats.org/drawingml/2006/main" id="9" idx="0"/>
          </p:cNvCxnSpPr>
          <p:nvPr/>
        </p:nvCxnSpPr>
        <p:spPr>
          <a:xfrm xmlns:a="http://schemas.openxmlformats.org/drawingml/2006/main">
            <a:off x="6505575" y="3162300"/>
            <a:ext cx="0" cy="1314450"/>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cxnSp>
        <p:nvCxnSpPr>
          <p:cNvPr id="10" name="">
            <a:extLst xmlns:a="http://schemas.openxmlformats.org/drawingml/2006/main">
              <a:ext uri="{FF2B5EF4-FFF2-40B4-BE49-F238E27FC236}">
                <a16:creationId xmlns:a16="http://schemas.microsoft.com/office/drawing/2014/main" id="{93D7F34A-2C27-4CE4-BA94-1A01C16448DD}"/>
              </a:ext>
            </a:extLst>
          </p:cNvPr>
          <p:cNvCxnSpPr>
            <a:stCxn xmlns:a="http://schemas.openxmlformats.org/drawingml/2006/main" id="6" idx="3"/>
            <a:endCxn xmlns:a="http://schemas.openxmlformats.org/drawingml/2006/main" id="9" idx="1"/>
          </p:cNvCxnSpPr>
          <p:nvPr/>
        </p:nvCxnSpPr>
        <p:spPr>
          <a:xfrm xmlns:a="http://schemas.openxmlformats.org/drawingml/2006/main">
            <a:off x="3581400" y="2757488"/>
            <a:ext cx="1400175" cy="2124075"/>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6C43D35E-ED47-4ED8-B25B-2857CC6A9B92}"/>
              </a:ext>
            </a:extLst>
          </p:cNvPr>
          <p:cNvCxnSpPr>
            <a:stCxn xmlns:a="http://schemas.openxmlformats.org/drawingml/2006/main" id="6" idx="3"/>
            <a:endCxn xmlns:a="http://schemas.openxmlformats.org/drawingml/2006/main" id="7" idx="1"/>
          </p:cNvCxnSpPr>
          <p:nvPr/>
        </p:nvCxnSpPr>
        <p:spPr>
          <a:xfrm xmlns:a="http://schemas.openxmlformats.org/drawingml/2006/main">
            <a:off x="3581400" y="2757488"/>
            <a:ext cx="1400175" cy="0"/>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sp>
        <p:nvSpPr>
          <p:cNvPr id="20" name="shape-130">
            <a:extLst xmlns:a="http://schemas.openxmlformats.org/drawingml/2006/main">
              <a:ext uri="{FF2B5EF4-FFF2-40B4-BE49-F238E27FC236}">
                <a16:creationId xmlns:a16="http://schemas.microsoft.com/office/drawing/2014/main" id="{884E31DD-C83F-43AF-9896-2AABB4629B30}"/>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08 / DISTINCTIVE FEATURE</a:t>
            </a:r>
          </a:p>
        </p:txBody>
      </p:sp>
      <p:sp>
        <p:nvSpPr>
          <p:cNvPr id="2" name="shape-131">
            <a:extLst xmlns:a="http://schemas.openxmlformats.org/drawingml/2006/main">
              <a:ext uri="{FF2B5EF4-FFF2-40B4-BE49-F238E27FC236}">
                <a16:creationId xmlns:a16="http://schemas.microsoft.com/office/drawing/2014/main" id="{F7DCB48A-D1C1-45C5-A786-86F67AA76208}"/>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Nearby discovery works at both ends</a:t>
            </a:r>
          </a:p>
        </p:txBody>
      </p:sp>
      <p:sp>
        <p:nvSpPr>
          <p:cNvPr id="3" name="shape-132">
            <a:extLst xmlns:a="http://schemas.openxmlformats.org/drawingml/2006/main">
              <a:ext uri="{FF2B5EF4-FFF2-40B4-BE49-F238E27FC236}">
                <a16:creationId xmlns:a16="http://schemas.microsoft.com/office/drawing/2014/main" id="{55A1A518-F73A-410B-B117-954DC34DBD03}"/>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expand eligible departure and arrival stations, then show the actual journey.</a:t>
            </a:r>
          </a:p>
        </p:txBody>
      </p:sp>
      <p:sp>
        <p:nvSpPr>
          <p:cNvPr id="4" name="shape-133">
            <a:extLst xmlns:a="http://schemas.openxmlformats.org/drawingml/2006/main">
              <a:ext uri="{FF2B5EF4-FFF2-40B4-BE49-F238E27FC236}">
                <a16:creationId xmlns:a16="http://schemas.microsoft.com/office/drawing/2014/main" id="{3319C1D5-56C6-4A5D-A967-DDBC4D79FF8D}"/>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34">
            <a:extLst xmlns:a="http://schemas.openxmlformats.org/drawingml/2006/main">
              <a:ext uri="{FF2B5EF4-FFF2-40B4-BE49-F238E27FC236}">
                <a16:creationId xmlns:a16="http://schemas.microsoft.com/office/drawing/2014/main" id="{448785BB-8BDB-46FB-903E-54FD7853BD9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09 / 28</a:t>
            </a:r>
          </a:p>
        </p:txBody>
      </p:sp>
      <p:sp>
        <p:nvSpPr>
          <p:cNvPr id="6" name="shape-135">
            <a:extLst xmlns:a="http://schemas.openxmlformats.org/drawingml/2006/main">
              <a:ext uri="{FF2B5EF4-FFF2-40B4-BE49-F238E27FC236}">
                <a16:creationId xmlns:a16="http://schemas.microsoft.com/office/drawing/2014/main" id="{22C2A96D-51C3-405D-A933-000AA079E612}"/>
              </a:ext>
            </a:extLst>
          </p:cNvPr>
          <p:cNvSpPr>
            <a:spLocks xmlns:a="http://schemas.openxmlformats.org/drawingml/2006/main" noGrp="1"/>
          </p:cNvSpPr>
          <p:nvPr/>
        </p:nvSpPr>
        <p:spPr>
          <a:xfrm xmlns:a="http://schemas.openxmlformats.org/drawingml/2006/main">
            <a:off x="533400" y="2352675"/>
            <a:ext cx="3048000" cy="80962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Mumbai Central</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MMCT</a:t>
            </a:r>
          </a:p>
        </p:txBody>
      </p:sp>
      <p:sp>
        <p:nvSpPr>
          <p:cNvPr id="7" name="shape-136">
            <a:extLst xmlns:a="http://schemas.openxmlformats.org/drawingml/2006/main">
              <a:ext uri="{FF2B5EF4-FFF2-40B4-BE49-F238E27FC236}">
                <a16:creationId xmlns:a16="http://schemas.microsoft.com/office/drawing/2014/main" id="{4B81B91F-708B-49BF-841D-A153F12A172C}"/>
              </a:ext>
            </a:extLst>
          </p:cNvPr>
          <p:cNvSpPr>
            <a:spLocks xmlns:a="http://schemas.openxmlformats.org/drawingml/2006/main" noGrp="1"/>
          </p:cNvSpPr>
          <p:nvPr/>
        </p:nvSpPr>
        <p:spPr>
          <a:xfrm xmlns:a="http://schemas.openxmlformats.org/drawingml/2006/main">
            <a:off x="4981575" y="2352675"/>
            <a:ext cx="3048000" cy="80962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Old Delhi</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DLI</a:t>
            </a:r>
          </a:p>
        </p:txBody>
      </p:sp>
      <p:sp>
        <p:nvSpPr>
          <p:cNvPr id="9" name="shape-137">
            <a:extLst xmlns:a="http://schemas.openxmlformats.org/drawingml/2006/main">
              <a:ext uri="{FF2B5EF4-FFF2-40B4-BE49-F238E27FC236}">
                <a16:creationId xmlns:a16="http://schemas.microsoft.com/office/drawing/2014/main" id="{1CBED302-9670-4657-8B8B-C9F959F449B9}"/>
              </a:ext>
            </a:extLst>
          </p:cNvPr>
          <p:cNvSpPr>
            <a:spLocks xmlns:a="http://schemas.openxmlformats.org/drawingml/2006/main" noGrp="1"/>
          </p:cNvSpPr>
          <p:nvPr/>
        </p:nvSpPr>
        <p:spPr>
          <a:xfrm xmlns:a="http://schemas.openxmlformats.org/drawingml/2006/main">
            <a:off x="4981575" y="4476750"/>
            <a:ext cx="3048000" cy="80962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New Delhi</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NDLS</a:t>
            </a:r>
          </a:p>
        </p:txBody>
      </p:sp>
      <p:sp>
        <p:nvSpPr>
          <p:cNvPr id="12" name="shape-138">
            <a:extLst xmlns:a="http://schemas.openxmlformats.org/drawingml/2006/main">
              <a:ext uri="{FF2B5EF4-FFF2-40B4-BE49-F238E27FC236}">
                <a16:creationId xmlns:a16="http://schemas.microsoft.com/office/drawing/2014/main" id="{3FD76853-CE7A-4C24-A9D5-CFCCD849A35F}"/>
              </a:ext>
            </a:extLst>
          </p:cNvPr>
          <p:cNvSpPr>
            <a:spLocks xmlns:a="http://schemas.openxmlformats.org/drawingml/2006/main" noGrp="1"/>
          </p:cNvSpPr>
          <p:nvPr/>
        </p:nvSpPr>
        <p:spPr>
          <a:xfrm xmlns:a="http://schemas.openxmlformats.org/drawingml/2006/main">
            <a:off x="6743700" y="3419475"/>
            <a:ext cx="1457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8677F"/>
                </a:solidFill>
                <a:latin typeface="Arial"/>
                <a:ea typeface="Arial"/>
                <a:cs typeface="Arial"/>
              </a:defRPr>
            </a:defPPr>
          </a:lstStyle>
          <a:p xmlns:a="http://schemas.openxmlformats.org/drawingml/2006/main">
            <a:pPr algn="l">
              <a:defRPr sz="1650" b="0">
                <a:solidFill>
                  <a:srgbClr val="58677F"/>
                </a:solidFill>
                <a:latin typeface="Arial"/>
                <a:ea typeface="Arial"/>
                <a:cs typeface="Arial"/>
              </a:defRPr>
            </a:pPr>
            <a:r>
              <a:rPr sz="1650" b="0">
                <a:solidFill>
                  <a:srgbClr val="58677F"/>
                </a:solidFill>
                <a:latin typeface="Arial"/>
                <a:ea typeface="Arial"/>
                <a:cs typeface="Arial"/>
              </a:rPr>
              <a:t>Nearby</a:t>
            </a:r>
          </a:p>
          <a:p xmlns:a="http://schemas.openxmlformats.org/drawingml/2006/main">
            <a:pPr algn="l">
              <a:defRPr sz="1650" b="0">
                <a:solidFill>
                  <a:srgbClr val="58677F"/>
                </a:solidFill>
                <a:latin typeface="Arial"/>
                <a:ea typeface="Arial"/>
                <a:cs typeface="Arial"/>
              </a:defRPr>
            </a:pPr>
            <a:r>
              <a:rPr sz="1650" b="0">
                <a:solidFill>
                  <a:srgbClr val="58677F"/>
                </a:solidFill>
                <a:latin typeface="Arial"/>
                <a:ea typeface="Arial"/>
                <a:cs typeface="Arial"/>
              </a:rPr>
              <a:t>station</a:t>
            </a:r>
          </a:p>
        </p:txBody>
      </p:sp>
      <p:sp>
        <p:nvSpPr>
          <p:cNvPr id="13" name="shape-139">
            <a:extLst xmlns:a="http://schemas.openxmlformats.org/drawingml/2006/main">
              <a:ext uri="{FF2B5EF4-FFF2-40B4-BE49-F238E27FC236}">
                <a16:creationId xmlns:a16="http://schemas.microsoft.com/office/drawing/2014/main" id="{1B7A5BDA-797F-4D62-B4FA-DD8763D04F8A}"/>
              </a:ext>
            </a:extLst>
          </p:cNvPr>
          <p:cNvSpPr>
            <a:spLocks xmlns:a="http://schemas.openxmlformats.org/drawingml/2006/main" noGrp="1"/>
          </p:cNvSpPr>
          <p:nvPr/>
        </p:nvSpPr>
        <p:spPr>
          <a:xfrm xmlns:a="http://schemas.openxmlformats.org/drawingml/2006/main">
            <a:off x="619125" y="4095750"/>
            <a:ext cx="3848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Nearby arrival alternative</a:t>
            </a:r>
          </a:p>
        </p:txBody>
      </p:sp>
      <p:sp>
        <p:nvSpPr>
          <p:cNvPr id="14" name="shape-140">
            <a:extLst xmlns:a="http://schemas.openxmlformats.org/drawingml/2006/main">
              <a:ext uri="{FF2B5EF4-FFF2-40B4-BE49-F238E27FC236}">
                <a16:creationId xmlns:a16="http://schemas.microsoft.com/office/drawing/2014/main" id="{1B47B966-9679-4372-98FB-90C42731A0D8}"/>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Geographic check</a:t>
            </a:r>
          </a:p>
        </p:txBody>
      </p:sp>
      <p:sp>
        <p:nvSpPr>
          <p:cNvPr id="15" name="shape-141">
            <a:extLst xmlns:a="http://schemas.openxmlformats.org/drawingml/2006/main">
              <a:ext uri="{FF2B5EF4-FFF2-40B4-BE49-F238E27FC236}">
                <a16:creationId xmlns:a16="http://schemas.microsoft.com/office/drawing/2014/main" id="{0E3B058C-259C-4430-9861-44106ACE5048}"/>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Haversine distance and valid station coordinates define nearby candidates.</a:t>
            </a:r>
          </a:p>
        </p:txBody>
      </p:sp>
      <p:sp>
        <p:nvSpPr>
          <p:cNvPr id="16" name="shape-142">
            <a:extLst xmlns:a="http://schemas.openxmlformats.org/drawingml/2006/main">
              <a:ext uri="{FF2B5EF4-FFF2-40B4-BE49-F238E27FC236}">
                <a16:creationId xmlns:a16="http://schemas.microsoft.com/office/drawing/2014/main" id="{E4147932-35E4-4E20-B2C5-9143C1365727}"/>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Clear presentation</a:t>
            </a:r>
          </a:p>
        </p:txBody>
      </p:sp>
      <p:sp>
        <p:nvSpPr>
          <p:cNvPr id="17" name="shape-143">
            <a:extLst xmlns:a="http://schemas.openxmlformats.org/drawingml/2006/main">
              <a:ext uri="{FF2B5EF4-FFF2-40B4-BE49-F238E27FC236}">
                <a16:creationId xmlns:a16="http://schemas.microsoft.com/office/drawing/2014/main" id="{7D002FE0-06CC-4A76-AECE-87121E73BE35}"/>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Show names, codes and station changes before booking.</a:t>
            </a:r>
          </a:p>
        </p:txBody>
      </p:sp>
      <p:sp>
        <p:nvSpPr>
          <p:cNvPr id="18" name="shape-144">
            <a:extLst xmlns:a="http://schemas.openxmlformats.org/drawingml/2006/main">
              <a:ext uri="{FF2B5EF4-FFF2-40B4-BE49-F238E27FC236}">
                <a16:creationId xmlns:a16="http://schemas.microsoft.com/office/drawing/2014/main" id="{469076A2-AEA1-4A59-BC25-A52056C33F21}"/>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9" name="shape-145">
            <a:extLst xmlns:a="http://schemas.openxmlformats.org/drawingml/2006/main">
              <a:ext uri="{FF2B5EF4-FFF2-40B4-BE49-F238E27FC236}">
                <a16:creationId xmlns:a16="http://schemas.microsoft.com/office/drawing/2014/main" id="{DD6CCC37-57F2-480F-9BB6-2EC337E83EE9}"/>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MMCT → DLI can reveal MMCT → NDLS when the train, date and inventory are eligible.</a:t>
            </a:r>
          </a:p>
        </p:txBody>
      </p:sp>
    </p:spTree>
    <p:extLst>
      <p:ext uri="{BB962C8B-B14F-4D97-AF65-F5344CB8AC3E}">
        <p14:creationId xmlns:p14="http://schemas.microsoft.com/office/powerpoint/2010/main" val="14194923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5FCC5A5-C012-4541-85CE-0462750E5C31}"/>
              </a:ext>
            </a:extLst>
          </p:cNvPr>
          <p:cNvCxnSpPr>
            <a:stCxn xmlns:a="http://schemas.openxmlformats.org/drawingml/2006/main" id="7" idx="3"/>
            <a:endCxn xmlns:a="http://schemas.openxmlformats.org/drawingml/2006/main" id="8" idx="1"/>
          </p:cNvCxnSpPr>
          <p:nvPr/>
        </p:nvCxnSpPr>
        <p:spPr>
          <a:xfrm xmlns:a="http://schemas.openxmlformats.org/drawingml/2006/main">
            <a:off x="5724525" y="3214688"/>
            <a:ext cx="28575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24F4CCF1-A756-4918-9C7E-FE264367C11B}"/>
              </a:ext>
            </a:extLst>
          </p:cNvPr>
          <p:cNvCxnSpPr>
            <a:stCxn xmlns:a="http://schemas.openxmlformats.org/drawingml/2006/main" id="6" idx="3"/>
            <a:endCxn xmlns:a="http://schemas.openxmlformats.org/drawingml/2006/main" id="7" idx="1"/>
          </p:cNvCxnSpPr>
          <p:nvPr/>
        </p:nvCxnSpPr>
        <p:spPr>
          <a:xfrm xmlns:a="http://schemas.openxmlformats.org/drawingml/2006/main">
            <a:off x="2867025" y="3214688"/>
            <a:ext cx="28575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0" name="shape-146">
            <a:extLst xmlns:a="http://schemas.openxmlformats.org/drawingml/2006/main">
              <a:ext uri="{FF2B5EF4-FFF2-40B4-BE49-F238E27FC236}">
                <a16:creationId xmlns:a16="http://schemas.microsoft.com/office/drawing/2014/main" id="{DA41A5B4-178E-4117-8818-7B01CEB9FA2C}"/>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09 / CONNECTING JOURNEYS</a:t>
            </a:r>
          </a:p>
        </p:txBody>
      </p:sp>
      <p:sp>
        <p:nvSpPr>
          <p:cNvPr id="2" name="shape-147">
            <a:extLst xmlns:a="http://schemas.openxmlformats.org/drawingml/2006/main">
              <a:ext uri="{FF2B5EF4-FFF2-40B4-BE49-F238E27FC236}">
                <a16:creationId xmlns:a16="http://schemas.microsoft.com/office/drawing/2014/main" id="{D13FBB68-47D8-417B-8CAF-93D45E533DD8}"/>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connection must fit the timetable</a:t>
            </a:r>
          </a:p>
        </p:txBody>
      </p:sp>
      <p:sp>
        <p:nvSpPr>
          <p:cNvPr id="3" name="shape-148">
            <a:extLst xmlns:a="http://schemas.openxmlformats.org/drawingml/2006/main">
              <a:ext uri="{FF2B5EF4-FFF2-40B4-BE49-F238E27FC236}">
                <a16:creationId xmlns:a16="http://schemas.microsoft.com/office/drawing/2014/main" id="{25F5C3CE-D1DD-4A9A-8730-426B9A0AD597}"/>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One same-station interchange combines two independently bookable legs.</a:t>
            </a:r>
          </a:p>
        </p:txBody>
      </p:sp>
      <p:sp>
        <p:nvSpPr>
          <p:cNvPr id="4" name="shape-149">
            <a:extLst xmlns:a="http://schemas.openxmlformats.org/drawingml/2006/main">
              <a:ext uri="{FF2B5EF4-FFF2-40B4-BE49-F238E27FC236}">
                <a16:creationId xmlns:a16="http://schemas.microsoft.com/office/drawing/2014/main" id="{27016533-D7BC-4101-A7C3-426B20794842}"/>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50">
            <a:extLst xmlns:a="http://schemas.openxmlformats.org/drawingml/2006/main">
              <a:ext uri="{FF2B5EF4-FFF2-40B4-BE49-F238E27FC236}">
                <a16:creationId xmlns:a16="http://schemas.microsoft.com/office/drawing/2014/main" id="{19CFBEA0-0027-45B7-A314-689F8F566EC8}"/>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10 / 28</a:t>
            </a:r>
          </a:p>
        </p:txBody>
      </p:sp>
      <p:sp>
        <p:nvSpPr>
          <p:cNvPr id="6" name="shape-151">
            <a:extLst xmlns:a="http://schemas.openxmlformats.org/drawingml/2006/main">
              <a:ext uri="{FF2B5EF4-FFF2-40B4-BE49-F238E27FC236}">
                <a16:creationId xmlns:a16="http://schemas.microsoft.com/office/drawing/2014/main" id="{81F74CF8-4303-4536-9671-FEDA71D14A98}"/>
              </a:ext>
            </a:extLst>
          </p:cNvPr>
          <p:cNvSpPr>
            <a:spLocks xmlns:a="http://schemas.openxmlformats.org/drawingml/2006/main" noGrp="1"/>
          </p:cNvSpPr>
          <p:nvPr/>
        </p:nvSpPr>
        <p:spPr>
          <a:xfrm xmlns:a="http://schemas.openxmlformats.org/drawingml/2006/main">
            <a:off x="533400" y="2667000"/>
            <a:ext cx="2333625" cy="10953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Hazrat Nizamuddin</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NZM · 06:00</a:t>
            </a:r>
          </a:p>
        </p:txBody>
      </p:sp>
      <p:sp>
        <p:nvSpPr>
          <p:cNvPr id="7" name="shape-152">
            <a:extLst xmlns:a="http://schemas.openxmlformats.org/drawingml/2006/main">
              <a:ext uri="{FF2B5EF4-FFF2-40B4-BE49-F238E27FC236}">
                <a16:creationId xmlns:a16="http://schemas.microsoft.com/office/drawing/2014/main" id="{60B769CC-C0C6-451A-A445-56FEC3886110}"/>
              </a:ext>
            </a:extLst>
          </p:cNvPr>
          <p:cNvSpPr>
            <a:spLocks xmlns:a="http://schemas.openxmlformats.org/drawingml/2006/main" noGrp="1"/>
          </p:cNvSpPr>
          <p:nvPr/>
        </p:nvSpPr>
        <p:spPr>
          <a:xfrm xmlns:a="http://schemas.openxmlformats.org/drawingml/2006/main">
            <a:off x="3152775" y="2667000"/>
            <a:ext cx="2571750" cy="109537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Lucknow Junction</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LJN · 14:30 / 16:00</a:t>
            </a:r>
          </a:p>
        </p:txBody>
      </p:sp>
      <p:sp>
        <p:nvSpPr>
          <p:cNvPr id="8" name="shape-153">
            <a:extLst xmlns:a="http://schemas.openxmlformats.org/drawingml/2006/main">
              <a:ext uri="{FF2B5EF4-FFF2-40B4-BE49-F238E27FC236}">
                <a16:creationId xmlns:a16="http://schemas.microsoft.com/office/drawing/2014/main" id="{76E349E6-DCFC-44CA-82B1-B7A29209948A}"/>
              </a:ext>
            </a:extLst>
          </p:cNvPr>
          <p:cNvSpPr>
            <a:spLocks xmlns:a="http://schemas.openxmlformats.org/drawingml/2006/main" noGrp="1"/>
          </p:cNvSpPr>
          <p:nvPr/>
        </p:nvSpPr>
        <p:spPr>
          <a:xfrm xmlns:a="http://schemas.openxmlformats.org/drawingml/2006/main">
            <a:off x="6010275" y="2667000"/>
            <a:ext cx="2190750" cy="10953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Varanasi</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BSB · 21:00</a:t>
            </a:r>
          </a:p>
        </p:txBody>
      </p:sp>
      <p:sp>
        <p:nvSpPr>
          <p:cNvPr id="11" name="shape-154">
            <a:extLst xmlns:a="http://schemas.openxmlformats.org/drawingml/2006/main">
              <a:ext uri="{FF2B5EF4-FFF2-40B4-BE49-F238E27FC236}">
                <a16:creationId xmlns:a16="http://schemas.microsoft.com/office/drawing/2014/main" id="{BFEDBB2E-6778-4F67-8C0A-1491103B2061}"/>
              </a:ext>
            </a:extLst>
          </p:cNvPr>
          <p:cNvSpPr>
            <a:spLocks xmlns:a="http://schemas.openxmlformats.org/drawingml/2006/main" noGrp="1"/>
          </p:cNvSpPr>
          <p:nvPr/>
        </p:nvSpPr>
        <p:spPr>
          <a:xfrm xmlns:a="http://schemas.openxmlformats.org/drawingml/2006/main">
            <a:off x="714375"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59E0"/>
                </a:solidFill>
                <a:latin typeface="Arial"/>
                <a:ea typeface="Arial"/>
                <a:cs typeface="Arial"/>
              </a:defRPr>
            </a:defPPr>
          </a:lstStyle>
          <a:p xmlns:a="http://schemas.openxmlformats.org/drawingml/2006/main">
            <a:pPr algn="l">
              <a:defRPr sz="1500" b="1">
                <a:solidFill>
                  <a:srgbClr val="2459E0"/>
                </a:solidFill>
                <a:latin typeface="Arial"/>
                <a:ea typeface="Arial"/>
                <a:cs typeface="Arial"/>
              </a:defRPr>
            </a:pPr>
            <a:r>
              <a:rPr sz="1500" b="1">
                <a:solidFill>
                  <a:srgbClr val="2459E0"/>
                </a:solidFill>
                <a:latin typeface="Arial"/>
                <a:ea typeface="Arial"/>
                <a:cs typeface="Arial"/>
              </a:rPr>
              <a:t>LEG 1</a:t>
            </a:r>
          </a:p>
        </p:txBody>
      </p:sp>
      <p:sp>
        <p:nvSpPr>
          <p:cNvPr id="12" name="shape-155">
            <a:extLst xmlns:a="http://schemas.openxmlformats.org/drawingml/2006/main">
              <a:ext uri="{FF2B5EF4-FFF2-40B4-BE49-F238E27FC236}">
                <a16:creationId xmlns:a16="http://schemas.microsoft.com/office/drawing/2014/main" id="{3781E7FE-92C0-4B0E-8863-CE82B81AD6EC}"/>
              </a:ext>
            </a:extLst>
          </p:cNvPr>
          <p:cNvSpPr>
            <a:spLocks xmlns:a="http://schemas.openxmlformats.org/drawingml/2006/main" noGrp="1"/>
          </p:cNvSpPr>
          <p:nvPr/>
        </p:nvSpPr>
        <p:spPr>
          <a:xfrm xmlns:a="http://schemas.openxmlformats.org/drawingml/2006/main">
            <a:off x="3028950" y="4171950"/>
            <a:ext cx="29241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459E0"/>
                </a:solidFill>
                <a:latin typeface="Arial"/>
                <a:ea typeface="Arial"/>
                <a:cs typeface="Arial"/>
              </a:defRPr>
            </a:defPPr>
          </a:lstStyle>
          <a:p xmlns:a="http://schemas.openxmlformats.org/drawingml/2006/main">
            <a:pPr algn="l">
              <a:defRPr sz="2250" b="1">
                <a:solidFill>
                  <a:srgbClr val="2459E0"/>
                </a:solidFill>
                <a:latin typeface="Arial"/>
                <a:ea typeface="Arial"/>
                <a:cs typeface="Arial"/>
              </a:defRPr>
            </a:pPr>
            <a:r>
              <a:rPr sz="2250" b="1">
                <a:solidFill>
                  <a:srgbClr val="2459E0"/>
                </a:solidFill>
                <a:latin typeface="Arial"/>
                <a:ea typeface="Arial"/>
                <a:cs typeface="Arial"/>
              </a:rPr>
              <a:t>90-minute transfer</a:t>
            </a:r>
          </a:p>
        </p:txBody>
      </p:sp>
      <p:sp>
        <p:nvSpPr>
          <p:cNvPr id="13" name="shape-156">
            <a:extLst xmlns:a="http://schemas.openxmlformats.org/drawingml/2006/main">
              <a:ext uri="{FF2B5EF4-FFF2-40B4-BE49-F238E27FC236}">
                <a16:creationId xmlns:a16="http://schemas.microsoft.com/office/drawing/2014/main" id="{6DF679B1-4406-40BC-A141-17FA3408B1E4}"/>
              </a:ext>
            </a:extLst>
          </p:cNvPr>
          <p:cNvSpPr>
            <a:spLocks xmlns:a="http://schemas.openxmlformats.org/drawingml/2006/main" noGrp="1"/>
          </p:cNvSpPr>
          <p:nvPr/>
        </p:nvSpPr>
        <p:spPr>
          <a:xfrm xmlns:a="http://schemas.openxmlformats.org/drawingml/2006/main">
            <a:off x="6353175"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59E0"/>
                </a:solidFill>
                <a:latin typeface="Arial"/>
                <a:ea typeface="Arial"/>
                <a:cs typeface="Arial"/>
              </a:defRPr>
            </a:defPPr>
          </a:lstStyle>
          <a:p xmlns:a="http://schemas.openxmlformats.org/drawingml/2006/main">
            <a:pPr algn="l">
              <a:defRPr sz="1500" b="1">
                <a:solidFill>
                  <a:srgbClr val="2459E0"/>
                </a:solidFill>
                <a:latin typeface="Arial"/>
                <a:ea typeface="Arial"/>
                <a:cs typeface="Arial"/>
              </a:defRPr>
            </a:pPr>
            <a:r>
              <a:rPr sz="1500" b="1">
                <a:solidFill>
                  <a:srgbClr val="2459E0"/>
                </a:solidFill>
                <a:latin typeface="Arial"/>
                <a:ea typeface="Arial"/>
                <a:cs typeface="Arial"/>
              </a:rPr>
              <a:t>LEG 2</a:t>
            </a:r>
          </a:p>
        </p:txBody>
      </p:sp>
      <p:sp>
        <p:nvSpPr>
          <p:cNvPr id="14" name="shape-157">
            <a:extLst xmlns:a="http://schemas.openxmlformats.org/drawingml/2006/main">
              <a:ext uri="{FF2B5EF4-FFF2-40B4-BE49-F238E27FC236}">
                <a16:creationId xmlns:a16="http://schemas.microsoft.com/office/drawing/2014/main" id="{F159BCB6-9612-4B34-9A7F-DA79CF43C562}"/>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Feasibility</a:t>
            </a:r>
          </a:p>
        </p:txBody>
      </p:sp>
      <p:sp>
        <p:nvSpPr>
          <p:cNvPr id="15" name="shape-158">
            <a:extLst xmlns:a="http://schemas.openxmlformats.org/drawingml/2006/main">
              <a:ext uri="{FF2B5EF4-FFF2-40B4-BE49-F238E27FC236}">
                <a16:creationId xmlns:a16="http://schemas.microsoft.com/office/drawing/2014/main" id="{B16299E2-D655-4F16-B590-B9FBF3E63996}"/>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Transfer window, operating day and boarding date are checked.</a:t>
            </a:r>
          </a:p>
        </p:txBody>
      </p:sp>
      <p:sp>
        <p:nvSpPr>
          <p:cNvPr id="16" name="shape-159">
            <a:extLst xmlns:a="http://schemas.openxmlformats.org/drawingml/2006/main">
              <a:ext uri="{FF2B5EF4-FFF2-40B4-BE49-F238E27FC236}">
                <a16:creationId xmlns:a16="http://schemas.microsoft.com/office/drawing/2014/main" id="{E777AC12-895C-4EF6-8166-E4FD2B1EAB65}"/>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Booking boundary</a:t>
            </a:r>
          </a:p>
        </p:txBody>
      </p:sp>
      <p:sp>
        <p:nvSpPr>
          <p:cNvPr id="17" name="shape-160">
            <a:extLst xmlns:a="http://schemas.openxmlformats.org/drawingml/2006/main">
              <a:ext uri="{FF2B5EF4-FFF2-40B4-BE49-F238E27FC236}">
                <a16:creationId xmlns:a16="http://schemas.microsoft.com/office/drawing/2014/main" id="{4EED4793-C6AE-4150-B1A7-F30BB11C2779}"/>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Separate bookings; no automatic missed-connection protection.</a:t>
            </a:r>
          </a:p>
        </p:txBody>
      </p:sp>
      <p:sp>
        <p:nvSpPr>
          <p:cNvPr id="18" name="shape-161">
            <a:extLst xmlns:a="http://schemas.openxmlformats.org/drawingml/2006/main">
              <a:ext uri="{FF2B5EF4-FFF2-40B4-BE49-F238E27FC236}">
                <a16:creationId xmlns:a16="http://schemas.microsoft.com/office/drawing/2014/main" id="{FCB846FD-35FD-44F1-B715-5A1B5FCF4ADC}"/>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9" name="shape-162">
            <a:extLst xmlns:a="http://schemas.openxmlformats.org/drawingml/2006/main">
              <a:ext uri="{FF2B5EF4-FFF2-40B4-BE49-F238E27FC236}">
                <a16:creationId xmlns:a16="http://schemas.microsoft.com/office/drawing/2014/main" id="{896C205A-0E2C-4235-9CC0-3127B5CEA80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Illustrative catalogue journey: NZM → LJN → BSB.</a:t>
            </a:r>
          </a:p>
        </p:txBody>
      </p:sp>
    </p:spTree>
    <p:extLst>
      <p:ext uri="{BB962C8B-B14F-4D97-AF65-F5344CB8AC3E}">
        <p14:creationId xmlns:p14="http://schemas.microsoft.com/office/powerpoint/2010/main" val="19235532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06E50D4-3726-45DD-B9AE-FC5DC99AA959}"/>
              </a:ext>
            </a:extLst>
          </p:cNvPr>
          <p:cNvCxnSpPr>
            <a:stCxn xmlns:a="http://schemas.openxmlformats.org/drawingml/2006/main" id="12" idx="3"/>
            <a:endCxn xmlns:a="http://schemas.openxmlformats.org/drawingml/2006/main" id="13" idx="1"/>
          </p:cNvCxnSpPr>
          <p:nvPr/>
        </p:nvCxnSpPr>
        <p:spPr>
          <a:xfrm xmlns:a="http://schemas.openxmlformats.org/drawingml/2006/main">
            <a:off x="5438775" y="46863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BE55C63C-5E8F-455E-AFFA-3089DFF4B742}"/>
              </a:ext>
            </a:extLst>
          </p:cNvPr>
          <p:cNvCxnSpPr>
            <a:stCxn xmlns:a="http://schemas.openxmlformats.org/drawingml/2006/main" id="11" idx="3"/>
            <a:endCxn xmlns:a="http://schemas.openxmlformats.org/drawingml/2006/main" id="12" idx="1"/>
          </p:cNvCxnSpPr>
          <p:nvPr/>
        </p:nvCxnSpPr>
        <p:spPr>
          <a:xfrm xmlns:a="http://schemas.openxmlformats.org/drawingml/2006/main">
            <a:off x="2819400" y="46863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BB56F69-F175-406E-8FBC-27A760FD30F9}"/>
              </a:ext>
            </a:extLst>
          </p:cNvPr>
          <p:cNvCxnSpPr>
            <a:stCxn xmlns:a="http://schemas.openxmlformats.org/drawingml/2006/main" id="7" idx="3"/>
            <a:endCxn xmlns:a="http://schemas.openxmlformats.org/drawingml/2006/main" id="8" idx="1"/>
          </p:cNvCxnSpPr>
          <p:nvPr/>
        </p:nvCxnSpPr>
        <p:spPr>
          <a:xfrm xmlns:a="http://schemas.openxmlformats.org/drawingml/2006/main">
            <a:off x="5438775" y="28670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93E37FD6-A71F-4A82-BD2B-266693304193}"/>
              </a:ext>
            </a:extLst>
          </p:cNvPr>
          <p:cNvCxnSpPr>
            <a:stCxn xmlns:a="http://schemas.openxmlformats.org/drawingml/2006/main" id="6" idx="3"/>
            <a:endCxn xmlns:a="http://schemas.openxmlformats.org/drawingml/2006/main" id="7" idx="1"/>
          </p:cNvCxnSpPr>
          <p:nvPr/>
        </p:nvCxnSpPr>
        <p:spPr>
          <a:xfrm xmlns:a="http://schemas.openxmlformats.org/drawingml/2006/main">
            <a:off x="2819400" y="28670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2" name="shape-163">
            <a:extLst xmlns:a="http://schemas.openxmlformats.org/drawingml/2006/main">
              <a:ext uri="{FF2B5EF4-FFF2-40B4-BE49-F238E27FC236}">
                <a16:creationId xmlns:a16="http://schemas.microsoft.com/office/drawing/2014/main" id="{5842598A-E5B3-49F0-AD89-DC3DBFB434EE}"/>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10 / PLANNER DESIGN</a:t>
            </a:r>
          </a:p>
        </p:txBody>
      </p:sp>
      <p:sp>
        <p:nvSpPr>
          <p:cNvPr id="2" name="shape-164">
            <a:extLst xmlns:a="http://schemas.openxmlformats.org/drawingml/2006/main">
              <a:ext uri="{FF2B5EF4-FFF2-40B4-BE49-F238E27FC236}">
                <a16:creationId xmlns:a16="http://schemas.microsoft.com/office/drawing/2014/main" id="{C27C8E94-AB7F-4A45-AB3E-C733B16A208E}"/>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Deterministic rules produce explainable suggestions</a:t>
            </a:r>
          </a:p>
        </p:txBody>
      </p:sp>
      <p:sp>
        <p:nvSpPr>
          <p:cNvPr id="3" name="shape-165">
            <a:extLst xmlns:a="http://schemas.openxmlformats.org/drawingml/2006/main">
              <a:ext uri="{FF2B5EF4-FFF2-40B4-BE49-F238E27FC236}">
                <a16:creationId xmlns:a16="http://schemas.microsoft.com/office/drawing/2014/main" id="{D6AFF14E-C8D6-44C1-A218-00E2F6CA9606}"/>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bound the search instead of exploring every possible railway path.</a:t>
            </a:r>
          </a:p>
        </p:txBody>
      </p:sp>
      <p:sp>
        <p:nvSpPr>
          <p:cNvPr id="4" name="shape-166">
            <a:extLst xmlns:a="http://schemas.openxmlformats.org/drawingml/2006/main">
              <a:ext uri="{FF2B5EF4-FFF2-40B4-BE49-F238E27FC236}">
                <a16:creationId xmlns:a16="http://schemas.microsoft.com/office/drawing/2014/main" id="{E07EB7D7-AECE-4C74-83FF-60E9D3C2F821}"/>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67">
            <a:extLst xmlns:a="http://schemas.openxmlformats.org/drawingml/2006/main">
              <a:ext uri="{FF2B5EF4-FFF2-40B4-BE49-F238E27FC236}">
                <a16:creationId xmlns:a16="http://schemas.microsoft.com/office/drawing/2014/main" id="{D6AE41C5-4008-454D-8410-EFF1AF100C39}"/>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11 / 28</a:t>
            </a:r>
          </a:p>
        </p:txBody>
      </p:sp>
      <p:sp>
        <p:nvSpPr>
          <p:cNvPr id="6" name="shape-168">
            <a:extLst xmlns:a="http://schemas.openxmlformats.org/drawingml/2006/main">
              <a:ext uri="{FF2B5EF4-FFF2-40B4-BE49-F238E27FC236}">
                <a16:creationId xmlns:a16="http://schemas.microsoft.com/office/drawing/2014/main" id="{7B9D8DE6-A687-4930-8E56-8532A23F94D2}"/>
              </a:ext>
            </a:extLst>
          </p:cNvPr>
          <p:cNvSpPr>
            <a:spLocks xmlns:a="http://schemas.openxmlformats.org/drawingml/2006/main" noGrp="1"/>
          </p:cNvSpPr>
          <p:nvPr/>
        </p:nvSpPr>
        <p:spPr>
          <a:xfrm xmlns:a="http://schemas.openxmlformats.org/drawingml/2006/main">
            <a:off x="533400" y="2438400"/>
            <a:ext cx="22860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Candidate</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stations</a:t>
            </a:r>
          </a:p>
        </p:txBody>
      </p:sp>
      <p:sp>
        <p:nvSpPr>
          <p:cNvPr id="7" name="shape-169">
            <a:extLst xmlns:a="http://schemas.openxmlformats.org/drawingml/2006/main">
              <a:ext uri="{FF2B5EF4-FFF2-40B4-BE49-F238E27FC236}">
                <a16:creationId xmlns:a16="http://schemas.microsoft.com/office/drawing/2014/main" id="{16C98563-55CE-4AF6-961F-8DAC81A61D24}"/>
              </a:ext>
            </a:extLst>
          </p:cNvPr>
          <p:cNvSpPr>
            <a:spLocks xmlns:a="http://schemas.openxmlformats.org/drawingml/2006/main" noGrp="1"/>
          </p:cNvSpPr>
          <p:nvPr/>
        </p:nvSpPr>
        <p:spPr>
          <a:xfrm xmlns:a="http://schemas.openxmlformats.org/drawingml/2006/main">
            <a:off x="3152775" y="243840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Eligible</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trains</a:t>
            </a:r>
          </a:p>
        </p:txBody>
      </p:sp>
      <p:sp>
        <p:nvSpPr>
          <p:cNvPr id="8" name="shape-170">
            <a:extLst xmlns:a="http://schemas.openxmlformats.org/drawingml/2006/main">
              <a:ext uri="{FF2B5EF4-FFF2-40B4-BE49-F238E27FC236}">
                <a16:creationId xmlns:a16="http://schemas.microsoft.com/office/drawing/2014/main" id="{684A1201-04D1-404B-9CF3-314A4D5BD76C}"/>
              </a:ext>
            </a:extLst>
          </p:cNvPr>
          <p:cNvSpPr>
            <a:spLocks xmlns:a="http://schemas.openxmlformats.org/drawingml/2006/main" noGrp="1"/>
          </p:cNvSpPr>
          <p:nvPr/>
        </p:nvSpPr>
        <p:spPr>
          <a:xfrm xmlns:a="http://schemas.openxmlformats.org/drawingml/2006/main">
            <a:off x="5772150" y="243840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Feasible</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itineraries</a:t>
            </a:r>
          </a:p>
        </p:txBody>
      </p:sp>
      <p:sp>
        <p:nvSpPr>
          <p:cNvPr id="11" name="shape-171">
            <a:extLst xmlns:a="http://schemas.openxmlformats.org/drawingml/2006/main">
              <a:ext uri="{FF2B5EF4-FFF2-40B4-BE49-F238E27FC236}">
                <a16:creationId xmlns:a16="http://schemas.microsoft.com/office/drawing/2014/main" id="{B21AD122-1DFD-4EDB-A1FA-E4DD47BBFA48}"/>
              </a:ext>
            </a:extLst>
          </p:cNvPr>
          <p:cNvSpPr>
            <a:spLocks xmlns:a="http://schemas.openxmlformats.org/drawingml/2006/main" noGrp="1"/>
          </p:cNvSpPr>
          <p:nvPr/>
        </p:nvSpPr>
        <p:spPr>
          <a:xfrm xmlns:a="http://schemas.openxmlformats.org/drawingml/2006/main">
            <a:off x="533400" y="4305300"/>
            <a:ext cx="2286000" cy="7620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Rank options</a:t>
            </a:r>
          </a:p>
        </p:txBody>
      </p:sp>
      <p:sp>
        <p:nvSpPr>
          <p:cNvPr id="12" name="shape-172">
            <a:extLst xmlns:a="http://schemas.openxmlformats.org/drawingml/2006/main">
              <a:ext uri="{FF2B5EF4-FFF2-40B4-BE49-F238E27FC236}">
                <a16:creationId xmlns:a16="http://schemas.microsoft.com/office/drawing/2014/main" id="{59E7180E-C3EB-4236-B6A2-F17CD6679938}"/>
              </a:ext>
            </a:extLst>
          </p:cNvPr>
          <p:cNvSpPr>
            <a:spLocks xmlns:a="http://schemas.openxmlformats.org/drawingml/2006/main" noGrp="1"/>
          </p:cNvSpPr>
          <p:nvPr/>
        </p:nvSpPr>
        <p:spPr>
          <a:xfrm xmlns:a="http://schemas.openxmlformats.org/drawingml/2006/main">
            <a:off x="3152775" y="4305300"/>
            <a:ext cx="2286000" cy="7620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Bound work</a:t>
            </a:r>
          </a:p>
        </p:txBody>
      </p:sp>
      <p:sp>
        <p:nvSpPr>
          <p:cNvPr id="13" name="shape-173">
            <a:extLst xmlns:a="http://schemas.openxmlformats.org/drawingml/2006/main">
              <a:ext uri="{FF2B5EF4-FFF2-40B4-BE49-F238E27FC236}">
                <a16:creationId xmlns:a16="http://schemas.microsoft.com/office/drawing/2014/main" id="{34CC664E-A452-4B31-867E-10516216DB77}"/>
              </a:ext>
            </a:extLst>
          </p:cNvPr>
          <p:cNvSpPr>
            <a:spLocks xmlns:a="http://schemas.openxmlformats.org/drawingml/2006/main" noGrp="1"/>
          </p:cNvSpPr>
          <p:nvPr/>
        </p:nvSpPr>
        <p:spPr>
          <a:xfrm xmlns:a="http://schemas.openxmlformats.org/drawingml/2006/main">
            <a:off x="5772150" y="4305300"/>
            <a:ext cx="2286000" cy="7620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Return top results</a:t>
            </a:r>
          </a:p>
        </p:txBody>
      </p:sp>
      <p:sp>
        <p:nvSpPr>
          <p:cNvPr id="16" name="shape-174">
            <a:extLst xmlns:a="http://schemas.openxmlformats.org/drawingml/2006/main">
              <a:ext uri="{FF2B5EF4-FFF2-40B4-BE49-F238E27FC236}">
                <a16:creationId xmlns:a16="http://schemas.microsoft.com/office/drawing/2014/main" id="{526AC357-713E-4F5F-A8A4-5CB5A739295C}"/>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Default constraints</a:t>
            </a:r>
          </a:p>
        </p:txBody>
      </p:sp>
      <p:sp>
        <p:nvSpPr>
          <p:cNvPr id="17" name="shape-175">
            <a:extLst xmlns:a="http://schemas.openxmlformats.org/drawingml/2006/main">
              <a:ext uri="{FF2B5EF4-FFF2-40B4-BE49-F238E27FC236}">
                <a16:creationId xmlns:a16="http://schemas.microsoft.com/office/drawing/2014/main" id="{3EF24243-C99B-46FD-A770-85262F75F731}"/>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Nearby radius 50 km; transfer window 60–360 minutes.</a:t>
            </a:r>
          </a:p>
        </p:txBody>
      </p:sp>
      <p:sp>
        <p:nvSpPr>
          <p:cNvPr id="18" name="shape-176">
            <a:extLst xmlns:a="http://schemas.openxmlformats.org/drawingml/2006/main">
              <a:ext uri="{FF2B5EF4-FFF2-40B4-BE49-F238E27FC236}">
                <a16:creationId xmlns:a16="http://schemas.microsoft.com/office/drawing/2014/main" id="{788F4E61-EA49-4CAA-A628-42E261096F7A}"/>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Predictable results</a:t>
            </a:r>
          </a:p>
        </p:txBody>
      </p:sp>
      <p:sp>
        <p:nvSpPr>
          <p:cNvPr id="19" name="shape-177">
            <a:extLst xmlns:a="http://schemas.openxmlformats.org/drawingml/2006/main">
              <a:ext uri="{FF2B5EF4-FFF2-40B4-BE49-F238E27FC236}">
                <a16:creationId xmlns:a16="http://schemas.microsoft.com/office/drawing/2014/main" id="{F215198B-B3AB-4FF6-839B-64CD02CD5FEB}"/>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Limited work and result count; clear ranking factors.</a:t>
            </a:r>
          </a:p>
        </p:txBody>
      </p:sp>
      <p:sp>
        <p:nvSpPr>
          <p:cNvPr id="20" name="shape-178">
            <a:extLst xmlns:a="http://schemas.openxmlformats.org/drawingml/2006/main">
              <a:ext uri="{FF2B5EF4-FFF2-40B4-BE49-F238E27FC236}">
                <a16:creationId xmlns:a16="http://schemas.microsoft.com/office/drawing/2014/main" id="{86AEB2D8-FCEE-4D51-8C7E-BD515CC7BE80}"/>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1" name="shape-179">
            <a:extLst xmlns:a="http://schemas.openxmlformats.org/drawingml/2006/main">
              <a:ext uri="{FF2B5EF4-FFF2-40B4-BE49-F238E27FC236}">
                <a16:creationId xmlns:a16="http://schemas.microsoft.com/office/drawing/2014/main" id="{133101FB-F525-49D0-BF1E-FCB1EA29EC01}"/>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 future ML ranker could personalize order while deterministic rules retain feasibility.</a:t>
            </a:r>
          </a:p>
        </p:txBody>
      </p:sp>
    </p:spTree>
    <p:extLst>
      <p:ext uri="{BB962C8B-B14F-4D97-AF65-F5344CB8AC3E}">
        <p14:creationId xmlns:p14="http://schemas.microsoft.com/office/powerpoint/2010/main" val="4137230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1D946921-309C-4CB6-B802-82DB1BB38269}"/>
              </a:ext>
            </a:extLst>
          </p:cNvPr>
          <p:cNvCxnSpPr>
            <a:stCxn xmlns:a="http://schemas.openxmlformats.org/drawingml/2006/main" id="11" idx="2"/>
            <a:endCxn xmlns:a="http://schemas.openxmlformats.org/drawingml/2006/main" id="12" idx="0"/>
          </p:cNvCxnSpPr>
          <p:nvPr/>
        </p:nvCxnSpPr>
        <p:spPr>
          <a:xfrm xmlns:a="http://schemas.openxmlformats.org/drawingml/2006/main" flipH="1">
            <a:off x="4295775" y="4600575"/>
            <a:ext cx="4763" cy="342900"/>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CBDBEE52-5090-4ABD-8E89-622036ECA6DC}"/>
              </a:ext>
            </a:extLst>
          </p:cNvPr>
          <p:cNvCxnSpPr>
            <a:stCxn xmlns:a="http://schemas.openxmlformats.org/drawingml/2006/main" id="8" idx="2"/>
            <a:endCxn xmlns:a="http://schemas.openxmlformats.org/drawingml/2006/main" id="13" idx="0"/>
          </p:cNvCxnSpPr>
          <p:nvPr/>
        </p:nvCxnSpPr>
        <p:spPr>
          <a:xfrm xmlns:a="http://schemas.openxmlformats.org/drawingml/2006/main">
            <a:off x="6915150" y="3171825"/>
            <a:ext cx="161925" cy="70485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08CAC29E-8C5F-45BB-A154-8318BC8D5D3F}"/>
              </a:ext>
            </a:extLst>
          </p:cNvPr>
          <p:cNvCxnSpPr>
            <a:stCxn xmlns:a="http://schemas.openxmlformats.org/drawingml/2006/main" id="8" idx="2"/>
            <a:endCxn xmlns:a="http://schemas.openxmlformats.org/drawingml/2006/main" id="11" idx="0"/>
          </p:cNvCxnSpPr>
          <p:nvPr/>
        </p:nvCxnSpPr>
        <p:spPr>
          <a:xfrm xmlns:a="http://schemas.openxmlformats.org/drawingml/2006/main" flipH="1">
            <a:off x="4300538" y="3171825"/>
            <a:ext cx="2614613" cy="70485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E62C305A-8BCC-485D-94F3-CD52614D2557}"/>
              </a:ext>
            </a:extLst>
          </p:cNvPr>
          <p:cNvCxnSpPr>
            <a:stCxn xmlns:a="http://schemas.openxmlformats.org/drawingml/2006/main" id="7" idx="3"/>
            <a:endCxn xmlns:a="http://schemas.openxmlformats.org/drawingml/2006/main" id="8" idx="1"/>
          </p:cNvCxnSpPr>
          <p:nvPr/>
        </p:nvCxnSpPr>
        <p:spPr>
          <a:xfrm xmlns:a="http://schemas.openxmlformats.org/drawingml/2006/main">
            <a:off x="5438775" y="27622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FEDCD7E-4CAD-422F-AA43-8A75B4D0E4A1}"/>
              </a:ext>
            </a:extLst>
          </p:cNvPr>
          <p:cNvCxnSpPr>
            <a:stCxn xmlns:a="http://schemas.openxmlformats.org/drawingml/2006/main" id="6" idx="3"/>
            <a:endCxn xmlns:a="http://schemas.openxmlformats.org/drawingml/2006/main" id="7" idx="1"/>
          </p:cNvCxnSpPr>
          <p:nvPr/>
        </p:nvCxnSpPr>
        <p:spPr>
          <a:xfrm xmlns:a="http://schemas.openxmlformats.org/drawingml/2006/main">
            <a:off x="2819400" y="27622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3" name="shape-180">
            <a:extLst xmlns:a="http://schemas.openxmlformats.org/drawingml/2006/main">
              <a:ext uri="{FF2B5EF4-FFF2-40B4-BE49-F238E27FC236}">
                <a16:creationId xmlns:a16="http://schemas.microsoft.com/office/drawing/2014/main" id="{52D5B66E-653C-4552-9131-5661A87FF699}"/>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11 / BOOKING ACTIVITY</a:t>
            </a:r>
          </a:p>
        </p:txBody>
      </p:sp>
      <p:sp>
        <p:nvSpPr>
          <p:cNvPr id="2" name="shape-181">
            <a:extLst xmlns:a="http://schemas.openxmlformats.org/drawingml/2006/main">
              <a:ext uri="{FF2B5EF4-FFF2-40B4-BE49-F238E27FC236}">
                <a16:creationId xmlns:a16="http://schemas.microsoft.com/office/drawing/2014/main" id="{5A9FB2E1-C6B7-4BFD-84D3-98F7117737AD}"/>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short hold bridges selection and verified payment</a:t>
            </a:r>
          </a:p>
        </p:txBody>
      </p:sp>
      <p:sp>
        <p:nvSpPr>
          <p:cNvPr id="3" name="shape-182">
            <a:extLst xmlns:a="http://schemas.openxmlformats.org/drawingml/2006/main">
              <a:ext uri="{FF2B5EF4-FFF2-40B4-BE49-F238E27FC236}">
                <a16:creationId xmlns:a16="http://schemas.microsoft.com/office/drawing/2014/main" id="{0FC87E8F-A474-464E-8872-69F600853DE1}"/>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The booking state changes only after the server accepts each transition.</a:t>
            </a:r>
          </a:p>
        </p:txBody>
      </p:sp>
      <p:sp>
        <p:nvSpPr>
          <p:cNvPr id="4" name="shape-183">
            <a:extLst xmlns:a="http://schemas.openxmlformats.org/drawingml/2006/main">
              <a:ext uri="{FF2B5EF4-FFF2-40B4-BE49-F238E27FC236}">
                <a16:creationId xmlns:a16="http://schemas.microsoft.com/office/drawing/2014/main" id="{1509A36F-F60F-4F71-A6A4-7D051E01FA7B}"/>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184">
            <a:extLst xmlns:a="http://schemas.openxmlformats.org/drawingml/2006/main">
              <a:ext uri="{FF2B5EF4-FFF2-40B4-BE49-F238E27FC236}">
                <a16:creationId xmlns:a16="http://schemas.microsoft.com/office/drawing/2014/main" id="{273BDDA7-A78D-4B07-919B-E5BDB5E0DB8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12 / 28</a:t>
            </a:r>
          </a:p>
        </p:txBody>
      </p:sp>
      <p:sp>
        <p:nvSpPr>
          <p:cNvPr id="6" name="shape-185">
            <a:extLst xmlns:a="http://schemas.openxmlformats.org/drawingml/2006/main">
              <a:ext uri="{FF2B5EF4-FFF2-40B4-BE49-F238E27FC236}">
                <a16:creationId xmlns:a16="http://schemas.microsoft.com/office/drawing/2014/main" id="{A6E56F6E-DA93-4435-96DC-8D64A433B2AF}"/>
              </a:ext>
            </a:extLst>
          </p:cNvPr>
          <p:cNvSpPr>
            <a:spLocks xmlns:a="http://schemas.openxmlformats.org/drawingml/2006/main" noGrp="1"/>
          </p:cNvSpPr>
          <p:nvPr/>
        </p:nvSpPr>
        <p:spPr>
          <a:xfrm xmlns:a="http://schemas.openxmlformats.org/drawingml/2006/main">
            <a:off x="533400" y="2352675"/>
            <a:ext cx="2286000" cy="8191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Validate + quote</a:t>
            </a:r>
          </a:p>
        </p:txBody>
      </p:sp>
      <p:sp>
        <p:nvSpPr>
          <p:cNvPr id="7" name="shape-186">
            <a:extLst xmlns:a="http://schemas.openxmlformats.org/drawingml/2006/main">
              <a:ext uri="{FF2B5EF4-FFF2-40B4-BE49-F238E27FC236}">
                <a16:creationId xmlns:a16="http://schemas.microsoft.com/office/drawing/2014/main" id="{7A84911C-08EF-45F7-AE45-9269C78F694B}"/>
              </a:ext>
            </a:extLst>
          </p:cNvPr>
          <p:cNvSpPr>
            <a:spLocks xmlns:a="http://schemas.openxmlformats.org/drawingml/2006/main" noGrp="1"/>
          </p:cNvSpPr>
          <p:nvPr/>
        </p:nvSpPr>
        <p:spPr>
          <a:xfrm xmlns:a="http://schemas.openxmlformats.org/drawingml/2006/main">
            <a:off x="3152775" y="2352675"/>
            <a:ext cx="2286000" cy="8191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Lock inventory</a:t>
            </a:r>
          </a:p>
        </p:txBody>
      </p:sp>
      <p:sp>
        <p:nvSpPr>
          <p:cNvPr id="8" name="shape-187">
            <a:extLst xmlns:a="http://schemas.openxmlformats.org/drawingml/2006/main">
              <a:ext uri="{FF2B5EF4-FFF2-40B4-BE49-F238E27FC236}">
                <a16:creationId xmlns:a16="http://schemas.microsoft.com/office/drawing/2014/main" id="{EB569BED-BF34-4290-99C9-80D8C4D810A5}"/>
              </a:ext>
            </a:extLst>
          </p:cNvPr>
          <p:cNvSpPr>
            <a:spLocks xmlns:a="http://schemas.openxmlformats.org/drawingml/2006/main" noGrp="1"/>
          </p:cNvSpPr>
          <p:nvPr/>
        </p:nvSpPr>
        <p:spPr>
          <a:xfrm xmlns:a="http://schemas.openxmlformats.org/drawingml/2006/main">
            <a:off x="5772150" y="2352675"/>
            <a:ext cx="2286000" cy="8191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2-minute hold</a:t>
            </a:r>
          </a:p>
        </p:txBody>
      </p:sp>
      <p:sp>
        <p:nvSpPr>
          <p:cNvPr id="11" name="shape-188">
            <a:extLst xmlns:a="http://schemas.openxmlformats.org/drawingml/2006/main">
              <a:ext uri="{FF2B5EF4-FFF2-40B4-BE49-F238E27FC236}">
                <a16:creationId xmlns:a16="http://schemas.microsoft.com/office/drawing/2014/main" id="{95A2212D-C490-47AB-AFF5-A48C1BF95DF1}"/>
              </a:ext>
            </a:extLst>
          </p:cNvPr>
          <p:cNvSpPr>
            <a:spLocks xmlns:a="http://schemas.openxmlformats.org/drawingml/2006/main" noGrp="1"/>
          </p:cNvSpPr>
          <p:nvPr/>
        </p:nvSpPr>
        <p:spPr>
          <a:xfrm xmlns:a="http://schemas.openxmlformats.org/drawingml/2006/main">
            <a:off x="3133725" y="3876675"/>
            <a:ext cx="2333625" cy="7239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Verify payment</a:t>
            </a:r>
          </a:p>
        </p:txBody>
      </p:sp>
      <p:sp>
        <p:nvSpPr>
          <p:cNvPr id="12" name="shape-189">
            <a:extLst xmlns:a="http://schemas.openxmlformats.org/drawingml/2006/main">
              <a:ext uri="{FF2B5EF4-FFF2-40B4-BE49-F238E27FC236}">
                <a16:creationId xmlns:a16="http://schemas.microsoft.com/office/drawing/2014/main" id="{BA480E3C-74F4-4A69-AFAC-15AA149EE53A}"/>
              </a:ext>
            </a:extLst>
          </p:cNvPr>
          <p:cNvSpPr>
            <a:spLocks xmlns:a="http://schemas.openxmlformats.org/drawingml/2006/main" noGrp="1"/>
          </p:cNvSpPr>
          <p:nvPr/>
        </p:nvSpPr>
        <p:spPr>
          <a:xfrm xmlns:a="http://schemas.openxmlformats.org/drawingml/2006/main">
            <a:off x="2247900" y="4943475"/>
            <a:ext cx="4095750" cy="61912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CONFIRMED / WAITING</a:t>
            </a:r>
          </a:p>
        </p:txBody>
      </p:sp>
      <p:sp>
        <p:nvSpPr>
          <p:cNvPr id="13" name="shape-190">
            <a:extLst xmlns:a="http://schemas.openxmlformats.org/drawingml/2006/main">
              <a:ext uri="{FF2B5EF4-FFF2-40B4-BE49-F238E27FC236}">
                <a16:creationId xmlns:a16="http://schemas.microsoft.com/office/drawing/2014/main" id="{C7ADFCBC-84B1-4905-B56C-A1072D1C438E}"/>
              </a:ext>
            </a:extLst>
          </p:cNvPr>
          <p:cNvSpPr>
            <a:spLocks xmlns:a="http://schemas.openxmlformats.org/drawingml/2006/main" noGrp="1"/>
          </p:cNvSpPr>
          <p:nvPr/>
        </p:nvSpPr>
        <p:spPr>
          <a:xfrm xmlns:a="http://schemas.openxmlformats.org/drawingml/2006/main">
            <a:off x="6076950" y="3876675"/>
            <a:ext cx="2000250" cy="10096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Unpaid expiry</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Release hold</a:t>
            </a:r>
          </a:p>
        </p:txBody>
      </p:sp>
      <p:sp>
        <p:nvSpPr>
          <p:cNvPr id="17" name="shape-191">
            <a:extLst xmlns:a="http://schemas.openxmlformats.org/drawingml/2006/main">
              <a:ext uri="{FF2B5EF4-FFF2-40B4-BE49-F238E27FC236}">
                <a16:creationId xmlns:a16="http://schemas.microsoft.com/office/drawing/2014/main" id="{47B25922-9EDE-44EA-BA36-864B73652877}"/>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Server rules</a:t>
            </a:r>
          </a:p>
        </p:txBody>
      </p:sp>
      <p:sp>
        <p:nvSpPr>
          <p:cNvPr id="18" name="shape-192">
            <a:extLst xmlns:a="http://schemas.openxmlformats.org/drawingml/2006/main">
              <a:ext uri="{FF2B5EF4-FFF2-40B4-BE49-F238E27FC236}">
                <a16:creationId xmlns:a16="http://schemas.microsoft.com/office/drawing/2014/main" id="{04427976-A677-4B70-A2C0-2C8D880FB91D}"/>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1–6 passengers, valid route and no past boarding date.</a:t>
            </a:r>
          </a:p>
        </p:txBody>
      </p:sp>
      <p:sp>
        <p:nvSpPr>
          <p:cNvPr id="19" name="shape-193">
            <a:extLst xmlns:a="http://schemas.openxmlformats.org/drawingml/2006/main">
              <a:ext uri="{FF2B5EF4-FFF2-40B4-BE49-F238E27FC236}">
                <a16:creationId xmlns:a16="http://schemas.microsoft.com/office/drawing/2014/main" id="{CC2D9B35-405F-4597-8E5C-A537E214B29C}"/>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Booking window</a:t>
            </a:r>
          </a:p>
        </p:txBody>
      </p:sp>
      <p:sp>
        <p:nvSpPr>
          <p:cNvPr id="20" name="shape-194">
            <a:extLst xmlns:a="http://schemas.openxmlformats.org/drawingml/2006/main">
              <a:ext uri="{FF2B5EF4-FFF2-40B4-BE49-F238E27FC236}">
                <a16:creationId xmlns:a16="http://schemas.microsoft.com/office/drawing/2014/main" id="{ABC8EA1B-F8E9-4C5F-BC77-C2202788AED6}"/>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Up to two calendar months ahead; checks use Indian time.</a:t>
            </a:r>
          </a:p>
        </p:txBody>
      </p:sp>
      <p:sp>
        <p:nvSpPr>
          <p:cNvPr id="21" name="shape-195">
            <a:extLst xmlns:a="http://schemas.openxmlformats.org/drawingml/2006/main">
              <a:ext uri="{FF2B5EF4-FFF2-40B4-BE49-F238E27FC236}">
                <a16:creationId xmlns:a16="http://schemas.microsoft.com/office/drawing/2014/main" id="{339F78F0-B01B-417F-9CE0-A6136A6AD818}"/>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2" name="shape-196">
            <a:extLst xmlns:a="http://schemas.openxmlformats.org/drawingml/2006/main">
              <a:ext uri="{FF2B5EF4-FFF2-40B4-BE49-F238E27FC236}">
                <a16:creationId xmlns:a16="http://schemas.microsoft.com/office/drawing/2014/main" id="{1D0CBF1D-38FE-41CA-AEC6-2E055994F956}"/>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Repeated clicks must not create duplicate reservations or duplicate financial effects.</a:t>
            </a:r>
          </a:p>
        </p:txBody>
      </p:sp>
    </p:spTree>
    <p:extLst>
      <p:ext uri="{BB962C8B-B14F-4D97-AF65-F5344CB8AC3E}">
        <p14:creationId xmlns:p14="http://schemas.microsoft.com/office/powerpoint/2010/main" val="4683614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061746C-F7F6-478B-8CE5-0E63E674D899}"/>
              </a:ext>
            </a:extLst>
          </p:cNvPr>
          <p:cNvCxnSpPr>
            <a:stCxn xmlns:a="http://schemas.openxmlformats.org/drawingml/2006/main" id="7" idx="3"/>
            <a:endCxn xmlns:a="http://schemas.openxmlformats.org/drawingml/2006/main" id="8" idx="1"/>
          </p:cNvCxnSpPr>
          <p:nvPr/>
        </p:nvCxnSpPr>
        <p:spPr>
          <a:xfrm xmlns:a="http://schemas.openxmlformats.org/drawingml/2006/main">
            <a:off x="5438775" y="25050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8F2E138-1125-4F93-A969-574BCA7D4F81}"/>
              </a:ext>
            </a:extLst>
          </p:cNvPr>
          <p:cNvCxnSpPr>
            <a:stCxn xmlns:a="http://schemas.openxmlformats.org/drawingml/2006/main" id="6" idx="3"/>
            <a:endCxn xmlns:a="http://schemas.openxmlformats.org/drawingml/2006/main" id="7" idx="1"/>
          </p:cNvCxnSpPr>
          <p:nvPr/>
        </p:nvCxnSpPr>
        <p:spPr>
          <a:xfrm xmlns:a="http://schemas.openxmlformats.org/drawingml/2006/main">
            <a:off x="2819400" y="25050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0" name="shape-197">
            <a:extLst xmlns:a="http://schemas.openxmlformats.org/drawingml/2006/main">
              <a:ext uri="{FF2B5EF4-FFF2-40B4-BE49-F238E27FC236}">
                <a16:creationId xmlns:a16="http://schemas.microsoft.com/office/drawing/2014/main" id="{E9FDEE25-6D8F-4D0B-94A5-7C632BF1FCE2}"/>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12 / INVENTORY</a:t>
            </a:r>
          </a:p>
        </p:txBody>
      </p:sp>
      <p:sp>
        <p:nvSpPr>
          <p:cNvPr id="2" name="shape-198">
            <a:extLst xmlns:a="http://schemas.openxmlformats.org/drawingml/2006/main">
              <a:ext uri="{FF2B5EF4-FFF2-40B4-BE49-F238E27FC236}">
                <a16:creationId xmlns:a16="http://schemas.microsoft.com/office/drawing/2014/main" id="{CBE96249-4651-4048-A496-48735AF1A5F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Seats are allocated per occupied route segment</a:t>
            </a:r>
          </a:p>
        </p:txBody>
      </p:sp>
      <p:sp>
        <p:nvSpPr>
          <p:cNvPr id="3" name="shape-199">
            <a:extLst xmlns:a="http://schemas.openxmlformats.org/drawingml/2006/main">
              <a:ext uri="{FF2B5EF4-FFF2-40B4-BE49-F238E27FC236}">
                <a16:creationId xmlns:a16="http://schemas.microsoft.com/office/drawing/2014/main" id="{4523B22C-7FCD-4704-AD18-2FBF10463D81}"/>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A berth can serve different passengers on non-overlapping parts of a run.</a:t>
            </a:r>
          </a:p>
        </p:txBody>
      </p:sp>
      <p:sp>
        <p:nvSpPr>
          <p:cNvPr id="4" name="shape-200">
            <a:extLst xmlns:a="http://schemas.openxmlformats.org/drawingml/2006/main">
              <a:ext uri="{FF2B5EF4-FFF2-40B4-BE49-F238E27FC236}">
                <a16:creationId xmlns:a16="http://schemas.microsoft.com/office/drawing/2014/main" id="{0B176290-5BB4-4D1B-9085-06DBD876E10C}"/>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01">
            <a:extLst xmlns:a="http://schemas.openxmlformats.org/drawingml/2006/main">
              <a:ext uri="{FF2B5EF4-FFF2-40B4-BE49-F238E27FC236}">
                <a16:creationId xmlns:a16="http://schemas.microsoft.com/office/drawing/2014/main" id="{2BA5A1D2-5AEB-49D1-AB35-260C2D770987}"/>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13 / 28</a:t>
            </a:r>
          </a:p>
        </p:txBody>
      </p:sp>
      <p:sp>
        <p:nvSpPr>
          <p:cNvPr id="6" name="shape-202">
            <a:extLst xmlns:a="http://schemas.openxmlformats.org/drawingml/2006/main">
              <a:ext uri="{FF2B5EF4-FFF2-40B4-BE49-F238E27FC236}">
                <a16:creationId xmlns:a16="http://schemas.microsoft.com/office/drawing/2014/main" id="{4324355D-EC94-42A0-88A3-E87B42CEDB2F}"/>
              </a:ext>
            </a:extLst>
          </p:cNvPr>
          <p:cNvSpPr>
            <a:spLocks xmlns:a="http://schemas.openxmlformats.org/drawingml/2006/main" noGrp="1"/>
          </p:cNvSpPr>
          <p:nvPr/>
        </p:nvSpPr>
        <p:spPr>
          <a:xfrm xmlns:a="http://schemas.openxmlformats.org/drawingml/2006/main">
            <a:off x="533400" y="2228850"/>
            <a:ext cx="2286000" cy="5524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a:t>
            </a:r>
          </a:p>
        </p:txBody>
      </p:sp>
      <p:sp>
        <p:nvSpPr>
          <p:cNvPr id="7" name="shape-203">
            <a:extLst xmlns:a="http://schemas.openxmlformats.org/drawingml/2006/main">
              <a:ext uri="{FF2B5EF4-FFF2-40B4-BE49-F238E27FC236}">
                <a16:creationId xmlns:a16="http://schemas.microsoft.com/office/drawing/2014/main" id="{8AA89D36-AF62-4BD3-88B7-FE5FF9C1952F}"/>
              </a:ext>
            </a:extLst>
          </p:cNvPr>
          <p:cNvSpPr>
            <a:spLocks xmlns:a="http://schemas.openxmlformats.org/drawingml/2006/main" noGrp="1"/>
          </p:cNvSpPr>
          <p:nvPr/>
        </p:nvSpPr>
        <p:spPr>
          <a:xfrm xmlns:a="http://schemas.openxmlformats.org/drawingml/2006/main">
            <a:off x="3152775" y="2228850"/>
            <a:ext cx="2286000" cy="5524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a:t>
            </a:r>
          </a:p>
        </p:txBody>
      </p:sp>
      <p:sp>
        <p:nvSpPr>
          <p:cNvPr id="8" name="shape-204">
            <a:extLst xmlns:a="http://schemas.openxmlformats.org/drawingml/2006/main">
              <a:ext uri="{FF2B5EF4-FFF2-40B4-BE49-F238E27FC236}">
                <a16:creationId xmlns:a16="http://schemas.microsoft.com/office/drawing/2014/main" id="{5222E82B-1BC1-4712-B15E-944E1EE1BE81}"/>
              </a:ext>
            </a:extLst>
          </p:cNvPr>
          <p:cNvSpPr>
            <a:spLocks xmlns:a="http://schemas.openxmlformats.org/drawingml/2006/main" noGrp="1"/>
          </p:cNvSpPr>
          <p:nvPr/>
        </p:nvSpPr>
        <p:spPr>
          <a:xfrm xmlns:a="http://schemas.openxmlformats.org/drawingml/2006/main">
            <a:off x="5772150" y="2228850"/>
            <a:ext cx="2286000" cy="5524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a:t>
            </a:r>
          </a:p>
        </p:txBody>
      </p:sp>
      <p:sp>
        <p:nvSpPr>
          <p:cNvPr id="11" name="shape-205">
            <a:extLst xmlns:a="http://schemas.openxmlformats.org/drawingml/2006/main">
              <a:ext uri="{FF2B5EF4-FFF2-40B4-BE49-F238E27FC236}">
                <a16:creationId xmlns:a16="http://schemas.microsoft.com/office/drawing/2014/main" id="{A4E581B1-1AA0-47E4-8408-C65A1C238F89}"/>
              </a:ext>
            </a:extLst>
          </p:cNvPr>
          <p:cNvSpPr>
            <a:spLocks xmlns:a="http://schemas.openxmlformats.org/drawingml/2006/main" noGrp="1"/>
          </p:cNvSpPr>
          <p:nvPr/>
        </p:nvSpPr>
        <p:spPr>
          <a:xfrm xmlns:a="http://schemas.openxmlformats.org/drawingml/2006/main">
            <a:off x="533400" y="3257550"/>
            <a:ext cx="3638550" cy="7048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Passenger 1 occupies A → B</a:t>
            </a:r>
          </a:p>
        </p:txBody>
      </p:sp>
      <p:sp>
        <p:nvSpPr>
          <p:cNvPr id="12" name="shape-206">
            <a:extLst xmlns:a="http://schemas.openxmlformats.org/drawingml/2006/main">
              <a:ext uri="{FF2B5EF4-FFF2-40B4-BE49-F238E27FC236}">
                <a16:creationId xmlns:a16="http://schemas.microsoft.com/office/drawing/2014/main" id="{C53947D4-1ED5-458A-963A-EED03EFE8186}"/>
              </a:ext>
            </a:extLst>
          </p:cNvPr>
          <p:cNvSpPr>
            <a:spLocks xmlns:a="http://schemas.openxmlformats.org/drawingml/2006/main" noGrp="1"/>
          </p:cNvSpPr>
          <p:nvPr/>
        </p:nvSpPr>
        <p:spPr>
          <a:xfrm xmlns:a="http://schemas.openxmlformats.org/drawingml/2006/main">
            <a:off x="4476750" y="4229100"/>
            <a:ext cx="3638550" cy="7048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Passenger 2 occupies B → C</a:t>
            </a:r>
          </a:p>
        </p:txBody>
      </p:sp>
      <p:sp>
        <p:nvSpPr>
          <p:cNvPr id="13" name="shape-207">
            <a:extLst xmlns:a="http://schemas.openxmlformats.org/drawingml/2006/main">
              <a:ext uri="{FF2B5EF4-FFF2-40B4-BE49-F238E27FC236}">
                <a16:creationId xmlns:a16="http://schemas.microsoft.com/office/drawing/2014/main" id="{0C3AA042-834D-44A6-A436-37241B4238D3}"/>
              </a:ext>
            </a:extLst>
          </p:cNvPr>
          <p:cNvSpPr>
            <a:spLocks xmlns:a="http://schemas.openxmlformats.org/drawingml/2006/main" noGrp="1"/>
          </p:cNvSpPr>
          <p:nvPr/>
        </p:nvSpPr>
        <p:spPr>
          <a:xfrm xmlns:a="http://schemas.openxmlformats.org/drawingml/2006/main">
            <a:off x="533400" y="5248275"/>
            <a:ext cx="7686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Same berth · different, non-overlapping segments</a:t>
            </a:r>
          </a:p>
        </p:txBody>
      </p:sp>
      <p:sp>
        <p:nvSpPr>
          <p:cNvPr id="14" name="shape-208">
            <a:extLst xmlns:a="http://schemas.openxmlformats.org/drawingml/2006/main">
              <a:ext uri="{FF2B5EF4-FFF2-40B4-BE49-F238E27FC236}">
                <a16:creationId xmlns:a16="http://schemas.microsoft.com/office/drawing/2014/main" id="{33C861AB-74A2-4495-89C6-9C46287D4ACF}"/>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Concurrency</a:t>
            </a:r>
          </a:p>
        </p:txBody>
      </p:sp>
      <p:sp>
        <p:nvSpPr>
          <p:cNvPr id="15" name="shape-209">
            <a:extLst xmlns:a="http://schemas.openxmlformats.org/drawingml/2006/main">
              <a:ext uri="{FF2B5EF4-FFF2-40B4-BE49-F238E27FC236}">
                <a16:creationId xmlns:a16="http://schemas.microsoft.com/office/drawing/2014/main" id="{3B5B4D61-82BA-43CC-85C7-914D59A8E9B9}"/>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Run/inventory locks prevent conflicting allocations.</a:t>
            </a:r>
          </a:p>
        </p:txBody>
      </p:sp>
      <p:sp>
        <p:nvSpPr>
          <p:cNvPr id="16" name="shape-210">
            <a:extLst xmlns:a="http://schemas.openxmlformats.org/drawingml/2006/main">
              <a:ext uri="{FF2B5EF4-FFF2-40B4-BE49-F238E27FC236}">
                <a16:creationId xmlns:a16="http://schemas.microsoft.com/office/drawing/2014/main" id="{37EE54A8-7229-4DCA-AA00-A7E2DFA0FD40}"/>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Readable tickets</a:t>
            </a:r>
          </a:p>
        </p:txBody>
      </p:sp>
      <p:sp>
        <p:nvSpPr>
          <p:cNvPr id="17" name="shape-211">
            <a:extLst xmlns:a="http://schemas.openxmlformats.org/drawingml/2006/main">
              <a:ext uri="{FF2B5EF4-FFF2-40B4-BE49-F238E27FC236}">
                <a16:creationId xmlns:a16="http://schemas.microsoft.com/office/drawing/2014/main" id="{032BBC5F-992A-40C4-97EE-FD9A15ECA9D7}"/>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Coach names and class-specific lower / middle / upper berth positions.</a:t>
            </a:r>
          </a:p>
        </p:txBody>
      </p:sp>
      <p:sp>
        <p:nvSpPr>
          <p:cNvPr id="18" name="shape-212">
            <a:extLst xmlns:a="http://schemas.openxmlformats.org/drawingml/2006/main">
              <a:ext uri="{FF2B5EF4-FFF2-40B4-BE49-F238E27FC236}">
                <a16:creationId xmlns:a16="http://schemas.microsoft.com/office/drawing/2014/main" id="{942874C5-AC40-4D36-AA6D-731C3D20917B}"/>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9" name="shape-213">
            <a:extLst xmlns:a="http://schemas.openxmlformats.org/drawingml/2006/main">
              <a:ext uri="{FF2B5EF4-FFF2-40B4-BE49-F238E27FC236}">
                <a16:creationId xmlns:a16="http://schemas.microsoft.com/office/drawing/2014/main" id="{5D51F552-5741-44C5-800C-264E0927FA35}"/>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Coach prefixes include S for Sleeper, B for 3A and A for 2A.</a:t>
            </a:r>
          </a:p>
        </p:txBody>
      </p:sp>
    </p:spTree>
    <p:extLst>
      <p:ext uri="{BB962C8B-B14F-4D97-AF65-F5344CB8AC3E}">
        <p14:creationId xmlns:p14="http://schemas.microsoft.com/office/powerpoint/2010/main" val="11992372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15D2A64-4553-4A56-9AB1-613B9D9CB5CD}"/>
              </a:ext>
            </a:extLst>
          </p:cNvPr>
          <p:cNvCxnSpPr>
            <a:stCxn xmlns:a="http://schemas.openxmlformats.org/drawingml/2006/main" id="6" idx="2"/>
            <a:endCxn xmlns:a="http://schemas.openxmlformats.org/drawingml/2006/main" id="9" idx="0"/>
          </p:cNvCxnSpPr>
          <p:nvPr/>
        </p:nvCxnSpPr>
        <p:spPr>
          <a:xfrm xmlns:a="http://schemas.openxmlformats.org/drawingml/2006/main">
            <a:off x="1714500" y="3228975"/>
            <a:ext cx="438150" cy="111442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760F6F58-DDCE-40E1-AF6C-26BCB1A1FD7C}"/>
              </a:ext>
            </a:extLst>
          </p:cNvPr>
          <p:cNvCxnSpPr>
            <a:stCxn xmlns:a="http://schemas.openxmlformats.org/drawingml/2006/main" id="7" idx="2"/>
            <a:endCxn xmlns:a="http://schemas.openxmlformats.org/drawingml/2006/main" id="8" idx="0"/>
          </p:cNvCxnSpPr>
          <p:nvPr/>
        </p:nvCxnSpPr>
        <p:spPr>
          <a:xfrm xmlns:a="http://schemas.openxmlformats.org/drawingml/2006/main">
            <a:off x="4714875" y="3228975"/>
            <a:ext cx="1990725" cy="120967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EEF73CFB-C52F-4025-8C50-8F3FC8B71451}"/>
              </a:ext>
            </a:extLst>
          </p:cNvPr>
          <p:cNvCxnSpPr>
            <a:stCxn xmlns:a="http://schemas.openxmlformats.org/drawingml/2006/main" id="6" idx="3"/>
            <a:endCxn xmlns:a="http://schemas.openxmlformats.org/drawingml/2006/main" id="7" idx="1"/>
          </p:cNvCxnSpPr>
          <p:nvPr/>
        </p:nvCxnSpPr>
        <p:spPr>
          <a:xfrm xmlns:a="http://schemas.openxmlformats.org/drawingml/2006/main">
            <a:off x="2895600" y="2824163"/>
            <a:ext cx="5810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214">
            <a:extLst xmlns:a="http://schemas.openxmlformats.org/drawingml/2006/main">
              <a:ext uri="{FF2B5EF4-FFF2-40B4-BE49-F238E27FC236}">
                <a16:creationId xmlns:a16="http://schemas.microsoft.com/office/drawing/2014/main" id="{FE45286F-5AA3-4895-B4E1-72B9566BD6EB}"/>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13 / WAITLIST LIFECYCLE</a:t>
            </a:r>
          </a:p>
        </p:txBody>
      </p:sp>
      <p:sp>
        <p:nvSpPr>
          <p:cNvPr id="2" name="shape-215">
            <a:extLst xmlns:a="http://schemas.openxmlformats.org/drawingml/2006/main">
              <a:ext uri="{FF2B5EF4-FFF2-40B4-BE49-F238E27FC236}">
                <a16:creationId xmlns:a16="http://schemas.microsoft.com/office/drawing/2014/main" id="{CFA1A8DB-AADC-439F-BB26-C22F86C37115}"/>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I keep the whole booking together</a:t>
            </a:r>
          </a:p>
        </p:txBody>
      </p:sp>
      <p:sp>
        <p:nvSpPr>
          <p:cNvPr id="3" name="shape-216">
            <a:extLst xmlns:a="http://schemas.openxmlformats.org/drawingml/2006/main">
              <a:ext uri="{FF2B5EF4-FFF2-40B4-BE49-F238E27FC236}">
                <a16:creationId xmlns:a16="http://schemas.microsoft.com/office/drawing/2014/main" id="{CB0A12C2-15F8-4AF1-8FC2-49AD9E192239}"/>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Paid waitlisted bookings are promoted automatically when the complete group fits.</a:t>
            </a:r>
          </a:p>
        </p:txBody>
      </p:sp>
      <p:sp>
        <p:nvSpPr>
          <p:cNvPr id="4" name="shape-217">
            <a:extLst xmlns:a="http://schemas.openxmlformats.org/drawingml/2006/main">
              <a:ext uri="{FF2B5EF4-FFF2-40B4-BE49-F238E27FC236}">
                <a16:creationId xmlns:a16="http://schemas.microsoft.com/office/drawing/2014/main" id="{1D7616A5-D99E-459F-A5F3-025951A86E1B}"/>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18">
            <a:extLst xmlns:a="http://schemas.openxmlformats.org/drawingml/2006/main">
              <a:ext uri="{FF2B5EF4-FFF2-40B4-BE49-F238E27FC236}">
                <a16:creationId xmlns:a16="http://schemas.microsoft.com/office/drawing/2014/main" id="{EB2EBC70-9F5A-4691-BA73-A2D1B52C2C90}"/>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14 / 28</a:t>
            </a:r>
          </a:p>
        </p:txBody>
      </p:sp>
      <p:sp>
        <p:nvSpPr>
          <p:cNvPr id="6" name="shape-219">
            <a:extLst xmlns:a="http://schemas.openxmlformats.org/drawingml/2006/main">
              <a:ext uri="{FF2B5EF4-FFF2-40B4-BE49-F238E27FC236}">
                <a16:creationId xmlns:a16="http://schemas.microsoft.com/office/drawing/2014/main" id="{97362934-ADD8-4077-A859-0F0B6E69C8B7}"/>
              </a:ext>
            </a:extLst>
          </p:cNvPr>
          <p:cNvSpPr>
            <a:spLocks xmlns:a="http://schemas.openxmlformats.org/drawingml/2006/main" noGrp="1"/>
          </p:cNvSpPr>
          <p:nvPr/>
        </p:nvSpPr>
        <p:spPr>
          <a:xfrm xmlns:a="http://schemas.openxmlformats.org/drawingml/2006/main">
            <a:off x="533400" y="2419350"/>
            <a:ext cx="2362200" cy="80962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Paid WAITING</a:t>
            </a:r>
          </a:p>
        </p:txBody>
      </p:sp>
      <p:sp>
        <p:nvSpPr>
          <p:cNvPr id="7" name="shape-220">
            <a:extLst xmlns:a="http://schemas.openxmlformats.org/drawingml/2006/main">
              <a:ext uri="{FF2B5EF4-FFF2-40B4-BE49-F238E27FC236}">
                <a16:creationId xmlns:a16="http://schemas.microsoft.com/office/drawing/2014/main" id="{7E410C4E-DE94-4AD9-9F54-C20D8D1261B6}"/>
              </a:ext>
            </a:extLst>
          </p:cNvPr>
          <p:cNvSpPr>
            <a:spLocks xmlns:a="http://schemas.openxmlformats.org/drawingml/2006/main" noGrp="1"/>
          </p:cNvSpPr>
          <p:nvPr/>
        </p:nvSpPr>
        <p:spPr>
          <a:xfrm xmlns:a="http://schemas.openxmlformats.org/drawingml/2006/main">
            <a:off x="3476625" y="2419350"/>
            <a:ext cx="2476500" cy="80962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Whole group fits?</a:t>
            </a:r>
          </a:p>
        </p:txBody>
      </p:sp>
      <p:sp>
        <p:nvSpPr>
          <p:cNvPr id="8" name="shape-221">
            <a:extLst xmlns:a="http://schemas.openxmlformats.org/drawingml/2006/main">
              <a:ext uri="{FF2B5EF4-FFF2-40B4-BE49-F238E27FC236}">
                <a16:creationId xmlns:a16="http://schemas.microsoft.com/office/drawing/2014/main" id="{ABACDD41-E71A-4480-BC2C-EEFC61A670FD}"/>
              </a:ext>
            </a:extLst>
          </p:cNvPr>
          <p:cNvSpPr>
            <a:spLocks xmlns:a="http://schemas.openxmlformats.org/drawingml/2006/main" noGrp="1"/>
          </p:cNvSpPr>
          <p:nvPr/>
        </p:nvSpPr>
        <p:spPr>
          <a:xfrm xmlns:a="http://schemas.openxmlformats.org/drawingml/2006/main">
            <a:off x="5362575" y="4438650"/>
            <a:ext cx="2686050" cy="7810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CONFIRMED</a:t>
            </a:r>
          </a:p>
        </p:txBody>
      </p:sp>
      <p:sp>
        <p:nvSpPr>
          <p:cNvPr id="9" name="shape-222">
            <a:extLst xmlns:a="http://schemas.openxmlformats.org/drawingml/2006/main">
              <a:ext uri="{FF2B5EF4-FFF2-40B4-BE49-F238E27FC236}">
                <a16:creationId xmlns:a16="http://schemas.microsoft.com/office/drawing/2014/main" id="{2E4CFA24-7EDE-41BC-ACC3-7A931C7F2CE8}"/>
              </a:ext>
            </a:extLst>
          </p:cNvPr>
          <p:cNvSpPr>
            <a:spLocks xmlns:a="http://schemas.openxmlformats.org/drawingml/2006/main" noGrp="1"/>
          </p:cNvSpPr>
          <p:nvPr/>
        </p:nvSpPr>
        <p:spPr>
          <a:xfrm xmlns:a="http://schemas.openxmlformats.org/drawingml/2006/main">
            <a:off x="533400" y="4343400"/>
            <a:ext cx="3238500" cy="100012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Cutoff reached</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Cancel + full refund</a:t>
            </a:r>
          </a:p>
        </p:txBody>
      </p:sp>
      <p:sp>
        <p:nvSpPr>
          <p:cNvPr id="13" name="shape-223">
            <a:extLst xmlns:a="http://schemas.openxmlformats.org/drawingml/2006/main">
              <a:ext uri="{FF2B5EF4-FFF2-40B4-BE49-F238E27FC236}">
                <a16:creationId xmlns:a16="http://schemas.microsoft.com/office/drawing/2014/main" id="{DD81E5A3-E335-44CC-86C8-3FBF0A9DB550}"/>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Fairness</a:t>
            </a:r>
          </a:p>
        </p:txBody>
      </p:sp>
      <p:sp>
        <p:nvSpPr>
          <p:cNvPr id="14" name="shape-224">
            <a:extLst xmlns:a="http://schemas.openxmlformats.org/drawingml/2006/main">
              <a:ext uri="{FF2B5EF4-FFF2-40B4-BE49-F238E27FC236}">
                <a16:creationId xmlns:a16="http://schemas.microsoft.com/office/drawing/2014/main" id="{5873DAAB-CC78-4C4A-8C3E-2729336BED84}"/>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FIFO ordering; the head booking must fit completely.</a:t>
            </a:r>
          </a:p>
        </p:txBody>
      </p:sp>
      <p:sp>
        <p:nvSpPr>
          <p:cNvPr id="15" name="shape-225">
            <a:extLst xmlns:a="http://schemas.openxmlformats.org/drawingml/2006/main">
              <a:ext uri="{FF2B5EF4-FFF2-40B4-BE49-F238E27FC236}">
                <a16:creationId xmlns:a16="http://schemas.microsoft.com/office/drawing/2014/main" id="{8D65B568-444D-4B09-978D-531DC8D74E77}"/>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Communication</a:t>
            </a:r>
          </a:p>
        </p:txBody>
      </p:sp>
      <p:sp>
        <p:nvSpPr>
          <p:cNvPr id="16" name="shape-226">
            <a:extLst xmlns:a="http://schemas.openxmlformats.org/drawingml/2006/main">
              <a:ext uri="{FF2B5EF4-FFF2-40B4-BE49-F238E27FC236}">
                <a16:creationId xmlns:a16="http://schemas.microsoft.com/office/drawing/2014/main" id="{8D8AB275-DFA1-4666-AB06-626BC25FAF47}"/>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Automatic promotion and refund events notify the passenger.</a:t>
            </a:r>
          </a:p>
        </p:txBody>
      </p:sp>
      <p:sp>
        <p:nvSpPr>
          <p:cNvPr id="17" name="shape-227">
            <a:extLst xmlns:a="http://schemas.openxmlformats.org/drawingml/2006/main">
              <a:ext uri="{FF2B5EF4-FFF2-40B4-BE49-F238E27FC236}">
                <a16:creationId xmlns:a16="http://schemas.microsoft.com/office/drawing/2014/main" id="{CCE58583-9BA2-4FB3-8FDE-BDA11A9A1993}"/>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228">
            <a:extLst xmlns:a="http://schemas.openxmlformats.org/drawingml/2006/main">
              <a:ext uri="{FF2B5EF4-FFF2-40B4-BE49-F238E27FC236}">
                <a16:creationId xmlns:a16="http://schemas.microsoft.com/office/drawing/2014/main" id="{3E62FB4D-A885-4248-947C-8B7AB2411E43}"/>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No RAC, no partial passenger promotion and no second payment for WL → CNF.</a:t>
            </a:r>
          </a:p>
        </p:txBody>
      </p:sp>
    </p:spTree>
    <p:extLst>
      <p:ext uri="{BB962C8B-B14F-4D97-AF65-F5344CB8AC3E}">
        <p14:creationId xmlns:p14="http://schemas.microsoft.com/office/powerpoint/2010/main" val="17302641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DB46E0B-6683-4671-B726-5D1FC08DF2AA}"/>
              </a:ext>
            </a:extLst>
          </p:cNvPr>
          <p:cNvCxnSpPr>
            <a:stCxn xmlns:a="http://schemas.openxmlformats.org/drawingml/2006/main" id="12" idx="3"/>
            <a:endCxn xmlns:a="http://schemas.openxmlformats.org/drawingml/2006/main" id="13" idx="1"/>
          </p:cNvCxnSpPr>
          <p:nvPr/>
        </p:nvCxnSpPr>
        <p:spPr>
          <a:xfrm xmlns:a="http://schemas.openxmlformats.org/drawingml/2006/main">
            <a:off x="5438775" y="46577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83009B59-EED6-49EB-A346-A3B8698AAA51}"/>
              </a:ext>
            </a:extLst>
          </p:cNvPr>
          <p:cNvCxnSpPr>
            <a:stCxn xmlns:a="http://schemas.openxmlformats.org/drawingml/2006/main" id="11" idx="3"/>
            <a:endCxn xmlns:a="http://schemas.openxmlformats.org/drawingml/2006/main" id="12" idx="1"/>
          </p:cNvCxnSpPr>
          <p:nvPr/>
        </p:nvCxnSpPr>
        <p:spPr>
          <a:xfrm xmlns:a="http://schemas.openxmlformats.org/drawingml/2006/main">
            <a:off x="2819400" y="46577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6B7168A5-EC94-403F-8163-51179ECD6914}"/>
              </a:ext>
            </a:extLst>
          </p:cNvPr>
          <p:cNvCxnSpPr>
            <a:stCxn xmlns:a="http://schemas.openxmlformats.org/drawingml/2006/main" id="7" idx="3"/>
            <a:endCxn xmlns:a="http://schemas.openxmlformats.org/drawingml/2006/main" id="8" idx="1"/>
          </p:cNvCxnSpPr>
          <p:nvPr/>
        </p:nvCxnSpPr>
        <p:spPr>
          <a:xfrm xmlns:a="http://schemas.openxmlformats.org/drawingml/2006/main">
            <a:off x="5438775" y="28289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2A25C48-26B4-434D-B07B-9A469082C44B}"/>
              </a:ext>
            </a:extLst>
          </p:cNvPr>
          <p:cNvCxnSpPr>
            <a:stCxn xmlns:a="http://schemas.openxmlformats.org/drawingml/2006/main" id="6" idx="3"/>
            <a:endCxn xmlns:a="http://schemas.openxmlformats.org/drawingml/2006/main" id="7" idx="1"/>
          </p:cNvCxnSpPr>
          <p:nvPr/>
        </p:nvCxnSpPr>
        <p:spPr>
          <a:xfrm xmlns:a="http://schemas.openxmlformats.org/drawingml/2006/main">
            <a:off x="2819400" y="28289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2" name="shape-229">
            <a:extLst xmlns:a="http://schemas.openxmlformats.org/drawingml/2006/main">
              <a:ext uri="{FF2B5EF4-FFF2-40B4-BE49-F238E27FC236}">
                <a16:creationId xmlns:a16="http://schemas.microsoft.com/office/drawing/2014/main" id="{3E19C48D-5427-4042-A19F-634A2D6CCF85}"/>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14 / PAYMENTS</a:t>
            </a:r>
          </a:p>
        </p:txBody>
      </p:sp>
      <p:sp>
        <p:nvSpPr>
          <p:cNvPr id="2" name="shape-230">
            <a:extLst xmlns:a="http://schemas.openxmlformats.org/drawingml/2006/main">
              <a:ext uri="{FF2B5EF4-FFF2-40B4-BE49-F238E27FC236}">
                <a16:creationId xmlns:a16="http://schemas.microsoft.com/office/drawing/2014/main" id="{DE65C1B2-654B-431A-A153-E97030C4504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The browser cannot declare a payment successful</a:t>
            </a:r>
          </a:p>
        </p:txBody>
      </p:sp>
      <p:sp>
        <p:nvSpPr>
          <p:cNvPr id="3" name="shape-231">
            <a:extLst xmlns:a="http://schemas.openxmlformats.org/drawingml/2006/main">
              <a:ext uri="{FF2B5EF4-FFF2-40B4-BE49-F238E27FC236}">
                <a16:creationId xmlns:a16="http://schemas.microsoft.com/office/drawing/2014/main" id="{00D4FEE0-E3C4-4272-9A14-486E8F3232BA}"/>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verify provider evidence before changing reservation state.</a:t>
            </a:r>
          </a:p>
        </p:txBody>
      </p:sp>
      <p:sp>
        <p:nvSpPr>
          <p:cNvPr id="4" name="shape-232">
            <a:extLst xmlns:a="http://schemas.openxmlformats.org/drawingml/2006/main">
              <a:ext uri="{FF2B5EF4-FFF2-40B4-BE49-F238E27FC236}">
                <a16:creationId xmlns:a16="http://schemas.microsoft.com/office/drawing/2014/main" id="{84DACD8A-17E1-4ECC-8D22-DA92A51D6A0A}"/>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33">
            <a:extLst xmlns:a="http://schemas.openxmlformats.org/drawingml/2006/main">
              <a:ext uri="{FF2B5EF4-FFF2-40B4-BE49-F238E27FC236}">
                <a16:creationId xmlns:a16="http://schemas.microsoft.com/office/drawing/2014/main" id="{AAAEC8EE-0712-45BF-9740-34B9178CD2AA}"/>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15 / 28</a:t>
            </a:r>
          </a:p>
        </p:txBody>
      </p:sp>
      <p:sp>
        <p:nvSpPr>
          <p:cNvPr id="6" name="shape-234">
            <a:extLst xmlns:a="http://schemas.openxmlformats.org/drawingml/2006/main">
              <a:ext uri="{FF2B5EF4-FFF2-40B4-BE49-F238E27FC236}">
                <a16:creationId xmlns:a16="http://schemas.microsoft.com/office/drawing/2014/main" id="{D734195A-2A02-4E30-B3A8-E4285863C964}"/>
              </a:ext>
            </a:extLst>
          </p:cNvPr>
          <p:cNvSpPr>
            <a:spLocks xmlns:a="http://schemas.openxmlformats.org/drawingml/2006/main" noGrp="1"/>
          </p:cNvSpPr>
          <p:nvPr/>
        </p:nvSpPr>
        <p:spPr>
          <a:xfrm xmlns:a="http://schemas.openxmlformats.org/drawingml/2006/main">
            <a:off x="533400" y="2400300"/>
            <a:ext cx="22860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Server order</a:t>
            </a:r>
          </a:p>
        </p:txBody>
      </p:sp>
      <p:sp>
        <p:nvSpPr>
          <p:cNvPr id="7" name="shape-235">
            <a:extLst xmlns:a="http://schemas.openxmlformats.org/drawingml/2006/main">
              <a:ext uri="{FF2B5EF4-FFF2-40B4-BE49-F238E27FC236}">
                <a16:creationId xmlns:a16="http://schemas.microsoft.com/office/drawing/2014/main" id="{C1CCFBA3-4896-4E00-8D94-BD94A11B6079}"/>
              </a:ext>
            </a:extLst>
          </p:cNvPr>
          <p:cNvSpPr>
            <a:spLocks xmlns:a="http://schemas.openxmlformats.org/drawingml/2006/main" noGrp="1"/>
          </p:cNvSpPr>
          <p:nvPr/>
        </p:nvSpPr>
        <p:spPr>
          <a:xfrm xmlns:a="http://schemas.openxmlformats.org/drawingml/2006/main">
            <a:off x="3152775" y="240030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Razorpay checkout</a:t>
            </a:r>
          </a:p>
        </p:txBody>
      </p:sp>
      <p:sp>
        <p:nvSpPr>
          <p:cNvPr id="8" name="shape-236">
            <a:extLst xmlns:a="http://schemas.openxmlformats.org/drawingml/2006/main">
              <a:ext uri="{FF2B5EF4-FFF2-40B4-BE49-F238E27FC236}">
                <a16:creationId xmlns:a16="http://schemas.microsoft.com/office/drawing/2014/main" id="{F8C194FF-C746-49B1-AA49-81B7DCF6B7D3}"/>
              </a:ext>
            </a:extLst>
          </p:cNvPr>
          <p:cNvSpPr>
            <a:spLocks xmlns:a="http://schemas.openxmlformats.org/drawingml/2006/main" noGrp="1"/>
          </p:cNvSpPr>
          <p:nvPr/>
        </p:nvSpPr>
        <p:spPr>
          <a:xfrm xmlns:a="http://schemas.openxmlformats.org/drawingml/2006/main">
            <a:off x="5772150" y="2400300"/>
            <a:ext cx="22860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Server verification</a:t>
            </a:r>
          </a:p>
        </p:txBody>
      </p:sp>
      <p:sp>
        <p:nvSpPr>
          <p:cNvPr id="11" name="shape-237">
            <a:extLst xmlns:a="http://schemas.openxmlformats.org/drawingml/2006/main">
              <a:ext uri="{FF2B5EF4-FFF2-40B4-BE49-F238E27FC236}">
                <a16:creationId xmlns:a16="http://schemas.microsoft.com/office/drawing/2014/main" id="{97ABA4F3-6DD8-4A97-B585-79A83222FC29}"/>
              </a:ext>
            </a:extLst>
          </p:cNvPr>
          <p:cNvSpPr>
            <a:spLocks xmlns:a="http://schemas.openxmlformats.org/drawingml/2006/main" noGrp="1"/>
          </p:cNvSpPr>
          <p:nvPr/>
        </p:nvSpPr>
        <p:spPr>
          <a:xfrm xmlns:a="http://schemas.openxmlformats.org/drawingml/2006/main">
            <a:off x="533400" y="4267200"/>
            <a:ext cx="2286000" cy="7810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Callback / webhook</a:t>
            </a:r>
          </a:p>
        </p:txBody>
      </p:sp>
      <p:sp>
        <p:nvSpPr>
          <p:cNvPr id="12" name="shape-238">
            <a:extLst xmlns:a="http://schemas.openxmlformats.org/drawingml/2006/main">
              <a:ext uri="{FF2B5EF4-FFF2-40B4-BE49-F238E27FC236}">
                <a16:creationId xmlns:a16="http://schemas.microsoft.com/office/drawing/2014/main" id="{C20EFDD8-24B8-42EF-96EE-0756790B8869}"/>
              </a:ext>
            </a:extLst>
          </p:cNvPr>
          <p:cNvSpPr>
            <a:spLocks xmlns:a="http://schemas.openxmlformats.org/drawingml/2006/main" noGrp="1"/>
          </p:cNvSpPr>
          <p:nvPr/>
        </p:nvSpPr>
        <p:spPr>
          <a:xfrm xmlns:a="http://schemas.openxmlformats.org/drawingml/2006/main">
            <a:off x="3152775" y="4267200"/>
            <a:ext cx="2286000" cy="7810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Idempotent update</a:t>
            </a:r>
          </a:p>
        </p:txBody>
      </p:sp>
      <p:sp>
        <p:nvSpPr>
          <p:cNvPr id="13" name="shape-239">
            <a:extLst xmlns:a="http://schemas.openxmlformats.org/drawingml/2006/main">
              <a:ext uri="{FF2B5EF4-FFF2-40B4-BE49-F238E27FC236}">
                <a16:creationId xmlns:a16="http://schemas.microsoft.com/office/drawing/2014/main" id="{753E9D18-7A6E-431B-B181-7023196F2459}"/>
              </a:ext>
            </a:extLst>
          </p:cNvPr>
          <p:cNvSpPr>
            <a:spLocks xmlns:a="http://schemas.openxmlformats.org/drawingml/2006/main" noGrp="1"/>
          </p:cNvSpPr>
          <p:nvPr/>
        </p:nvSpPr>
        <p:spPr>
          <a:xfrm xmlns:a="http://schemas.openxmlformats.org/drawingml/2006/main">
            <a:off x="5772150" y="4267200"/>
            <a:ext cx="2286000" cy="7810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Booking outcome</a:t>
            </a:r>
          </a:p>
        </p:txBody>
      </p:sp>
      <p:sp>
        <p:nvSpPr>
          <p:cNvPr id="16" name="shape-240">
            <a:extLst xmlns:a="http://schemas.openxmlformats.org/drawingml/2006/main">
              <a:ext uri="{FF2B5EF4-FFF2-40B4-BE49-F238E27FC236}">
                <a16:creationId xmlns:a16="http://schemas.microsoft.com/office/drawing/2014/main" id="{74136499-2592-44AA-9B6C-EF46B8C13882}"/>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Verification</a:t>
            </a:r>
          </a:p>
        </p:txBody>
      </p:sp>
      <p:sp>
        <p:nvSpPr>
          <p:cNvPr id="17" name="shape-241">
            <a:extLst xmlns:a="http://schemas.openxmlformats.org/drawingml/2006/main">
              <a:ext uri="{FF2B5EF4-FFF2-40B4-BE49-F238E27FC236}">
                <a16:creationId xmlns:a16="http://schemas.microsoft.com/office/drawing/2014/main" id="{76239FD0-5F74-469C-AE4E-2D6FD67784B7}"/>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Signature, order, amount and captured payment must match.</a:t>
            </a:r>
          </a:p>
        </p:txBody>
      </p:sp>
      <p:sp>
        <p:nvSpPr>
          <p:cNvPr id="18" name="shape-242">
            <a:extLst xmlns:a="http://schemas.openxmlformats.org/drawingml/2006/main">
              <a:ext uri="{FF2B5EF4-FFF2-40B4-BE49-F238E27FC236}">
                <a16:creationId xmlns:a16="http://schemas.microsoft.com/office/drawing/2014/main" id="{7A0F1B5D-B182-4124-998B-2388A50A3A85}"/>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Late capture</a:t>
            </a:r>
          </a:p>
        </p:txBody>
      </p:sp>
      <p:sp>
        <p:nvSpPr>
          <p:cNvPr id="19" name="shape-243">
            <a:extLst xmlns:a="http://schemas.openxmlformats.org/drawingml/2006/main">
              <a:ext uri="{FF2B5EF4-FFF2-40B4-BE49-F238E27FC236}">
                <a16:creationId xmlns:a16="http://schemas.microsoft.com/office/drawing/2014/main" id="{6FEB4439-19D9-4A8E-BFD5-6F750B52DBFB}"/>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Expired or cancelled booking stays closed; refund is initiated.</a:t>
            </a:r>
          </a:p>
        </p:txBody>
      </p:sp>
      <p:sp>
        <p:nvSpPr>
          <p:cNvPr id="20" name="shape-244">
            <a:extLst xmlns:a="http://schemas.openxmlformats.org/drawingml/2006/main">
              <a:ext uri="{FF2B5EF4-FFF2-40B4-BE49-F238E27FC236}">
                <a16:creationId xmlns:a16="http://schemas.microsoft.com/office/drawing/2014/main" id="{AAC0AA91-0619-46C0-B118-4ACA3E368BC5}"/>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1" name="shape-245">
            <a:extLst xmlns:a="http://schemas.openxmlformats.org/drawingml/2006/main">
              <a:ext uri="{FF2B5EF4-FFF2-40B4-BE49-F238E27FC236}">
                <a16:creationId xmlns:a16="http://schemas.microsoft.com/office/drawing/2014/main" id="{310CF36E-A660-444B-A616-A4C2CDBF192C}"/>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Razorpay test mode demonstrates the lifecycle without real financial transactions.</a:t>
            </a:r>
          </a:p>
        </p:txBody>
      </p:sp>
    </p:spTree>
    <p:extLst>
      <p:ext uri="{BB962C8B-B14F-4D97-AF65-F5344CB8AC3E}">
        <p14:creationId xmlns:p14="http://schemas.microsoft.com/office/powerpoint/2010/main" val="3976057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D612184-50BB-4430-B529-84FEFBFEE287}"/>
              </a:ext>
            </a:extLst>
          </p:cNvPr>
          <p:cNvCxnSpPr>
            <a:stCxn xmlns:a="http://schemas.openxmlformats.org/drawingml/2006/main" id="9" idx="2"/>
            <a:endCxn xmlns:a="http://schemas.openxmlformats.org/drawingml/2006/main" id="10" idx="0"/>
          </p:cNvCxnSpPr>
          <p:nvPr/>
        </p:nvCxnSpPr>
        <p:spPr>
          <a:xfrm xmlns:a="http://schemas.openxmlformats.org/drawingml/2006/main">
            <a:off x="6291263" y="3133725"/>
            <a:ext cx="0" cy="1133475"/>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9138D52-0BA0-4C5E-9F5E-5392D1B2F856}"/>
              </a:ext>
            </a:extLst>
          </p:cNvPr>
          <p:cNvCxnSpPr>
            <a:stCxn xmlns:a="http://schemas.openxmlformats.org/drawingml/2006/main" id="6" idx="2"/>
            <a:endCxn xmlns:a="http://schemas.openxmlformats.org/drawingml/2006/main" id="7" idx="0"/>
          </p:cNvCxnSpPr>
          <p:nvPr/>
        </p:nvCxnSpPr>
        <p:spPr>
          <a:xfrm xmlns:a="http://schemas.openxmlformats.org/drawingml/2006/main">
            <a:off x="2176463" y="3133725"/>
            <a:ext cx="0" cy="1133475"/>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8" name="shape-246">
            <a:extLst xmlns:a="http://schemas.openxmlformats.org/drawingml/2006/main">
              <a:ext uri="{FF2B5EF4-FFF2-40B4-BE49-F238E27FC236}">
                <a16:creationId xmlns:a16="http://schemas.microsoft.com/office/drawing/2014/main" id="{59DD94FE-E01E-4973-9E79-9484DC80AB6E}"/>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15 / CANCELLATIONS</a:t>
            </a:r>
          </a:p>
        </p:txBody>
      </p:sp>
      <p:sp>
        <p:nvSpPr>
          <p:cNvPr id="2" name="shape-247">
            <a:extLst xmlns:a="http://schemas.openxmlformats.org/drawingml/2006/main">
              <a:ext uri="{FF2B5EF4-FFF2-40B4-BE49-F238E27FC236}">
                <a16:creationId xmlns:a16="http://schemas.microsoft.com/office/drawing/2014/main" id="{E8AF3A81-0A69-42FA-B47E-C452FCD135E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cancelled train run is different from a cancelled ticket</a:t>
            </a:r>
          </a:p>
        </p:txBody>
      </p:sp>
      <p:sp>
        <p:nvSpPr>
          <p:cNvPr id="3" name="shape-248">
            <a:extLst xmlns:a="http://schemas.openxmlformats.org/drawingml/2006/main">
              <a:ext uri="{FF2B5EF4-FFF2-40B4-BE49-F238E27FC236}">
                <a16:creationId xmlns:a16="http://schemas.microsoft.com/office/drawing/2014/main" id="{8AFDBA75-C475-44D0-8DCC-8B8FD34517AB}"/>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The reason determines the refund policy and affected scope.</a:t>
            </a:r>
          </a:p>
        </p:txBody>
      </p:sp>
      <p:sp>
        <p:nvSpPr>
          <p:cNvPr id="4" name="shape-249">
            <a:extLst xmlns:a="http://schemas.openxmlformats.org/drawingml/2006/main">
              <a:ext uri="{FF2B5EF4-FFF2-40B4-BE49-F238E27FC236}">
                <a16:creationId xmlns:a16="http://schemas.microsoft.com/office/drawing/2014/main" id="{1CFF38D0-E368-464E-A972-A8A1D32AE6D7}"/>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50">
            <a:extLst xmlns:a="http://schemas.openxmlformats.org/drawingml/2006/main">
              <a:ext uri="{FF2B5EF4-FFF2-40B4-BE49-F238E27FC236}">
                <a16:creationId xmlns:a16="http://schemas.microsoft.com/office/drawing/2014/main" id="{47A29672-823D-4EE1-87AF-1E84AF9D2F7F}"/>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16 / 28</a:t>
            </a:r>
          </a:p>
        </p:txBody>
      </p:sp>
      <p:sp>
        <p:nvSpPr>
          <p:cNvPr id="6" name="shape-251">
            <a:extLst xmlns:a="http://schemas.openxmlformats.org/drawingml/2006/main">
              <a:ext uri="{FF2B5EF4-FFF2-40B4-BE49-F238E27FC236}">
                <a16:creationId xmlns:a16="http://schemas.microsoft.com/office/drawing/2014/main" id="{878BCA0D-5C04-4013-B68C-639BBE143621}"/>
              </a:ext>
            </a:extLst>
          </p:cNvPr>
          <p:cNvSpPr>
            <a:spLocks xmlns:a="http://schemas.openxmlformats.org/drawingml/2006/main" noGrp="1"/>
          </p:cNvSpPr>
          <p:nvPr/>
        </p:nvSpPr>
        <p:spPr>
          <a:xfrm xmlns:a="http://schemas.openxmlformats.org/drawingml/2006/main">
            <a:off x="533400" y="2276475"/>
            <a:ext cx="3286125"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Passenger cancels</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one booking</a:t>
            </a:r>
          </a:p>
        </p:txBody>
      </p:sp>
      <p:sp>
        <p:nvSpPr>
          <p:cNvPr id="7" name="shape-252">
            <a:extLst xmlns:a="http://schemas.openxmlformats.org/drawingml/2006/main">
              <a:ext uri="{FF2B5EF4-FFF2-40B4-BE49-F238E27FC236}">
                <a16:creationId xmlns:a16="http://schemas.microsoft.com/office/drawing/2014/main" id="{3507A624-EAB6-44BB-A3F9-3E33BC061219}"/>
              </a:ext>
            </a:extLst>
          </p:cNvPr>
          <p:cNvSpPr>
            <a:spLocks xmlns:a="http://schemas.openxmlformats.org/drawingml/2006/main" noGrp="1"/>
          </p:cNvSpPr>
          <p:nvPr/>
        </p:nvSpPr>
        <p:spPr>
          <a:xfrm xmlns:a="http://schemas.openxmlformats.org/drawingml/2006/main">
            <a:off x="533400" y="4267200"/>
            <a:ext cx="3286125" cy="9334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CNF: configured fee</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WL: full refund</a:t>
            </a:r>
          </a:p>
        </p:txBody>
      </p:sp>
      <p:sp>
        <p:nvSpPr>
          <p:cNvPr id="9" name="shape-253">
            <a:extLst xmlns:a="http://schemas.openxmlformats.org/drawingml/2006/main">
              <a:ext uri="{FF2B5EF4-FFF2-40B4-BE49-F238E27FC236}">
                <a16:creationId xmlns:a16="http://schemas.microsoft.com/office/drawing/2014/main" id="{66F6EA06-1941-422F-992D-49489E15B04D}"/>
              </a:ext>
            </a:extLst>
          </p:cNvPr>
          <p:cNvSpPr>
            <a:spLocks xmlns:a="http://schemas.openxmlformats.org/drawingml/2006/main" noGrp="1"/>
          </p:cNvSpPr>
          <p:nvPr/>
        </p:nvSpPr>
        <p:spPr>
          <a:xfrm xmlns:a="http://schemas.openxmlformats.org/drawingml/2006/main">
            <a:off x="4648200" y="2276475"/>
            <a:ext cx="3286125" cy="857250"/>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Admin cancels</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one dated run</a:t>
            </a:r>
          </a:p>
        </p:txBody>
      </p:sp>
      <p:sp>
        <p:nvSpPr>
          <p:cNvPr id="10" name="shape-254">
            <a:extLst xmlns:a="http://schemas.openxmlformats.org/drawingml/2006/main">
              <a:ext uri="{FF2B5EF4-FFF2-40B4-BE49-F238E27FC236}">
                <a16:creationId xmlns:a16="http://schemas.microsoft.com/office/drawing/2014/main" id="{28C1E9C6-F947-4977-9EA9-6A17892E080F}"/>
              </a:ext>
            </a:extLst>
          </p:cNvPr>
          <p:cNvSpPr>
            <a:spLocks xmlns:a="http://schemas.openxmlformats.org/drawingml/2006/main" noGrp="1"/>
          </p:cNvSpPr>
          <p:nvPr/>
        </p:nvSpPr>
        <p:spPr>
          <a:xfrm xmlns:a="http://schemas.openxmlformats.org/drawingml/2006/main">
            <a:off x="4648200" y="4267200"/>
            <a:ext cx="3286125" cy="9334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Affected bookings</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Full refund + notice</a:t>
            </a:r>
          </a:p>
        </p:txBody>
      </p:sp>
      <p:sp>
        <p:nvSpPr>
          <p:cNvPr id="12" name="shape-255">
            <a:extLst xmlns:a="http://schemas.openxmlformats.org/drawingml/2006/main">
              <a:ext uri="{FF2B5EF4-FFF2-40B4-BE49-F238E27FC236}">
                <a16:creationId xmlns:a16="http://schemas.microsoft.com/office/drawing/2014/main" id="{D379AE84-003C-4A77-9927-541B9AEEAB8A}"/>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Date precision</a:t>
            </a:r>
          </a:p>
        </p:txBody>
      </p:sp>
      <p:sp>
        <p:nvSpPr>
          <p:cNvPr id="13" name="shape-256">
            <a:extLst xmlns:a="http://schemas.openxmlformats.org/drawingml/2006/main">
              <a:ext uri="{FF2B5EF4-FFF2-40B4-BE49-F238E27FC236}">
                <a16:creationId xmlns:a16="http://schemas.microsoft.com/office/drawing/2014/main" id="{6E825812-FB6D-47FB-9156-461D37BE780F}"/>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Use the train’s source departure date, including overnight runs.</a:t>
            </a:r>
          </a:p>
        </p:txBody>
      </p:sp>
      <p:sp>
        <p:nvSpPr>
          <p:cNvPr id="14" name="shape-257">
            <a:extLst xmlns:a="http://schemas.openxmlformats.org/drawingml/2006/main">
              <a:ext uri="{FF2B5EF4-FFF2-40B4-BE49-F238E27FC236}">
                <a16:creationId xmlns:a16="http://schemas.microsoft.com/office/drawing/2014/main" id="{83DFDF83-C0EF-49D5-8E6F-6AB00007BB9D}"/>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Preserve history</a:t>
            </a:r>
          </a:p>
        </p:txBody>
      </p:sp>
      <p:sp>
        <p:nvSpPr>
          <p:cNvPr id="15" name="shape-258">
            <a:extLst xmlns:a="http://schemas.openxmlformats.org/drawingml/2006/main">
              <a:ext uri="{FF2B5EF4-FFF2-40B4-BE49-F238E27FC236}">
                <a16:creationId xmlns:a16="http://schemas.microsoft.com/office/drawing/2014/main" id="{2CFD602E-0565-41E2-ADB4-A7D2AD74F733}"/>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Keep train, bookings and financial records for audit.</a:t>
            </a:r>
          </a:p>
        </p:txBody>
      </p:sp>
      <p:sp>
        <p:nvSpPr>
          <p:cNvPr id="16" name="shape-259">
            <a:extLst xmlns:a="http://schemas.openxmlformats.org/drawingml/2006/main">
              <a:ext uri="{FF2B5EF4-FFF2-40B4-BE49-F238E27FC236}">
                <a16:creationId xmlns:a16="http://schemas.microsoft.com/office/drawing/2014/main" id="{440965E5-5C4D-4AED-A61E-BBDC90E259ED}"/>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7" name="shape-260">
            <a:extLst xmlns:a="http://schemas.openxmlformats.org/drawingml/2006/main">
              <a:ext uri="{FF2B5EF4-FFF2-40B4-BE49-F238E27FC236}">
                <a16:creationId xmlns:a16="http://schemas.microsoft.com/office/drawing/2014/main" id="{E9AB076E-7888-42FC-A93B-1ABF4C3F49B4}"/>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Cancellation initiates a refund workflow; it does not itself prove provider processing.</a:t>
            </a:r>
          </a:p>
        </p:txBody>
      </p:sp>
    </p:spTree>
    <p:extLst>
      <p:ext uri="{BB962C8B-B14F-4D97-AF65-F5344CB8AC3E}">
        <p14:creationId xmlns:p14="http://schemas.microsoft.com/office/powerpoint/2010/main" val="1114827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D930857B-F5D6-4FF6-987F-B1A6502738EB}"/>
              </a:ext>
            </a:extLst>
          </p:cNvPr>
          <p:cNvCxnSpPr>
            <a:stCxn xmlns:a="http://schemas.openxmlformats.org/drawingml/2006/main" id="10" idx="2"/>
            <a:endCxn xmlns:a="http://schemas.openxmlformats.org/drawingml/2006/main" id="22" idx="0"/>
          </p:cNvCxnSpPr>
          <p:nvPr/>
        </p:nvCxnSpPr>
        <p:spPr>
          <a:xfrm xmlns:a="http://schemas.openxmlformats.org/drawingml/2006/main">
            <a:off x="4524375" y="3838575"/>
            <a:ext cx="2062163" cy="600075"/>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cxnSp>
        <p:nvCxnSpPr>
          <p:cNvPr id="28" name="">
            <a:extLst xmlns:a="http://schemas.openxmlformats.org/drawingml/2006/main">
              <a:ext uri="{FF2B5EF4-FFF2-40B4-BE49-F238E27FC236}">
                <a16:creationId xmlns:a16="http://schemas.microsoft.com/office/drawing/2014/main" id="{A034C18B-0032-4E56-8C8C-83E3A3A10C0D}"/>
              </a:ext>
            </a:extLst>
          </p:cNvPr>
          <p:cNvCxnSpPr>
            <a:stCxn xmlns:a="http://schemas.openxmlformats.org/drawingml/2006/main" id="18" idx="0"/>
            <a:endCxn xmlns:a="http://schemas.openxmlformats.org/drawingml/2006/main" id="10" idx="2"/>
          </p:cNvCxnSpPr>
          <p:nvPr/>
        </p:nvCxnSpPr>
        <p:spPr>
          <a:xfrm xmlns:a="http://schemas.openxmlformats.org/drawingml/2006/main" flipV="1">
            <a:off x="1747838" y="3838575"/>
            <a:ext cx="2776538" cy="600075"/>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cxnSp>
        <p:nvCxnSpPr>
          <p:cNvPr id="27" name="">
            <a:extLst xmlns:a="http://schemas.openxmlformats.org/drawingml/2006/main">
              <a:ext uri="{FF2B5EF4-FFF2-40B4-BE49-F238E27FC236}">
                <a16:creationId xmlns:a16="http://schemas.microsoft.com/office/drawing/2014/main" id="{5DB82817-19D7-458C-9127-2C95F7E86073}"/>
              </a:ext>
            </a:extLst>
          </p:cNvPr>
          <p:cNvCxnSpPr>
            <a:stCxn xmlns:a="http://schemas.openxmlformats.org/drawingml/2006/main" id="10" idx="3"/>
            <a:endCxn xmlns:a="http://schemas.openxmlformats.org/drawingml/2006/main" id="14" idx="1"/>
          </p:cNvCxnSpPr>
          <p:nvPr/>
        </p:nvCxnSpPr>
        <p:spPr>
          <a:xfrm xmlns:a="http://schemas.openxmlformats.org/drawingml/2006/main">
            <a:off x="5667375" y="3009900"/>
            <a:ext cx="64770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21CF923F-D724-45D1-855D-6CEBC98FD81F}"/>
              </a:ext>
            </a:extLst>
          </p:cNvPr>
          <p:cNvCxnSpPr>
            <a:stCxn xmlns:a="http://schemas.openxmlformats.org/drawingml/2006/main" id="6" idx="3"/>
            <a:endCxn xmlns:a="http://schemas.openxmlformats.org/drawingml/2006/main" id="10" idx="1"/>
          </p:cNvCxnSpPr>
          <p:nvPr/>
        </p:nvCxnSpPr>
        <p:spPr>
          <a:xfrm xmlns:a="http://schemas.openxmlformats.org/drawingml/2006/main">
            <a:off x="2638425" y="2895600"/>
            <a:ext cx="742950" cy="114300"/>
          </a:xfrm>
          <a:prstGeom xmlns:a="http://schemas.openxmlformats.org/drawingml/2006/main" prst="straightConnector1">
            <a:avLst/>
          </a:prstGeom>
          <a:ln xmlns:a="http://schemas.openxmlformats.org/drawingml/2006/main" w="25718">
            <a:solidFill>
              <a:srgbClr val="2459E0"/>
            </a:solidFill>
            <a:prstDash val="dash"/>
            <a:tailEnd type="arrow" w="med" len="med"/>
          </a:ln>
        </p:spPr>
      </p:cxnSp>
      <p:sp>
        <p:nvSpPr>
          <p:cNvPr id="38" name="shape-261">
            <a:extLst xmlns:a="http://schemas.openxmlformats.org/drawingml/2006/main">
              <a:ext uri="{FF2B5EF4-FFF2-40B4-BE49-F238E27FC236}">
                <a16:creationId xmlns:a16="http://schemas.microsoft.com/office/drawing/2014/main" id="{2BEA5936-5438-4B9C-BC19-CCB95E3D3679}"/>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16 / DATA MODEL</a:t>
            </a:r>
          </a:p>
        </p:txBody>
      </p:sp>
      <p:sp>
        <p:nvSpPr>
          <p:cNvPr id="2" name="shape-262">
            <a:extLst xmlns:a="http://schemas.openxmlformats.org/drawingml/2006/main">
              <a:ext uri="{FF2B5EF4-FFF2-40B4-BE49-F238E27FC236}">
                <a16:creationId xmlns:a16="http://schemas.microsoft.com/office/drawing/2014/main" id="{2C2682A1-35A2-4212-8BCE-B0B7B3302466}"/>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Ownership is explicit across service boundaries</a:t>
            </a:r>
          </a:p>
        </p:txBody>
      </p:sp>
      <p:sp>
        <p:nvSpPr>
          <p:cNvPr id="3" name="shape-263">
            <a:extLst xmlns:a="http://schemas.openxmlformats.org/drawingml/2006/main">
              <a:ext uri="{FF2B5EF4-FFF2-40B4-BE49-F238E27FC236}">
                <a16:creationId xmlns:a16="http://schemas.microsoft.com/office/drawing/2014/main" id="{A72A4544-573F-4958-ABD2-AEEA7AEC5544}"/>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This is a logical ER view; dashed links are cross-service references.</a:t>
            </a:r>
          </a:p>
        </p:txBody>
      </p:sp>
      <p:sp>
        <p:nvSpPr>
          <p:cNvPr id="4" name="shape-264">
            <a:extLst xmlns:a="http://schemas.openxmlformats.org/drawingml/2006/main">
              <a:ext uri="{FF2B5EF4-FFF2-40B4-BE49-F238E27FC236}">
                <a16:creationId xmlns:a16="http://schemas.microsoft.com/office/drawing/2014/main" id="{84DB238B-ADDE-4E7B-B84B-05F93417E6EF}"/>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65">
            <a:extLst xmlns:a="http://schemas.openxmlformats.org/drawingml/2006/main">
              <a:ext uri="{FF2B5EF4-FFF2-40B4-BE49-F238E27FC236}">
                <a16:creationId xmlns:a16="http://schemas.microsoft.com/office/drawing/2014/main" id="{7CCE41F8-6F9E-48CE-B097-98F7C65889CD}"/>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17 / 28</a:t>
            </a:r>
          </a:p>
        </p:txBody>
      </p:sp>
      <p:sp>
        <p:nvSpPr>
          <p:cNvPr id="6" name="shape-266">
            <a:extLst xmlns:a="http://schemas.openxmlformats.org/drawingml/2006/main">
              <a:ext uri="{FF2B5EF4-FFF2-40B4-BE49-F238E27FC236}">
                <a16:creationId xmlns:a16="http://schemas.microsoft.com/office/drawing/2014/main" id="{C75B9432-9682-47C0-AB8E-53CDA6F9E4EE}"/>
              </a:ext>
            </a:extLst>
          </p:cNvPr>
          <p:cNvSpPr>
            <a:spLocks xmlns:a="http://schemas.openxmlformats.org/drawingml/2006/main" noGrp="1"/>
          </p:cNvSpPr>
          <p:nvPr/>
        </p:nvSpPr>
        <p:spPr>
          <a:xfrm xmlns:a="http://schemas.openxmlformats.org/drawingml/2006/main">
            <a:off x="533400" y="2181225"/>
            <a:ext cx="2105025" cy="14287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7" name="shape-267">
            <a:extLst xmlns:a="http://schemas.openxmlformats.org/drawingml/2006/main">
              <a:ext uri="{FF2B5EF4-FFF2-40B4-BE49-F238E27FC236}">
                <a16:creationId xmlns:a16="http://schemas.microsoft.com/office/drawing/2014/main" id="{A419BFD8-23C6-4F0E-91A6-F0DC6DCE12FC}"/>
              </a:ext>
            </a:extLst>
          </p:cNvPr>
          <p:cNvSpPr>
            <a:spLocks xmlns:a="http://schemas.openxmlformats.org/drawingml/2006/main" noGrp="1"/>
          </p:cNvSpPr>
          <p:nvPr/>
        </p:nvSpPr>
        <p:spPr>
          <a:xfrm xmlns:a="http://schemas.openxmlformats.org/drawingml/2006/main">
            <a:off x="533400" y="2181225"/>
            <a:ext cx="210502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8" name="shape-268">
            <a:extLst xmlns:a="http://schemas.openxmlformats.org/drawingml/2006/main">
              <a:ext uri="{FF2B5EF4-FFF2-40B4-BE49-F238E27FC236}">
                <a16:creationId xmlns:a16="http://schemas.microsoft.com/office/drawing/2014/main" id="{F6B6FEF3-BC8E-4FE4-A40B-D674B7547A09}"/>
              </a:ext>
            </a:extLst>
          </p:cNvPr>
          <p:cNvSpPr>
            <a:spLocks xmlns:a="http://schemas.openxmlformats.org/drawingml/2006/main" noGrp="1"/>
          </p:cNvSpPr>
          <p:nvPr/>
        </p:nvSpPr>
        <p:spPr>
          <a:xfrm xmlns:a="http://schemas.openxmlformats.org/drawingml/2006/main">
            <a:off x="647700" y="2219325"/>
            <a:ext cx="1876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User</a:t>
            </a:r>
          </a:p>
        </p:txBody>
      </p:sp>
      <p:sp>
        <p:nvSpPr>
          <p:cNvPr id="9" name="shape-269">
            <a:extLst xmlns:a="http://schemas.openxmlformats.org/drawingml/2006/main">
              <a:ext uri="{FF2B5EF4-FFF2-40B4-BE49-F238E27FC236}">
                <a16:creationId xmlns:a16="http://schemas.microsoft.com/office/drawing/2014/main" id="{FA6BCDEF-E213-4B28-BFAA-502FE325E755}"/>
              </a:ext>
            </a:extLst>
          </p:cNvPr>
          <p:cNvSpPr>
            <a:spLocks xmlns:a="http://schemas.openxmlformats.org/drawingml/2006/main" noGrp="1"/>
          </p:cNvSpPr>
          <p:nvPr/>
        </p:nvSpPr>
        <p:spPr>
          <a:xfrm xmlns:a="http://schemas.openxmlformats.org/drawingml/2006/main">
            <a:off x="685800" y="2733675"/>
            <a:ext cx="18002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userId</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verified email</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account status</a:t>
            </a:r>
          </a:p>
        </p:txBody>
      </p:sp>
      <p:sp>
        <p:nvSpPr>
          <p:cNvPr id="10" name="shape-270">
            <a:extLst xmlns:a="http://schemas.openxmlformats.org/drawingml/2006/main">
              <a:ext uri="{FF2B5EF4-FFF2-40B4-BE49-F238E27FC236}">
                <a16:creationId xmlns:a16="http://schemas.microsoft.com/office/drawing/2014/main" id="{3BC0F5AD-730B-4990-9414-ECF06CEF3612}"/>
              </a:ext>
            </a:extLst>
          </p:cNvPr>
          <p:cNvSpPr>
            <a:spLocks xmlns:a="http://schemas.openxmlformats.org/drawingml/2006/main" noGrp="1"/>
          </p:cNvSpPr>
          <p:nvPr/>
        </p:nvSpPr>
        <p:spPr>
          <a:xfrm xmlns:a="http://schemas.openxmlformats.org/drawingml/2006/main">
            <a:off x="3381375" y="2181225"/>
            <a:ext cx="2286000" cy="16573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1" name="shape-271">
            <a:extLst xmlns:a="http://schemas.openxmlformats.org/drawingml/2006/main">
              <a:ext uri="{FF2B5EF4-FFF2-40B4-BE49-F238E27FC236}">
                <a16:creationId xmlns:a16="http://schemas.microsoft.com/office/drawing/2014/main" id="{31B16CCD-83E8-465B-83F1-0CD5190ABAA6}"/>
              </a:ext>
            </a:extLst>
          </p:cNvPr>
          <p:cNvSpPr>
            <a:spLocks xmlns:a="http://schemas.openxmlformats.org/drawingml/2006/main" noGrp="1"/>
          </p:cNvSpPr>
          <p:nvPr/>
        </p:nvSpPr>
        <p:spPr>
          <a:xfrm xmlns:a="http://schemas.openxmlformats.org/drawingml/2006/main">
            <a:off x="3381375" y="2181225"/>
            <a:ext cx="2286000"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12" name="shape-272">
            <a:extLst xmlns:a="http://schemas.openxmlformats.org/drawingml/2006/main">
              <a:ext uri="{FF2B5EF4-FFF2-40B4-BE49-F238E27FC236}">
                <a16:creationId xmlns:a16="http://schemas.microsoft.com/office/drawing/2014/main" id="{9F9B7103-4B4C-46AE-A273-C9BE5EBDEB7C}"/>
              </a:ext>
            </a:extLst>
          </p:cNvPr>
          <p:cNvSpPr>
            <a:spLocks xmlns:a="http://schemas.openxmlformats.org/drawingml/2006/main" noGrp="1"/>
          </p:cNvSpPr>
          <p:nvPr/>
        </p:nvSpPr>
        <p:spPr>
          <a:xfrm xmlns:a="http://schemas.openxmlformats.org/drawingml/2006/main">
            <a:off x="3495675" y="2219325"/>
            <a:ext cx="205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Booking</a:t>
            </a:r>
          </a:p>
        </p:txBody>
      </p:sp>
      <p:sp>
        <p:nvSpPr>
          <p:cNvPr id="13" name="shape-273">
            <a:extLst xmlns:a="http://schemas.openxmlformats.org/drawingml/2006/main">
              <a:ext uri="{FF2B5EF4-FFF2-40B4-BE49-F238E27FC236}">
                <a16:creationId xmlns:a16="http://schemas.microsoft.com/office/drawing/2014/main" id="{8CCF6931-5C6E-4198-A228-BAFFB54D9ABD}"/>
              </a:ext>
            </a:extLst>
          </p:cNvPr>
          <p:cNvSpPr>
            <a:spLocks xmlns:a="http://schemas.openxmlformats.org/drawingml/2006/main" noGrp="1"/>
          </p:cNvSpPr>
          <p:nvPr/>
        </p:nvSpPr>
        <p:spPr>
          <a:xfrm xmlns:a="http://schemas.openxmlformats.org/drawingml/2006/main">
            <a:off x="3533775" y="2733675"/>
            <a:ext cx="1981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bookingId · PNR</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userId · run date</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status · fare snapshot</a:t>
            </a:r>
          </a:p>
        </p:txBody>
      </p:sp>
      <p:sp>
        <p:nvSpPr>
          <p:cNvPr id="14" name="shape-274">
            <a:extLst xmlns:a="http://schemas.openxmlformats.org/drawingml/2006/main">
              <a:ext uri="{FF2B5EF4-FFF2-40B4-BE49-F238E27FC236}">
                <a16:creationId xmlns:a16="http://schemas.microsoft.com/office/drawing/2014/main" id="{797ED2A2-A9CE-4853-8101-5B18BCD1C1C0}"/>
              </a:ext>
            </a:extLst>
          </p:cNvPr>
          <p:cNvSpPr>
            <a:spLocks xmlns:a="http://schemas.openxmlformats.org/drawingml/2006/main" noGrp="1"/>
          </p:cNvSpPr>
          <p:nvPr/>
        </p:nvSpPr>
        <p:spPr>
          <a:xfrm xmlns:a="http://schemas.openxmlformats.org/drawingml/2006/main">
            <a:off x="6315075" y="2181225"/>
            <a:ext cx="1962150" cy="16573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5" name="shape-275">
            <a:extLst xmlns:a="http://schemas.openxmlformats.org/drawingml/2006/main">
              <a:ext uri="{FF2B5EF4-FFF2-40B4-BE49-F238E27FC236}">
                <a16:creationId xmlns:a16="http://schemas.microsoft.com/office/drawing/2014/main" id="{71BDCC70-996D-492F-8751-28A767D86605}"/>
              </a:ext>
            </a:extLst>
          </p:cNvPr>
          <p:cNvSpPr>
            <a:spLocks xmlns:a="http://schemas.openxmlformats.org/drawingml/2006/main" noGrp="1"/>
          </p:cNvSpPr>
          <p:nvPr/>
        </p:nvSpPr>
        <p:spPr>
          <a:xfrm xmlns:a="http://schemas.openxmlformats.org/drawingml/2006/main">
            <a:off x="6315075" y="2181225"/>
            <a:ext cx="1962150"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16" name="shape-276">
            <a:extLst xmlns:a="http://schemas.openxmlformats.org/drawingml/2006/main">
              <a:ext uri="{FF2B5EF4-FFF2-40B4-BE49-F238E27FC236}">
                <a16:creationId xmlns:a16="http://schemas.microsoft.com/office/drawing/2014/main" id="{30257E8C-0840-455D-B55C-B60A64BDDF5C}"/>
              </a:ext>
            </a:extLst>
          </p:cNvPr>
          <p:cNvSpPr>
            <a:spLocks xmlns:a="http://schemas.openxmlformats.org/drawingml/2006/main" noGrp="1"/>
          </p:cNvSpPr>
          <p:nvPr/>
        </p:nvSpPr>
        <p:spPr>
          <a:xfrm xmlns:a="http://schemas.openxmlformats.org/drawingml/2006/main">
            <a:off x="6429375" y="2219325"/>
            <a:ext cx="1733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Passenger</a:t>
            </a:r>
          </a:p>
        </p:txBody>
      </p:sp>
      <p:sp>
        <p:nvSpPr>
          <p:cNvPr id="17" name="shape-277">
            <a:extLst xmlns:a="http://schemas.openxmlformats.org/drawingml/2006/main">
              <a:ext uri="{FF2B5EF4-FFF2-40B4-BE49-F238E27FC236}">
                <a16:creationId xmlns:a16="http://schemas.microsoft.com/office/drawing/2014/main" id="{67F5ED85-751B-44AC-AE02-7F6F87B08D8F}"/>
              </a:ext>
            </a:extLst>
          </p:cNvPr>
          <p:cNvSpPr>
            <a:spLocks xmlns:a="http://schemas.openxmlformats.org/drawingml/2006/main" noGrp="1"/>
          </p:cNvSpPr>
          <p:nvPr/>
        </p:nvSpPr>
        <p:spPr>
          <a:xfrm xmlns:a="http://schemas.openxmlformats.org/drawingml/2006/main">
            <a:off x="6467475" y="2733675"/>
            <a:ext cx="1657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bookingId</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name · age</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coach · berth</a:t>
            </a:r>
          </a:p>
        </p:txBody>
      </p:sp>
      <p:sp>
        <p:nvSpPr>
          <p:cNvPr id="18" name="shape-278">
            <a:extLst xmlns:a="http://schemas.openxmlformats.org/drawingml/2006/main">
              <a:ext uri="{FF2B5EF4-FFF2-40B4-BE49-F238E27FC236}">
                <a16:creationId xmlns:a16="http://schemas.microsoft.com/office/drawing/2014/main" id="{A8317A39-F413-4396-8049-18A8749FE511}"/>
              </a:ext>
            </a:extLst>
          </p:cNvPr>
          <p:cNvSpPr>
            <a:spLocks xmlns:a="http://schemas.openxmlformats.org/drawingml/2006/main" noGrp="1"/>
          </p:cNvSpPr>
          <p:nvPr/>
        </p:nvSpPr>
        <p:spPr>
          <a:xfrm xmlns:a="http://schemas.openxmlformats.org/drawingml/2006/main">
            <a:off x="533400" y="4438650"/>
            <a:ext cx="2428875" cy="12001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9" name="shape-279">
            <a:extLst xmlns:a="http://schemas.openxmlformats.org/drawingml/2006/main">
              <a:ext uri="{FF2B5EF4-FFF2-40B4-BE49-F238E27FC236}">
                <a16:creationId xmlns:a16="http://schemas.microsoft.com/office/drawing/2014/main" id="{526DFA5A-06AB-4151-9CB3-AFB7AB137B11}"/>
              </a:ext>
            </a:extLst>
          </p:cNvPr>
          <p:cNvSpPr>
            <a:spLocks xmlns:a="http://schemas.openxmlformats.org/drawingml/2006/main" noGrp="1"/>
          </p:cNvSpPr>
          <p:nvPr/>
        </p:nvSpPr>
        <p:spPr>
          <a:xfrm xmlns:a="http://schemas.openxmlformats.org/drawingml/2006/main">
            <a:off x="533400" y="4438650"/>
            <a:ext cx="242887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20" name="shape-280">
            <a:extLst xmlns:a="http://schemas.openxmlformats.org/drawingml/2006/main">
              <a:ext uri="{FF2B5EF4-FFF2-40B4-BE49-F238E27FC236}">
                <a16:creationId xmlns:a16="http://schemas.microsoft.com/office/drawing/2014/main" id="{7F71EBF5-08A1-4922-A2AF-C57FA169F1A7}"/>
              </a:ext>
            </a:extLst>
          </p:cNvPr>
          <p:cNvSpPr>
            <a:spLocks xmlns:a="http://schemas.openxmlformats.org/drawingml/2006/main" noGrp="1"/>
          </p:cNvSpPr>
          <p:nvPr/>
        </p:nvSpPr>
        <p:spPr>
          <a:xfrm xmlns:a="http://schemas.openxmlformats.org/drawingml/2006/main">
            <a:off x="647700" y="4476750"/>
            <a:ext cx="2200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Train / Schedule</a:t>
            </a:r>
          </a:p>
        </p:txBody>
      </p:sp>
      <p:sp>
        <p:nvSpPr>
          <p:cNvPr id="21" name="shape-281">
            <a:extLst xmlns:a="http://schemas.openxmlformats.org/drawingml/2006/main">
              <a:ext uri="{FF2B5EF4-FFF2-40B4-BE49-F238E27FC236}">
                <a16:creationId xmlns:a16="http://schemas.microsoft.com/office/drawing/2014/main" id="{41453553-8907-493E-9315-291729C044FA}"/>
              </a:ext>
            </a:extLst>
          </p:cNvPr>
          <p:cNvSpPr>
            <a:spLocks xmlns:a="http://schemas.openxmlformats.org/drawingml/2006/main" noGrp="1"/>
          </p:cNvSpPr>
          <p:nvPr/>
        </p:nvSpPr>
        <p:spPr>
          <a:xfrm xmlns:a="http://schemas.openxmlformats.org/drawingml/2006/main">
            <a:off x="685800" y="4991100"/>
            <a:ext cx="2124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train number</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ordered stops</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cumulative km</a:t>
            </a:r>
          </a:p>
        </p:txBody>
      </p:sp>
      <p:sp>
        <p:nvSpPr>
          <p:cNvPr id="22" name="shape-282">
            <a:extLst xmlns:a="http://schemas.openxmlformats.org/drawingml/2006/main">
              <a:ext uri="{FF2B5EF4-FFF2-40B4-BE49-F238E27FC236}">
                <a16:creationId xmlns:a16="http://schemas.microsoft.com/office/drawing/2014/main" id="{A15896DC-EF5F-4354-B19D-FCAF59CC2A25}"/>
              </a:ext>
            </a:extLst>
          </p:cNvPr>
          <p:cNvSpPr>
            <a:spLocks xmlns:a="http://schemas.openxmlformats.org/drawingml/2006/main" noGrp="1"/>
          </p:cNvSpPr>
          <p:nvPr/>
        </p:nvSpPr>
        <p:spPr>
          <a:xfrm xmlns:a="http://schemas.openxmlformats.org/drawingml/2006/main">
            <a:off x="4895850" y="4438650"/>
            <a:ext cx="3381375" cy="12001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23" name="shape-283">
            <a:extLst xmlns:a="http://schemas.openxmlformats.org/drawingml/2006/main">
              <a:ext uri="{FF2B5EF4-FFF2-40B4-BE49-F238E27FC236}">
                <a16:creationId xmlns:a16="http://schemas.microsoft.com/office/drawing/2014/main" id="{131E84FD-B261-4073-8777-4340E9B0FA8D}"/>
              </a:ext>
            </a:extLst>
          </p:cNvPr>
          <p:cNvSpPr>
            <a:spLocks xmlns:a="http://schemas.openxmlformats.org/drawingml/2006/main" noGrp="1"/>
          </p:cNvSpPr>
          <p:nvPr/>
        </p:nvSpPr>
        <p:spPr>
          <a:xfrm xmlns:a="http://schemas.openxmlformats.org/drawingml/2006/main">
            <a:off x="4895850" y="4438650"/>
            <a:ext cx="338137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24" name="shape-284">
            <a:extLst xmlns:a="http://schemas.openxmlformats.org/drawingml/2006/main">
              <a:ext uri="{FF2B5EF4-FFF2-40B4-BE49-F238E27FC236}">
                <a16:creationId xmlns:a16="http://schemas.microsoft.com/office/drawing/2014/main" id="{DC0B31E5-7CFA-4902-975E-CA8667CF6877}"/>
              </a:ext>
            </a:extLst>
          </p:cNvPr>
          <p:cNvSpPr>
            <a:spLocks xmlns:a="http://schemas.openxmlformats.org/drawingml/2006/main" noGrp="1"/>
          </p:cNvSpPr>
          <p:nvPr/>
        </p:nvSpPr>
        <p:spPr>
          <a:xfrm xmlns:a="http://schemas.openxmlformats.org/drawingml/2006/main">
            <a:off x="5010150" y="4476750"/>
            <a:ext cx="3152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Payment / Refund</a:t>
            </a:r>
          </a:p>
        </p:txBody>
      </p:sp>
      <p:sp>
        <p:nvSpPr>
          <p:cNvPr id="25" name="shape-285">
            <a:extLst xmlns:a="http://schemas.openxmlformats.org/drawingml/2006/main">
              <a:ext uri="{FF2B5EF4-FFF2-40B4-BE49-F238E27FC236}">
                <a16:creationId xmlns:a16="http://schemas.microsoft.com/office/drawing/2014/main" id="{990394D6-C5BA-4B39-B637-D62DA6B1DB16}"/>
              </a:ext>
            </a:extLst>
          </p:cNvPr>
          <p:cNvSpPr>
            <a:spLocks xmlns:a="http://schemas.openxmlformats.org/drawingml/2006/main" noGrp="1"/>
          </p:cNvSpPr>
          <p:nvPr/>
        </p:nvSpPr>
        <p:spPr>
          <a:xfrm xmlns:a="http://schemas.openxmlformats.org/drawingml/2006/main">
            <a:off x="5048250" y="4991100"/>
            <a:ext cx="3076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booking reference</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provider identifiers</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processing state</a:t>
            </a:r>
          </a:p>
        </p:txBody>
      </p:sp>
      <p:sp>
        <p:nvSpPr>
          <p:cNvPr id="30" name="shape-286">
            <a:extLst xmlns:a="http://schemas.openxmlformats.org/drawingml/2006/main">
              <a:ext uri="{FF2B5EF4-FFF2-40B4-BE49-F238E27FC236}">
                <a16:creationId xmlns:a16="http://schemas.microsoft.com/office/drawing/2014/main" id="{0BFC8759-76A1-4624-AE20-8206B418BBFE}"/>
              </a:ext>
            </a:extLst>
          </p:cNvPr>
          <p:cNvSpPr>
            <a:spLocks xmlns:a="http://schemas.openxmlformats.org/drawingml/2006/main" noGrp="1"/>
          </p:cNvSpPr>
          <p:nvPr/>
        </p:nvSpPr>
        <p:spPr>
          <a:xfrm xmlns:a="http://schemas.openxmlformats.org/drawingml/2006/main">
            <a:off x="5762625" y="2847975"/>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152442"/>
                </a:solidFill>
                <a:latin typeface="Arial"/>
                <a:ea typeface="Arial"/>
                <a:cs typeface="Arial"/>
              </a:defRPr>
            </a:defPPr>
          </a:lstStyle>
          <a:p xmlns:a="http://schemas.openxmlformats.org/drawingml/2006/main">
            <a:pPr algn="l">
              <a:defRPr sz="1350" b="0">
                <a:solidFill>
                  <a:srgbClr val="152442"/>
                </a:solidFill>
                <a:latin typeface="Arial"/>
                <a:ea typeface="Arial"/>
                <a:cs typeface="Arial"/>
              </a:defRPr>
            </a:pPr>
            <a:r>
              <a:rPr sz="1350" b="0">
                <a:solidFill>
                  <a:srgbClr val="152442"/>
                </a:solidFill>
                <a:latin typeface="Arial"/>
                <a:ea typeface="Arial"/>
                <a:cs typeface="Arial"/>
              </a:rPr>
              <a:t>1</a:t>
            </a:r>
          </a:p>
        </p:txBody>
      </p:sp>
      <p:sp>
        <p:nvSpPr>
          <p:cNvPr id="31" name="shape-287">
            <a:extLst xmlns:a="http://schemas.openxmlformats.org/drawingml/2006/main">
              <a:ext uri="{FF2B5EF4-FFF2-40B4-BE49-F238E27FC236}">
                <a16:creationId xmlns:a16="http://schemas.microsoft.com/office/drawing/2014/main" id="{B4C4D7F5-E159-4482-8C3F-2109C0002CF8}"/>
              </a:ext>
            </a:extLst>
          </p:cNvPr>
          <p:cNvSpPr>
            <a:spLocks xmlns:a="http://schemas.openxmlformats.org/drawingml/2006/main" noGrp="1"/>
          </p:cNvSpPr>
          <p:nvPr/>
        </p:nvSpPr>
        <p:spPr>
          <a:xfrm xmlns:a="http://schemas.openxmlformats.org/drawingml/2006/main">
            <a:off x="5953125" y="31623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152442"/>
                </a:solidFill>
                <a:latin typeface="Arial"/>
                <a:ea typeface="Arial"/>
                <a:cs typeface="Arial"/>
              </a:defRPr>
            </a:defPPr>
          </a:lstStyle>
          <a:p xmlns:a="http://schemas.openxmlformats.org/drawingml/2006/main">
            <a:pPr algn="l">
              <a:defRPr sz="1200" b="0">
                <a:solidFill>
                  <a:srgbClr val="152442"/>
                </a:solidFill>
                <a:latin typeface="Arial"/>
                <a:ea typeface="Arial"/>
                <a:cs typeface="Arial"/>
              </a:defRPr>
            </a:pPr>
            <a:r>
              <a:rPr sz="1200" b="0">
                <a:solidFill>
                  <a:srgbClr val="152442"/>
                </a:solidFill>
                <a:latin typeface="Arial"/>
                <a:ea typeface="Arial"/>
                <a:cs typeface="Arial"/>
              </a:rPr>
              <a:t>many</a:t>
            </a:r>
          </a:p>
        </p:txBody>
      </p:sp>
      <p:sp>
        <p:nvSpPr>
          <p:cNvPr id="32" name="shape-288">
            <a:extLst xmlns:a="http://schemas.openxmlformats.org/drawingml/2006/main">
              <a:ext uri="{FF2B5EF4-FFF2-40B4-BE49-F238E27FC236}">
                <a16:creationId xmlns:a16="http://schemas.microsoft.com/office/drawing/2014/main" id="{E0FD7D20-774B-4E39-B2D1-984D95F509CD}"/>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Stable history</a:t>
            </a:r>
          </a:p>
        </p:txBody>
      </p:sp>
      <p:sp>
        <p:nvSpPr>
          <p:cNvPr id="33" name="shape-289">
            <a:extLst xmlns:a="http://schemas.openxmlformats.org/drawingml/2006/main">
              <a:ext uri="{FF2B5EF4-FFF2-40B4-BE49-F238E27FC236}">
                <a16:creationId xmlns:a16="http://schemas.microsoft.com/office/drawing/2014/main" id="{B3275E90-EB2D-4B6C-BDE6-57C5F7347416}"/>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Passenger and fare snapshots belong to a booking.</a:t>
            </a:r>
          </a:p>
        </p:txBody>
      </p:sp>
      <p:sp>
        <p:nvSpPr>
          <p:cNvPr id="34" name="shape-290">
            <a:extLst xmlns:a="http://schemas.openxmlformats.org/drawingml/2006/main">
              <a:ext uri="{FF2B5EF4-FFF2-40B4-BE49-F238E27FC236}">
                <a16:creationId xmlns:a16="http://schemas.microsoft.com/office/drawing/2014/main" id="{44F0868C-0F63-496C-8536-2627663F0A0E}"/>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Bounded ownership</a:t>
            </a:r>
          </a:p>
        </p:txBody>
      </p:sp>
      <p:sp>
        <p:nvSpPr>
          <p:cNvPr id="35" name="shape-291">
            <a:extLst xmlns:a="http://schemas.openxmlformats.org/drawingml/2006/main">
              <a:ext uri="{FF2B5EF4-FFF2-40B4-BE49-F238E27FC236}">
                <a16:creationId xmlns:a16="http://schemas.microsoft.com/office/drawing/2014/main" id="{ABBF8C2F-199A-4A2E-A7A9-6A9760B1D3D8}"/>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Eight service-owned MySQL schemas share identifiers through APIs.</a:t>
            </a:r>
          </a:p>
        </p:txBody>
      </p:sp>
      <p:sp>
        <p:nvSpPr>
          <p:cNvPr id="36" name="shape-292">
            <a:extLst xmlns:a="http://schemas.openxmlformats.org/drawingml/2006/main">
              <a:ext uri="{FF2B5EF4-FFF2-40B4-BE49-F238E27FC236}">
                <a16:creationId xmlns:a16="http://schemas.microsoft.com/office/drawing/2014/main" id="{BF6DAC6E-BEA9-4E49-888E-44C60879AD91}"/>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37" name="shape-293">
            <a:extLst xmlns:a="http://schemas.openxmlformats.org/drawingml/2006/main">
              <a:ext uri="{FF2B5EF4-FFF2-40B4-BE49-F238E27FC236}">
                <a16:creationId xmlns:a16="http://schemas.microsoft.com/office/drawing/2014/main" id="{83ED99C5-5F0E-4F4A-BBF7-0C2281248CC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Logical relationships do not imply cross-service joins or distributed database transactions.</a:t>
            </a:r>
          </a:p>
        </p:txBody>
      </p:sp>
    </p:spTree>
    <p:extLst>
      <p:ext uri="{BB962C8B-B14F-4D97-AF65-F5344CB8AC3E}">
        <p14:creationId xmlns:p14="http://schemas.microsoft.com/office/powerpoint/2010/main" val="12707946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8C485CE1-7E39-4A45-9272-F9424941F59E}"/>
              </a:ext>
            </a:extLst>
          </p:cNvPr>
          <p:cNvCxnSpPr>
            <a:stCxn xmlns:a="http://schemas.openxmlformats.org/drawingml/2006/main" id="10" idx="2"/>
            <a:endCxn xmlns:a="http://schemas.openxmlformats.org/drawingml/2006/main" id="14" idx="0"/>
          </p:cNvCxnSpPr>
          <p:nvPr/>
        </p:nvCxnSpPr>
        <p:spPr>
          <a:xfrm xmlns:a="http://schemas.openxmlformats.org/drawingml/2006/main">
            <a:off x="4576763" y="3619500"/>
            <a:ext cx="0" cy="85725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C2C7DEF6-8C54-407E-908B-BF051CA0E79B}"/>
              </a:ext>
            </a:extLst>
          </p:cNvPr>
          <p:cNvCxnSpPr>
            <a:stCxn xmlns:a="http://schemas.openxmlformats.org/drawingml/2006/main" id="10" idx="3"/>
            <a:endCxn xmlns:a="http://schemas.openxmlformats.org/drawingml/2006/main" id="18" idx="1"/>
          </p:cNvCxnSpPr>
          <p:nvPr/>
        </p:nvCxnSpPr>
        <p:spPr>
          <a:xfrm xmlns:a="http://schemas.openxmlformats.org/drawingml/2006/main">
            <a:off x="5800725" y="2952750"/>
            <a:ext cx="4476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3B39788B-9112-4884-8471-C20709F66C28}"/>
              </a:ext>
            </a:extLst>
          </p:cNvPr>
          <p:cNvCxnSpPr>
            <a:stCxn xmlns:a="http://schemas.openxmlformats.org/drawingml/2006/main" id="6" idx="3"/>
            <a:endCxn xmlns:a="http://schemas.openxmlformats.org/drawingml/2006/main" id="10" idx="1"/>
          </p:cNvCxnSpPr>
          <p:nvPr/>
        </p:nvCxnSpPr>
        <p:spPr>
          <a:xfrm xmlns:a="http://schemas.openxmlformats.org/drawingml/2006/main">
            <a:off x="2781300" y="2952750"/>
            <a:ext cx="57150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31" name="shape-294">
            <a:extLst xmlns:a="http://schemas.openxmlformats.org/drawingml/2006/main">
              <a:ext uri="{FF2B5EF4-FFF2-40B4-BE49-F238E27FC236}">
                <a16:creationId xmlns:a16="http://schemas.microsoft.com/office/drawing/2014/main" id="{2165E165-7DA4-4EDA-B400-2BEEE1968A3B}"/>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17 / CLASS RESPONSIBILITIES</a:t>
            </a:r>
          </a:p>
        </p:txBody>
      </p:sp>
      <p:sp>
        <p:nvSpPr>
          <p:cNvPr id="2" name="shape-295">
            <a:extLst xmlns:a="http://schemas.openxmlformats.org/drawingml/2006/main">
              <a:ext uri="{FF2B5EF4-FFF2-40B4-BE49-F238E27FC236}">
                <a16:creationId xmlns:a16="http://schemas.microsoft.com/office/drawing/2014/main" id="{1F83760D-5103-4510-9CEA-2534BDBE2FF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Controllers delegate business decisions to services</a:t>
            </a:r>
          </a:p>
        </p:txBody>
      </p:sp>
      <p:sp>
        <p:nvSpPr>
          <p:cNvPr id="3" name="shape-296">
            <a:extLst xmlns:a="http://schemas.openxmlformats.org/drawingml/2006/main">
              <a:ext uri="{FF2B5EF4-FFF2-40B4-BE49-F238E27FC236}">
                <a16:creationId xmlns:a16="http://schemas.microsoft.com/office/drawing/2014/main" id="{863DD107-7819-4858-9B0C-02D1E0751E53}"/>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A small collaboration view explains where the important work lives.</a:t>
            </a:r>
          </a:p>
        </p:txBody>
      </p:sp>
      <p:sp>
        <p:nvSpPr>
          <p:cNvPr id="4" name="shape-297">
            <a:extLst xmlns:a="http://schemas.openxmlformats.org/drawingml/2006/main">
              <a:ext uri="{FF2B5EF4-FFF2-40B4-BE49-F238E27FC236}">
                <a16:creationId xmlns:a16="http://schemas.microsoft.com/office/drawing/2014/main" id="{87C28802-51C9-4D69-88AE-96DB82424F41}"/>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298">
            <a:extLst xmlns:a="http://schemas.openxmlformats.org/drawingml/2006/main">
              <a:ext uri="{FF2B5EF4-FFF2-40B4-BE49-F238E27FC236}">
                <a16:creationId xmlns:a16="http://schemas.microsoft.com/office/drawing/2014/main" id="{A5B68C8B-719C-44CF-9796-A10FB4C14F19}"/>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18 / 28</a:t>
            </a:r>
          </a:p>
        </p:txBody>
      </p:sp>
      <p:sp>
        <p:nvSpPr>
          <p:cNvPr id="6" name="shape-299">
            <a:extLst xmlns:a="http://schemas.openxmlformats.org/drawingml/2006/main">
              <a:ext uri="{FF2B5EF4-FFF2-40B4-BE49-F238E27FC236}">
                <a16:creationId xmlns:a16="http://schemas.microsoft.com/office/drawing/2014/main" id="{FB798E07-1B1B-4FD2-8B43-86DA960F8D6C}"/>
              </a:ext>
            </a:extLst>
          </p:cNvPr>
          <p:cNvSpPr>
            <a:spLocks xmlns:a="http://schemas.openxmlformats.org/drawingml/2006/main" noGrp="1"/>
          </p:cNvSpPr>
          <p:nvPr/>
        </p:nvSpPr>
        <p:spPr>
          <a:xfrm xmlns:a="http://schemas.openxmlformats.org/drawingml/2006/main">
            <a:off x="533400" y="2286000"/>
            <a:ext cx="2247900" cy="13335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7" name="shape-300">
            <a:extLst xmlns:a="http://schemas.openxmlformats.org/drawingml/2006/main">
              <a:ext uri="{FF2B5EF4-FFF2-40B4-BE49-F238E27FC236}">
                <a16:creationId xmlns:a16="http://schemas.microsoft.com/office/drawing/2014/main" id="{E8E971CD-254E-446A-AD5D-2E3653CB496C}"/>
              </a:ext>
            </a:extLst>
          </p:cNvPr>
          <p:cNvSpPr>
            <a:spLocks xmlns:a="http://schemas.openxmlformats.org/drawingml/2006/main" noGrp="1"/>
          </p:cNvSpPr>
          <p:nvPr/>
        </p:nvSpPr>
        <p:spPr>
          <a:xfrm xmlns:a="http://schemas.openxmlformats.org/drawingml/2006/main">
            <a:off x="533400" y="2286000"/>
            <a:ext cx="2247900"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8" name="shape-301">
            <a:extLst xmlns:a="http://schemas.openxmlformats.org/drawingml/2006/main">
              <a:ext uri="{FF2B5EF4-FFF2-40B4-BE49-F238E27FC236}">
                <a16:creationId xmlns:a16="http://schemas.microsoft.com/office/drawing/2014/main" id="{624320B5-E11B-445C-9494-CF3532F0BF9C}"/>
              </a:ext>
            </a:extLst>
          </p:cNvPr>
          <p:cNvSpPr>
            <a:spLocks xmlns:a="http://schemas.openxmlformats.org/drawingml/2006/main" noGrp="1"/>
          </p:cNvSpPr>
          <p:nvPr/>
        </p:nvSpPr>
        <p:spPr>
          <a:xfrm xmlns:a="http://schemas.openxmlformats.org/drawingml/2006/main">
            <a:off x="647700" y="232410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Controller</a:t>
            </a:r>
          </a:p>
        </p:txBody>
      </p:sp>
      <p:sp>
        <p:nvSpPr>
          <p:cNvPr id="9" name="shape-302">
            <a:extLst xmlns:a="http://schemas.openxmlformats.org/drawingml/2006/main">
              <a:ext uri="{FF2B5EF4-FFF2-40B4-BE49-F238E27FC236}">
                <a16:creationId xmlns:a16="http://schemas.microsoft.com/office/drawing/2014/main" id="{6A1A0C47-1930-484F-96F9-3FD25F453B24}"/>
              </a:ext>
            </a:extLst>
          </p:cNvPr>
          <p:cNvSpPr>
            <a:spLocks xmlns:a="http://schemas.openxmlformats.org/drawingml/2006/main" noGrp="1"/>
          </p:cNvSpPr>
          <p:nvPr/>
        </p:nvSpPr>
        <p:spPr>
          <a:xfrm xmlns:a="http://schemas.openxmlformats.org/drawingml/2006/main">
            <a:off x="685800" y="2838450"/>
            <a:ext cx="1943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HTTP request</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DTO validation</a:t>
            </a:r>
          </a:p>
        </p:txBody>
      </p:sp>
      <p:sp>
        <p:nvSpPr>
          <p:cNvPr id="10" name="shape-303">
            <a:extLst xmlns:a="http://schemas.openxmlformats.org/drawingml/2006/main">
              <a:ext uri="{FF2B5EF4-FFF2-40B4-BE49-F238E27FC236}">
                <a16:creationId xmlns:a16="http://schemas.microsoft.com/office/drawing/2014/main" id="{FA859E56-5C22-4DE4-AE1C-917040556D76}"/>
              </a:ext>
            </a:extLst>
          </p:cNvPr>
          <p:cNvSpPr>
            <a:spLocks xmlns:a="http://schemas.openxmlformats.org/drawingml/2006/main" noGrp="1"/>
          </p:cNvSpPr>
          <p:nvPr/>
        </p:nvSpPr>
        <p:spPr>
          <a:xfrm xmlns:a="http://schemas.openxmlformats.org/drawingml/2006/main">
            <a:off x="3352800" y="2286000"/>
            <a:ext cx="2447925" cy="13335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1" name="shape-304">
            <a:extLst xmlns:a="http://schemas.openxmlformats.org/drawingml/2006/main">
              <a:ext uri="{FF2B5EF4-FFF2-40B4-BE49-F238E27FC236}">
                <a16:creationId xmlns:a16="http://schemas.microsoft.com/office/drawing/2014/main" id="{10308E34-A129-4394-AFFC-22DEEDCE862E}"/>
              </a:ext>
            </a:extLst>
          </p:cNvPr>
          <p:cNvSpPr>
            <a:spLocks xmlns:a="http://schemas.openxmlformats.org/drawingml/2006/main" noGrp="1"/>
          </p:cNvSpPr>
          <p:nvPr/>
        </p:nvSpPr>
        <p:spPr>
          <a:xfrm xmlns:a="http://schemas.openxmlformats.org/drawingml/2006/main">
            <a:off x="3352800" y="2286000"/>
            <a:ext cx="244792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12" name="shape-305">
            <a:extLst xmlns:a="http://schemas.openxmlformats.org/drawingml/2006/main">
              <a:ext uri="{FF2B5EF4-FFF2-40B4-BE49-F238E27FC236}">
                <a16:creationId xmlns:a16="http://schemas.microsoft.com/office/drawing/2014/main" id="{BAD87EFB-F0F6-433A-9915-E1798FC39177}"/>
              </a:ext>
            </a:extLst>
          </p:cNvPr>
          <p:cNvSpPr>
            <a:spLocks xmlns:a="http://schemas.openxmlformats.org/drawingml/2006/main" noGrp="1"/>
          </p:cNvSpPr>
          <p:nvPr/>
        </p:nvSpPr>
        <p:spPr>
          <a:xfrm xmlns:a="http://schemas.openxmlformats.org/drawingml/2006/main">
            <a:off x="3467100" y="2324100"/>
            <a:ext cx="2219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Service</a:t>
            </a:r>
          </a:p>
        </p:txBody>
      </p:sp>
      <p:sp>
        <p:nvSpPr>
          <p:cNvPr id="13" name="shape-306">
            <a:extLst xmlns:a="http://schemas.openxmlformats.org/drawingml/2006/main">
              <a:ext uri="{FF2B5EF4-FFF2-40B4-BE49-F238E27FC236}">
                <a16:creationId xmlns:a16="http://schemas.microsoft.com/office/drawing/2014/main" id="{8BF5ED5E-5D6C-485D-901C-6A21668C4A00}"/>
              </a:ext>
            </a:extLst>
          </p:cNvPr>
          <p:cNvSpPr>
            <a:spLocks xmlns:a="http://schemas.openxmlformats.org/drawingml/2006/main" noGrp="1"/>
          </p:cNvSpPr>
          <p:nvPr/>
        </p:nvSpPr>
        <p:spPr>
          <a:xfrm xmlns:a="http://schemas.openxmlformats.org/drawingml/2006/main">
            <a:off x="3505200" y="283845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Business rules</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Transaction boundary</a:t>
            </a:r>
          </a:p>
        </p:txBody>
      </p:sp>
      <p:sp>
        <p:nvSpPr>
          <p:cNvPr id="14" name="shape-307">
            <a:extLst xmlns:a="http://schemas.openxmlformats.org/drawingml/2006/main">
              <a:ext uri="{FF2B5EF4-FFF2-40B4-BE49-F238E27FC236}">
                <a16:creationId xmlns:a16="http://schemas.microsoft.com/office/drawing/2014/main" id="{51415F0E-2932-4B1A-95D5-6C0C97EFF536}"/>
              </a:ext>
            </a:extLst>
          </p:cNvPr>
          <p:cNvSpPr>
            <a:spLocks xmlns:a="http://schemas.openxmlformats.org/drawingml/2006/main" noGrp="1"/>
          </p:cNvSpPr>
          <p:nvPr/>
        </p:nvSpPr>
        <p:spPr>
          <a:xfrm xmlns:a="http://schemas.openxmlformats.org/drawingml/2006/main">
            <a:off x="3352800" y="4476750"/>
            <a:ext cx="2447925" cy="120015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5" name="shape-308">
            <a:extLst xmlns:a="http://schemas.openxmlformats.org/drawingml/2006/main">
              <a:ext uri="{FF2B5EF4-FFF2-40B4-BE49-F238E27FC236}">
                <a16:creationId xmlns:a16="http://schemas.microsoft.com/office/drawing/2014/main" id="{86FFD779-BBED-4B46-B8FC-C3CC538DC68F}"/>
              </a:ext>
            </a:extLst>
          </p:cNvPr>
          <p:cNvSpPr>
            <a:spLocks xmlns:a="http://schemas.openxmlformats.org/drawingml/2006/main" noGrp="1"/>
          </p:cNvSpPr>
          <p:nvPr/>
        </p:nvSpPr>
        <p:spPr>
          <a:xfrm xmlns:a="http://schemas.openxmlformats.org/drawingml/2006/main">
            <a:off x="3352800" y="4476750"/>
            <a:ext cx="244792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16" name="shape-309">
            <a:extLst xmlns:a="http://schemas.openxmlformats.org/drawingml/2006/main">
              <a:ext uri="{FF2B5EF4-FFF2-40B4-BE49-F238E27FC236}">
                <a16:creationId xmlns:a16="http://schemas.microsoft.com/office/drawing/2014/main" id="{49D211FD-F9D6-4CD1-AF7F-89FDC33E17FD}"/>
              </a:ext>
            </a:extLst>
          </p:cNvPr>
          <p:cNvSpPr>
            <a:spLocks xmlns:a="http://schemas.openxmlformats.org/drawingml/2006/main" noGrp="1"/>
          </p:cNvSpPr>
          <p:nvPr/>
        </p:nvSpPr>
        <p:spPr>
          <a:xfrm xmlns:a="http://schemas.openxmlformats.org/drawingml/2006/main">
            <a:off x="3467100" y="4514850"/>
            <a:ext cx="2219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Repository</a:t>
            </a:r>
          </a:p>
        </p:txBody>
      </p:sp>
      <p:sp>
        <p:nvSpPr>
          <p:cNvPr id="17" name="shape-310">
            <a:extLst xmlns:a="http://schemas.openxmlformats.org/drawingml/2006/main">
              <a:ext uri="{FF2B5EF4-FFF2-40B4-BE49-F238E27FC236}">
                <a16:creationId xmlns:a16="http://schemas.microsoft.com/office/drawing/2014/main" id="{78A8276E-8774-4408-954D-1427589529F4}"/>
              </a:ext>
            </a:extLst>
          </p:cNvPr>
          <p:cNvSpPr>
            <a:spLocks xmlns:a="http://schemas.openxmlformats.org/drawingml/2006/main" noGrp="1"/>
          </p:cNvSpPr>
          <p:nvPr/>
        </p:nvSpPr>
        <p:spPr>
          <a:xfrm xmlns:a="http://schemas.openxmlformats.org/drawingml/2006/main">
            <a:off x="3505200" y="5029200"/>
            <a:ext cx="2143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Entity persistence</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Query / locking</a:t>
            </a:r>
          </a:p>
        </p:txBody>
      </p:sp>
      <p:sp>
        <p:nvSpPr>
          <p:cNvPr id="18" name="shape-311">
            <a:extLst xmlns:a="http://schemas.openxmlformats.org/drawingml/2006/main">
              <a:ext uri="{FF2B5EF4-FFF2-40B4-BE49-F238E27FC236}">
                <a16:creationId xmlns:a16="http://schemas.microsoft.com/office/drawing/2014/main" id="{F6611503-8DF9-4AEA-92CC-2FF0CAB6B0DB}"/>
              </a:ext>
            </a:extLst>
          </p:cNvPr>
          <p:cNvSpPr>
            <a:spLocks xmlns:a="http://schemas.openxmlformats.org/drawingml/2006/main" noGrp="1"/>
          </p:cNvSpPr>
          <p:nvPr/>
        </p:nvSpPr>
        <p:spPr>
          <a:xfrm xmlns:a="http://schemas.openxmlformats.org/drawingml/2006/main">
            <a:off x="6248400" y="2286000"/>
            <a:ext cx="2047875" cy="1333500"/>
          </a:xfrm>
          <a:prstGeom xmlns:a="http://schemas.openxmlformats.org/drawingml/2006/main" prst="rect">
            <a:avLst/>
          </a:prstGeom>
          <a:solidFill xmlns:a="http://schemas.openxmlformats.org/drawingml/2006/main">
            <a:srgbClr val="EDF3FF"/>
          </a:solidFill>
          <a:ln xmlns:a="http://schemas.openxmlformats.org/drawingml/2006/main" w="0">
            <a:noFill/>
          </a:ln>
        </p:spPr>
      </p:sp>
      <p:sp>
        <p:nvSpPr>
          <p:cNvPr id="19" name="shape-312">
            <a:extLst xmlns:a="http://schemas.openxmlformats.org/drawingml/2006/main">
              <a:ext uri="{FF2B5EF4-FFF2-40B4-BE49-F238E27FC236}">
                <a16:creationId xmlns:a16="http://schemas.microsoft.com/office/drawing/2014/main" id="{8E5DFD5D-517F-404B-A973-73D39BBC6720}"/>
              </a:ext>
            </a:extLst>
          </p:cNvPr>
          <p:cNvSpPr>
            <a:spLocks xmlns:a="http://schemas.openxmlformats.org/drawingml/2006/main" noGrp="1"/>
          </p:cNvSpPr>
          <p:nvPr/>
        </p:nvSpPr>
        <p:spPr>
          <a:xfrm xmlns:a="http://schemas.openxmlformats.org/drawingml/2006/main">
            <a:off x="6248400" y="2286000"/>
            <a:ext cx="2047875" cy="457200"/>
          </a:xfrm>
          <a:prstGeom xmlns:a="http://schemas.openxmlformats.org/drawingml/2006/main" prst="rect">
            <a:avLst/>
          </a:prstGeom>
          <a:solidFill xmlns:a="http://schemas.openxmlformats.org/drawingml/2006/main">
            <a:srgbClr val="2459E0"/>
          </a:solidFill>
          <a:ln xmlns:a="http://schemas.openxmlformats.org/drawingml/2006/main" w="0">
            <a:noFill/>
          </a:ln>
        </p:spPr>
      </p:sp>
      <p:sp>
        <p:nvSpPr>
          <p:cNvPr id="20" name="shape-313">
            <a:extLst xmlns:a="http://schemas.openxmlformats.org/drawingml/2006/main">
              <a:ext uri="{FF2B5EF4-FFF2-40B4-BE49-F238E27FC236}">
                <a16:creationId xmlns:a16="http://schemas.microsoft.com/office/drawing/2014/main" id="{F4CF710F-6075-45A4-9BAC-7E11152F9872}"/>
              </a:ext>
            </a:extLst>
          </p:cNvPr>
          <p:cNvSpPr>
            <a:spLocks xmlns:a="http://schemas.openxmlformats.org/drawingml/2006/main" noGrp="1"/>
          </p:cNvSpPr>
          <p:nvPr/>
        </p:nvSpPr>
        <p:spPr>
          <a:xfrm xmlns:a="http://schemas.openxmlformats.org/drawingml/2006/main">
            <a:off x="6362700" y="2324100"/>
            <a:ext cx="1819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Feign client</a:t>
            </a:r>
          </a:p>
        </p:txBody>
      </p:sp>
      <p:sp>
        <p:nvSpPr>
          <p:cNvPr id="21" name="shape-314">
            <a:extLst xmlns:a="http://schemas.openxmlformats.org/drawingml/2006/main">
              <a:ext uri="{FF2B5EF4-FFF2-40B4-BE49-F238E27FC236}">
                <a16:creationId xmlns:a16="http://schemas.microsoft.com/office/drawing/2014/main" id="{A7FF638E-71A6-40E5-BC47-F4A4E580718F}"/>
              </a:ext>
            </a:extLst>
          </p:cNvPr>
          <p:cNvSpPr>
            <a:spLocks xmlns:a="http://schemas.openxmlformats.org/drawingml/2006/main" noGrp="1"/>
          </p:cNvSpPr>
          <p:nvPr/>
        </p:nvSpPr>
        <p:spPr>
          <a:xfrm xmlns:a="http://schemas.openxmlformats.org/drawingml/2006/main">
            <a:off x="6400800" y="2838450"/>
            <a:ext cx="17430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52442"/>
                </a:solidFill>
                <a:latin typeface="Arial"/>
                <a:ea typeface="Arial"/>
                <a:cs typeface="Arial"/>
              </a:defRPr>
            </a:defPPr>
          </a:lstStyle>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Remote API contract</a:t>
            </a:r>
          </a:p>
          <a:p xmlns:a="http://schemas.openxmlformats.org/drawingml/2006/main">
            <a:pPr algn="l">
              <a:defRPr sz="1650" b="0">
                <a:solidFill>
                  <a:srgbClr val="152442"/>
                </a:solidFill>
                <a:latin typeface="Arial"/>
                <a:ea typeface="Arial"/>
                <a:cs typeface="Arial"/>
              </a:defRPr>
            </a:pPr>
            <a:r>
              <a:rPr sz="1650" b="0">
                <a:solidFill>
                  <a:srgbClr val="152442"/>
                </a:solidFill>
                <a:latin typeface="Arial"/>
                <a:ea typeface="Arial"/>
                <a:cs typeface="Arial"/>
              </a:rPr>
              <a:t>Typed response</a:t>
            </a:r>
          </a:p>
        </p:txBody>
      </p:sp>
      <p:sp>
        <p:nvSpPr>
          <p:cNvPr id="25" name="shape-315">
            <a:extLst xmlns:a="http://schemas.openxmlformats.org/drawingml/2006/main">
              <a:ext uri="{FF2B5EF4-FFF2-40B4-BE49-F238E27FC236}">
                <a16:creationId xmlns:a16="http://schemas.microsoft.com/office/drawing/2014/main" id="{FC9CCF73-C2FA-4D5E-BF6F-8F7BD103EE3D}"/>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Example path</a:t>
            </a:r>
          </a:p>
        </p:txBody>
      </p:sp>
      <p:sp>
        <p:nvSpPr>
          <p:cNvPr id="26" name="shape-316">
            <a:extLst xmlns:a="http://schemas.openxmlformats.org/drawingml/2006/main">
              <a:ext uri="{FF2B5EF4-FFF2-40B4-BE49-F238E27FC236}">
                <a16:creationId xmlns:a16="http://schemas.microsoft.com/office/drawing/2014/main" id="{485CC9F5-B41E-4664-B1BF-B85B09D88919}"/>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ScheduleController → ScheduleService → ScheduleRepository.</a:t>
            </a:r>
          </a:p>
        </p:txBody>
      </p:sp>
      <p:sp>
        <p:nvSpPr>
          <p:cNvPr id="27" name="shape-317">
            <a:extLst xmlns:a="http://schemas.openxmlformats.org/drawingml/2006/main">
              <a:ext uri="{FF2B5EF4-FFF2-40B4-BE49-F238E27FC236}">
                <a16:creationId xmlns:a16="http://schemas.microsoft.com/office/drawing/2014/main" id="{32879296-141B-440D-9F24-72E58269B759}"/>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Separation</a:t>
            </a:r>
          </a:p>
        </p:txBody>
      </p:sp>
      <p:sp>
        <p:nvSpPr>
          <p:cNvPr id="28" name="shape-318">
            <a:extLst xmlns:a="http://schemas.openxmlformats.org/drawingml/2006/main">
              <a:ext uri="{FF2B5EF4-FFF2-40B4-BE49-F238E27FC236}">
                <a16:creationId xmlns:a16="http://schemas.microsoft.com/office/drawing/2014/main" id="{128E9DA2-73AC-4C06-A7B7-87E53DFB8FA0}"/>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HTTP, domain decisions and storage remain independently testable.</a:t>
            </a:r>
          </a:p>
        </p:txBody>
      </p:sp>
      <p:sp>
        <p:nvSpPr>
          <p:cNvPr id="29" name="shape-319">
            <a:extLst xmlns:a="http://schemas.openxmlformats.org/drawingml/2006/main">
              <a:ext uri="{FF2B5EF4-FFF2-40B4-BE49-F238E27FC236}">
                <a16:creationId xmlns:a16="http://schemas.microsoft.com/office/drawing/2014/main" id="{FE1D11F9-A26B-4DB9-8732-334B1EE2718A}"/>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30" name="shape-320">
            <a:extLst xmlns:a="http://schemas.openxmlformats.org/drawingml/2006/main">
              <a:ext uri="{FF2B5EF4-FFF2-40B4-BE49-F238E27FC236}">
                <a16:creationId xmlns:a16="http://schemas.microsoft.com/office/drawing/2014/main" id="{3F6FE34F-9B00-41AF-991C-228FECCFE4F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DTOs protect the API boundary; entities represent stored state.</a:t>
            </a:r>
          </a:p>
        </p:txBody>
      </p:sp>
    </p:spTree>
    <p:extLst>
      <p:ext uri="{BB962C8B-B14F-4D97-AF65-F5344CB8AC3E}">
        <p14:creationId xmlns:p14="http://schemas.microsoft.com/office/powerpoint/2010/main" val="10771545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200477D-81B4-4C1D-A7B0-B0117EC9BA7A}"/>
              </a:ext>
            </a:extLst>
          </p:cNvPr>
          <p:cNvCxnSpPr>
            <a:stCxn xmlns:a="http://schemas.openxmlformats.org/drawingml/2006/main" id="7" idx="3"/>
            <a:endCxn xmlns:a="http://schemas.openxmlformats.org/drawingml/2006/main" id="8" idx="1"/>
          </p:cNvCxnSpPr>
          <p:nvPr/>
        </p:nvCxnSpPr>
        <p:spPr>
          <a:xfrm xmlns:a="http://schemas.openxmlformats.org/drawingml/2006/main">
            <a:off x="5438775" y="27908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04493A3-2116-4E44-B24D-EDC8D0B21015}"/>
              </a:ext>
            </a:extLst>
          </p:cNvPr>
          <p:cNvCxnSpPr>
            <a:stCxn xmlns:a="http://schemas.openxmlformats.org/drawingml/2006/main" id="6" idx="3"/>
            <a:endCxn xmlns:a="http://schemas.openxmlformats.org/drawingml/2006/main" id="7" idx="1"/>
          </p:cNvCxnSpPr>
          <p:nvPr/>
        </p:nvCxnSpPr>
        <p:spPr>
          <a:xfrm xmlns:a="http://schemas.openxmlformats.org/drawingml/2006/main">
            <a:off x="2819400" y="27908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321">
            <a:extLst xmlns:a="http://schemas.openxmlformats.org/drawingml/2006/main">
              <a:ext uri="{FF2B5EF4-FFF2-40B4-BE49-F238E27FC236}">
                <a16:creationId xmlns:a16="http://schemas.microsoft.com/office/drawing/2014/main" id="{F43894A4-9E2C-4AB2-B58A-810A3BCFC0ED}"/>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18 / UPDATES</a:t>
            </a:r>
          </a:p>
        </p:txBody>
      </p:sp>
      <p:sp>
        <p:nvSpPr>
          <p:cNvPr id="2" name="shape-322">
            <a:extLst xmlns:a="http://schemas.openxmlformats.org/drawingml/2006/main">
              <a:ext uri="{FF2B5EF4-FFF2-40B4-BE49-F238E27FC236}">
                <a16:creationId xmlns:a16="http://schemas.microsoft.com/office/drawing/2014/main" id="{2C5FF44F-B8E5-4C33-84CC-6C6962AD408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 successful booking must reach the passenger</a:t>
            </a:r>
          </a:p>
        </p:txBody>
      </p:sp>
      <p:sp>
        <p:nvSpPr>
          <p:cNvPr id="3" name="shape-323">
            <a:extLst xmlns:a="http://schemas.openxmlformats.org/drawingml/2006/main">
              <a:ext uri="{FF2B5EF4-FFF2-40B4-BE49-F238E27FC236}">
                <a16:creationId xmlns:a16="http://schemas.microsoft.com/office/drawing/2014/main" id="{635C0F1D-AE4B-4C5C-8102-1D381092C0F4}"/>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Durable events connect reservation changes to email and in-app updates.</a:t>
            </a:r>
          </a:p>
        </p:txBody>
      </p:sp>
      <p:sp>
        <p:nvSpPr>
          <p:cNvPr id="4" name="shape-324">
            <a:extLst xmlns:a="http://schemas.openxmlformats.org/drawingml/2006/main">
              <a:ext uri="{FF2B5EF4-FFF2-40B4-BE49-F238E27FC236}">
                <a16:creationId xmlns:a16="http://schemas.microsoft.com/office/drawing/2014/main" id="{243BD6A2-2601-4DDC-A84B-ABE2F85441B0}"/>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25">
            <a:extLst xmlns:a="http://schemas.openxmlformats.org/drawingml/2006/main">
              <a:ext uri="{FF2B5EF4-FFF2-40B4-BE49-F238E27FC236}">
                <a16:creationId xmlns:a16="http://schemas.microsoft.com/office/drawing/2014/main" id="{0A3AD787-B94D-4AF2-A548-8CF986100432}"/>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19 / 28</a:t>
            </a:r>
          </a:p>
        </p:txBody>
      </p:sp>
      <p:sp>
        <p:nvSpPr>
          <p:cNvPr id="6" name="shape-326">
            <a:extLst xmlns:a="http://schemas.openxmlformats.org/drawingml/2006/main">
              <a:ext uri="{FF2B5EF4-FFF2-40B4-BE49-F238E27FC236}">
                <a16:creationId xmlns:a16="http://schemas.microsoft.com/office/drawing/2014/main" id="{DE1F559B-B6F8-4200-B4B6-21549C48B389}"/>
              </a:ext>
            </a:extLst>
          </p:cNvPr>
          <p:cNvSpPr>
            <a:spLocks xmlns:a="http://schemas.openxmlformats.org/drawingml/2006/main" noGrp="1"/>
          </p:cNvSpPr>
          <p:nvPr/>
        </p:nvSpPr>
        <p:spPr>
          <a:xfrm xmlns:a="http://schemas.openxmlformats.org/drawingml/2006/main">
            <a:off x="533400" y="2352675"/>
            <a:ext cx="2286000" cy="8763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Booking + outbox</a:t>
            </a:r>
          </a:p>
        </p:txBody>
      </p:sp>
      <p:sp>
        <p:nvSpPr>
          <p:cNvPr id="7" name="shape-327">
            <a:extLst xmlns:a="http://schemas.openxmlformats.org/drawingml/2006/main">
              <a:ext uri="{FF2B5EF4-FFF2-40B4-BE49-F238E27FC236}">
                <a16:creationId xmlns:a16="http://schemas.microsoft.com/office/drawing/2014/main" id="{BB85D5DC-6FE6-4BDF-AF10-BE44C3EF6966}"/>
              </a:ext>
            </a:extLst>
          </p:cNvPr>
          <p:cNvSpPr>
            <a:spLocks xmlns:a="http://schemas.openxmlformats.org/drawingml/2006/main" noGrp="1"/>
          </p:cNvSpPr>
          <p:nvPr/>
        </p:nvSpPr>
        <p:spPr>
          <a:xfrm xmlns:a="http://schemas.openxmlformats.org/drawingml/2006/main">
            <a:off x="3152775" y="2352675"/>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RabbitMQ / fallback</a:t>
            </a:r>
          </a:p>
        </p:txBody>
      </p:sp>
      <p:sp>
        <p:nvSpPr>
          <p:cNvPr id="8" name="shape-328">
            <a:extLst xmlns:a="http://schemas.openxmlformats.org/drawingml/2006/main">
              <a:ext uri="{FF2B5EF4-FFF2-40B4-BE49-F238E27FC236}">
                <a16:creationId xmlns:a16="http://schemas.microsoft.com/office/drawing/2014/main" id="{062DF225-8C23-4542-9129-7D8DC11F4815}"/>
              </a:ext>
            </a:extLst>
          </p:cNvPr>
          <p:cNvSpPr>
            <a:spLocks xmlns:a="http://schemas.openxmlformats.org/drawingml/2006/main" noGrp="1"/>
          </p:cNvSpPr>
          <p:nvPr/>
        </p:nvSpPr>
        <p:spPr>
          <a:xfrm xmlns:a="http://schemas.openxmlformats.org/drawingml/2006/main">
            <a:off x="5772150" y="2352675"/>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Notification inbox</a:t>
            </a:r>
          </a:p>
        </p:txBody>
      </p:sp>
      <p:sp>
        <p:nvSpPr>
          <p:cNvPr id="11" name="shape-329">
            <a:extLst xmlns:a="http://schemas.openxmlformats.org/drawingml/2006/main">
              <a:ext uri="{FF2B5EF4-FFF2-40B4-BE49-F238E27FC236}">
                <a16:creationId xmlns:a16="http://schemas.microsoft.com/office/drawing/2014/main" id="{59E221C1-F469-4D46-BACE-125D9052D002}"/>
              </a:ext>
            </a:extLst>
          </p:cNvPr>
          <p:cNvSpPr>
            <a:spLocks xmlns:a="http://schemas.openxmlformats.org/drawingml/2006/main" noGrp="1"/>
          </p:cNvSpPr>
          <p:nvPr/>
        </p:nvSpPr>
        <p:spPr>
          <a:xfrm xmlns:a="http://schemas.openxmlformats.org/drawingml/2006/main">
            <a:off x="533400" y="4333875"/>
            <a:ext cx="3381375" cy="9525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Branded email</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Ticket PDF attachment</a:t>
            </a:r>
          </a:p>
        </p:txBody>
      </p:sp>
      <p:sp>
        <p:nvSpPr>
          <p:cNvPr id="12" name="shape-330">
            <a:extLst xmlns:a="http://schemas.openxmlformats.org/drawingml/2006/main">
              <a:ext uri="{FF2B5EF4-FFF2-40B4-BE49-F238E27FC236}">
                <a16:creationId xmlns:a16="http://schemas.microsoft.com/office/drawing/2014/main" id="{119EDB46-B727-47E8-920F-543EB7025AFB}"/>
              </a:ext>
            </a:extLst>
          </p:cNvPr>
          <p:cNvSpPr>
            <a:spLocks xmlns:a="http://schemas.openxmlformats.org/drawingml/2006/main" noGrp="1"/>
          </p:cNvSpPr>
          <p:nvPr/>
        </p:nvSpPr>
        <p:spPr>
          <a:xfrm xmlns:a="http://schemas.openxmlformats.org/drawingml/2006/main">
            <a:off x="4533900" y="4333875"/>
            <a:ext cx="3571875" cy="95250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In-app notifications</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Active polling: ~5 seconds</a:t>
            </a:r>
          </a:p>
        </p:txBody>
      </p:sp>
      <p:sp>
        <p:nvSpPr>
          <p:cNvPr id="13" name="shape-331">
            <a:extLst xmlns:a="http://schemas.openxmlformats.org/drawingml/2006/main">
              <a:ext uri="{FF2B5EF4-FFF2-40B4-BE49-F238E27FC236}">
                <a16:creationId xmlns:a16="http://schemas.microsoft.com/office/drawing/2014/main" id="{E92511CD-320A-4620-8EF4-5302C97B9B43}"/>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Important moments</a:t>
            </a:r>
          </a:p>
        </p:txBody>
      </p:sp>
      <p:sp>
        <p:nvSpPr>
          <p:cNvPr id="14" name="shape-332">
            <a:extLst xmlns:a="http://schemas.openxmlformats.org/drawingml/2006/main">
              <a:ext uri="{FF2B5EF4-FFF2-40B4-BE49-F238E27FC236}">
                <a16:creationId xmlns:a16="http://schemas.microsoft.com/office/drawing/2014/main" id="{DE783519-D126-4C7C-B9A9-39C22C91306B}"/>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Confirmation, payment failure, cancellation, promotion and refund.</a:t>
            </a:r>
          </a:p>
        </p:txBody>
      </p:sp>
      <p:sp>
        <p:nvSpPr>
          <p:cNvPr id="15" name="shape-333">
            <a:extLst xmlns:a="http://schemas.openxmlformats.org/drawingml/2006/main">
              <a:ext uri="{FF2B5EF4-FFF2-40B4-BE49-F238E27FC236}">
                <a16:creationId xmlns:a16="http://schemas.microsoft.com/office/drawing/2014/main" id="{26D8FE2B-5B0F-4367-B110-C9DBC8B20F90}"/>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Reliability</a:t>
            </a:r>
          </a:p>
        </p:txBody>
      </p:sp>
      <p:sp>
        <p:nvSpPr>
          <p:cNvPr id="16" name="shape-334">
            <a:extLst xmlns:a="http://schemas.openxmlformats.org/drawingml/2006/main">
              <a:ext uri="{FF2B5EF4-FFF2-40B4-BE49-F238E27FC236}">
                <a16:creationId xmlns:a16="http://schemas.microsoft.com/office/drawing/2014/main" id="{0A73F06A-239A-44D7-A2C9-0795DDFCF5AE}"/>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Durable records, deduplication and retries reduce lost updates.</a:t>
            </a:r>
          </a:p>
        </p:txBody>
      </p:sp>
      <p:sp>
        <p:nvSpPr>
          <p:cNvPr id="17" name="shape-335">
            <a:extLst xmlns:a="http://schemas.openxmlformats.org/drawingml/2006/main">
              <a:ext uri="{FF2B5EF4-FFF2-40B4-BE49-F238E27FC236}">
                <a16:creationId xmlns:a16="http://schemas.microsoft.com/office/drawing/2014/main" id="{791772C5-4520-4F2F-AD1D-EFA2567B628E}"/>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336">
            <a:extLst xmlns:a="http://schemas.openxmlformats.org/drawingml/2006/main">
              <a:ext uri="{FF2B5EF4-FFF2-40B4-BE49-F238E27FC236}">
                <a16:creationId xmlns:a16="http://schemas.microsoft.com/office/drawing/2014/main" id="{21FD67CE-030E-4AAC-B911-142F1B76787B}"/>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Account emails cover OTP, welcome, reset and admin invitations with matching branding.</a:t>
            </a:r>
          </a:p>
        </p:txBody>
      </p:sp>
    </p:spTree>
    <p:extLst>
      <p:ext uri="{BB962C8B-B14F-4D97-AF65-F5344CB8AC3E}">
        <p14:creationId xmlns:p14="http://schemas.microsoft.com/office/powerpoint/2010/main" val="18083327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4697175-5C79-4F68-AB70-1954ED26534C}"/>
              </a:ext>
            </a:extLst>
          </p:cNvPr>
          <p:cNvCxnSpPr>
            <a:stCxn xmlns:a="http://schemas.openxmlformats.org/drawingml/2006/main" id="6" idx="2"/>
            <a:endCxn xmlns:a="http://schemas.openxmlformats.org/drawingml/2006/main" id="10" idx="0"/>
          </p:cNvCxnSpPr>
          <p:nvPr/>
        </p:nvCxnSpPr>
        <p:spPr>
          <a:xfrm xmlns:a="http://schemas.openxmlformats.org/drawingml/2006/main">
            <a:off x="4181475" y="4133850"/>
            <a:ext cx="2700338" cy="56197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2CDA5BEB-617C-49E6-9AFC-FB162DBD59B3}"/>
              </a:ext>
            </a:extLst>
          </p:cNvPr>
          <p:cNvCxnSpPr>
            <a:stCxn xmlns:a="http://schemas.openxmlformats.org/drawingml/2006/main" id="6" idx="2"/>
            <a:endCxn xmlns:a="http://schemas.openxmlformats.org/drawingml/2006/main" id="9" idx="0"/>
          </p:cNvCxnSpPr>
          <p:nvPr/>
        </p:nvCxnSpPr>
        <p:spPr>
          <a:xfrm xmlns:a="http://schemas.openxmlformats.org/drawingml/2006/main" flipH="1">
            <a:off x="1795463" y="4133850"/>
            <a:ext cx="2386013" cy="56197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B7581722-0753-402E-8954-C0119FEC52BD}"/>
              </a:ext>
            </a:extLst>
          </p:cNvPr>
          <p:cNvCxnSpPr>
            <a:stCxn xmlns:a="http://schemas.openxmlformats.org/drawingml/2006/main" id="6" idx="0"/>
            <a:endCxn xmlns:a="http://schemas.openxmlformats.org/drawingml/2006/main" id="8" idx="2"/>
          </p:cNvCxnSpPr>
          <p:nvPr/>
        </p:nvCxnSpPr>
        <p:spPr>
          <a:xfrm xmlns:a="http://schemas.openxmlformats.org/drawingml/2006/main" flipV="1">
            <a:off x="4181475" y="2895600"/>
            <a:ext cx="2700338" cy="42862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D7B162AB-5A3C-4795-95C3-FD7CCE54DE17}"/>
              </a:ext>
            </a:extLst>
          </p:cNvPr>
          <p:cNvCxnSpPr>
            <a:stCxn xmlns:a="http://schemas.openxmlformats.org/drawingml/2006/main" id="6" idx="0"/>
            <a:endCxn xmlns:a="http://schemas.openxmlformats.org/drawingml/2006/main" id="7" idx="2"/>
          </p:cNvCxnSpPr>
          <p:nvPr/>
        </p:nvCxnSpPr>
        <p:spPr>
          <a:xfrm xmlns:a="http://schemas.openxmlformats.org/drawingml/2006/main" flipH="1" flipV="1">
            <a:off x="1795463" y="2895600"/>
            <a:ext cx="2386013" cy="42862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sp>
        <p:nvSpPr>
          <p:cNvPr id="21" name="shape-337">
            <a:extLst xmlns:a="http://schemas.openxmlformats.org/drawingml/2006/main">
              <a:ext uri="{FF2B5EF4-FFF2-40B4-BE49-F238E27FC236}">
                <a16:creationId xmlns:a16="http://schemas.microsoft.com/office/drawing/2014/main" id="{0726C16C-AF54-4F1D-8310-9D3227273600}"/>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19 / PASSENGER CONVENIENCE</a:t>
            </a:r>
          </a:p>
        </p:txBody>
      </p:sp>
      <p:sp>
        <p:nvSpPr>
          <p:cNvPr id="2" name="shape-338">
            <a:extLst xmlns:a="http://schemas.openxmlformats.org/drawingml/2006/main">
              <a:ext uri="{FF2B5EF4-FFF2-40B4-BE49-F238E27FC236}">
                <a16:creationId xmlns:a16="http://schemas.microsoft.com/office/drawing/2014/main" id="{4C1AA6C2-A598-4662-A929-F44E1823365B}"/>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Useful details reduce repeated effort</a:t>
            </a:r>
          </a:p>
        </p:txBody>
      </p:sp>
      <p:sp>
        <p:nvSpPr>
          <p:cNvPr id="3" name="shape-339">
            <a:extLst xmlns:a="http://schemas.openxmlformats.org/drawingml/2006/main">
              <a:ext uri="{FF2B5EF4-FFF2-40B4-BE49-F238E27FC236}">
                <a16:creationId xmlns:a16="http://schemas.microsoft.com/office/drawing/2014/main" id="{91A73090-8602-486F-BDF8-0515D9D79FF2}"/>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Account-scoped tools make planning, booking and travelling easier.</a:t>
            </a:r>
          </a:p>
        </p:txBody>
      </p:sp>
      <p:sp>
        <p:nvSpPr>
          <p:cNvPr id="4" name="shape-340">
            <a:extLst xmlns:a="http://schemas.openxmlformats.org/drawingml/2006/main">
              <a:ext uri="{FF2B5EF4-FFF2-40B4-BE49-F238E27FC236}">
                <a16:creationId xmlns:a16="http://schemas.microsoft.com/office/drawing/2014/main" id="{300BCB58-B8AE-4DC1-98D4-303525F86928}"/>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41">
            <a:extLst xmlns:a="http://schemas.openxmlformats.org/drawingml/2006/main">
              <a:ext uri="{FF2B5EF4-FFF2-40B4-BE49-F238E27FC236}">
                <a16:creationId xmlns:a16="http://schemas.microsoft.com/office/drawing/2014/main" id="{4F5E831A-D589-4D02-8DE3-A315D1BC9E53}"/>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20 / 28</a:t>
            </a:r>
          </a:p>
        </p:txBody>
      </p:sp>
      <p:sp>
        <p:nvSpPr>
          <p:cNvPr id="6" name="shape-342">
            <a:extLst xmlns:a="http://schemas.openxmlformats.org/drawingml/2006/main">
              <a:ext uri="{FF2B5EF4-FFF2-40B4-BE49-F238E27FC236}">
                <a16:creationId xmlns:a16="http://schemas.microsoft.com/office/drawing/2014/main" id="{520BEA94-AA70-4F04-AD6E-54FE235904C4}"/>
              </a:ext>
            </a:extLst>
          </p:cNvPr>
          <p:cNvSpPr>
            <a:spLocks xmlns:a="http://schemas.openxmlformats.org/drawingml/2006/main" noGrp="1"/>
          </p:cNvSpPr>
          <p:nvPr/>
        </p:nvSpPr>
        <p:spPr>
          <a:xfrm xmlns:a="http://schemas.openxmlformats.org/drawingml/2006/main">
            <a:off x="3133725" y="3324225"/>
            <a:ext cx="2095500" cy="809625"/>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My account</a:t>
            </a:r>
          </a:p>
        </p:txBody>
      </p:sp>
      <p:sp>
        <p:nvSpPr>
          <p:cNvPr id="7" name="shape-343">
            <a:extLst xmlns:a="http://schemas.openxmlformats.org/drawingml/2006/main">
              <a:ext uri="{FF2B5EF4-FFF2-40B4-BE49-F238E27FC236}">
                <a16:creationId xmlns:a16="http://schemas.microsoft.com/office/drawing/2014/main" id="{16296A62-F96B-42A0-A1F2-899AA576A4C9}"/>
              </a:ext>
            </a:extLst>
          </p:cNvPr>
          <p:cNvSpPr>
            <a:spLocks xmlns:a="http://schemas.openxmlformats.org/drawingml/2006/main" noGrp="1"/>
          </p:cNvSpPr>
          <p:nvPr/>
        </p:nvSpPr>
        <p:spPr>
          <a:xfrm xmlns:a="http://schemas.openxmlformats.org/drawingml/2006/main">
            <a:off x="533400" y="2190750"/>
            <a:ext cx="2524125" cy="7048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Saved passengers</a:t>
            </a:r>
          </a:p>
        </p:txBody>
      </p:sp>
      <p:sp>
        <p:nvSpPr>
          <p:cNvPr id="8" name="shape-344">
            <a:extLst xmlns:a="http://schemas.openxmlformats.org/drawingml/2006/main">
              <a:ext uri="{FF2B5EF4-FFF2-40B4-BE49-F238E27FC236}">
                <a16:creationId xmlns:a16="http://schemas.microsoft.com/office/drawing/2014/main" id="{E0D8C168-6702-4785-A45E-9C7917F7DDAC}"/>
              </a:ext>
            </a:extLst>
          </p:cNvPr>
          <p:cNvSpPr>
            <a:spLocks xmlns:a="http://schemas.openxmlformats.org/drawingml/2006/main" noGrp="1"/>
          </p:cNvSpPr>
          <p:nvPr/>
        </p:nvSpPr>
        <p:spPr>
          <a:xfrm xmlns:a="http://schemas.openxmlformats.org/drawingml/2006/main">
            <a:off x="5619750" y="2190750"/>
            <a:ext cx="2524125" cy="7048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Ticket PDF</a:t>
            </a:r>
          </a:p>
        </p:txBody>
      </p:sp>
      <p:sp>
        <p:nvSpPr>
          <p:cNvPr id="9" name="shape-345">
            <a:extLst xmlns:a="http://schemas.openxmlformats.org/drawingml/2006/main">
              <a:ext uri="{FF2B5EF4-FFF2-40B4-BE49-F238E27FC236}">
                <a16:creationId xmlns:a16="http://schemas.microsoft.com/office/drawing/2014/main" id="{4150C12C-227D-4B66-9E42-77AB35030FCA}"/>
              </a:ext>
            </a:extLst>
          </p:cNvPr>
          <p:cNvSpPr>
            <a:spLocks xmlns:a="http://schemas.openxmlformats.org/drawingml/2006/main" noGrp="1"/>
          </p:cNvSpPr>
          <p:nvPr/>
        </p:nvSpPr>
        <p:spPr>
          <a:xfrm xmlns:a="http://schemas.openxmlformats.org/drawingml/2006/main">
            <a:off x="533400" y="4695825"/>
            <a:ext cx="2524125" cy="7048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Recent searches</a:t>
            </a:r>
          </a:p>
        </p:txBody>
      </p:sp>
      <p:sp>
        <p:nvSpPr>
          <p:cNvPr id="10" name="shape-346">
            <a:extLst xmlns:a="http://schemas.openxmlformats.org/drawingml/2006/main">
              <a:ext uri="{FF2B5EF4-FFF2-40B4-BE49-F238E27FC236}">
                <a16:creationId xmlns:a16="http://schemas.microsoft.com/office/drawing/2014/main" id="{8E6C53F1-D318-4995-AE93-5787AB327AB0}"/>
              </a:ext>
            </a:extLst>
          </p:cNvPr>
          <p:cNvSpPr>
            <a:spLocks xmlns:a="http://schemas.openxmlformats.org/drawingml/2006/main" noGrp="1"/>
          </p:cNvSpPr>
          <p:nvPr/>
        </p:nvSpPr>
        <p:spPr>
          <a:xfrm xmlns:a="http://schemas.openxmlformats.org/drawingml/2006/main">
            <a:off x="5619750" y="4695825"/>
            <a:ext cx="2524125" cy="7048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Calendar .ics</a:t>
            </a:r>
          </a:p>
        </p:txBody>
      </p:sp>
      <p:sp>
        <p:nvSpPr>
          <p:cNvPr id="15" name="shape-347">
            <a:extLst xmlns:a="http://schemas.openxmlformats.org/drawingml/2006/main">
              <a:ext uri="{FF2B5EF4-FFF2-40B4-BE49-F238E27FC236}">
                <a16:creationId xmlns:a16="http://schemas.microsoft.com/office/drawing/2014/main" id="{29FBCB6D-9B15-4FE1-864D-158EACD0C4A9}"/>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Faster entry</a:t>
            </a:r>
          </a:p>
        </p:txBody>
      </p:sp>
      <p:sp>
        <p:nvSpPr>
          <p:cNvPr id="16" name="shape-348">
            <a:extLst xmlns:a="http://schemas.openxmlformats.org/drawingml/2006/main">
              <a:ext uri="{FF2B5EF4-FFF2-40B4-BE49-F238E27FC236}">
                <a16:creationId xmlns:a16="http://schemas.microsoft.com/office/drawing/2014/main" id="{A1986393-E1E2-4C84-B96C-CA6CA95E7FFF}"/>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Master List and account-scoped recent searches save repeated typing.</a:t>
            </a:r>
          </a:p>
        </p:txBody>
      </p:sp>
      <p:sp>
        <p:nvSpPr>
          <p:cNvPr id="17" name="shape-349">
            <a:extLst xmlns:a="http://schemas.openxmlformats.org/drawingml/2006/main">
              <a:ext uri="{FF2B5EF4-FFF2-40B4-BE49-F238E27FC236}">
                <a16:creationId xmlns:a16="http://schemas.microsoft.com/office/drawing/2014/main" id="{B8DBF654-0D84-4794-BA68-E4C767E62077}"/>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Journey readiness</a:t>
            </a:r>
          </a:p>
        </p:txBody>
      </p:sp>
      <p:sp>
        <p:nvSpPr>
          <p:cNvPr id="18" name="shape-350">
            <a:extLst xmlns:a="http://schemas.openxmlformats.org/drawingml/2006/main">
              <a:ext uri="{FF2B5EF4-FFF2-40B4-BE49-F238E27FC236}">
                <a16:creationId xmlns:a16="http://schemas.microsoft.com/office/drawing/2014/main" id="{F48B63C3-8990-4389-B251-C5023B1F28F6}"/>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Readable berth details, PDF ticket and a calendar reminder.</a:t>
            </a:r>
          </a:p>
        </p:txBody>
      </p:sp>
      <p:sp>
        <p:nvSpPr>
          <p:cNvPr id="19" name="shape-351">
            <a:extLst xmlns:a="http://schemas.openxmlformats.org/drawingml/2006/main">
              <a:ext uri="{FF2B5EF4-FFF2-40B4-BE49-F238E27FC236}">
                <a16:creationId xmlns:a16="http://schemas.microsoft.com/office/drawing/2014/main" id="{09DACD51-F9C5-4753-A608-311FE951A4E9}"/>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0" name="shape-352">
            <a:extLst xmlns:a="http://schemas.openxmlformats.org/drawingml/2006/main">
              <a:ext uri="{FF2B5EF4-FFF2-40B4-BE49-F238E27FC236}">
                <a16:creationId xmlns:a16="http://schemas.microsoft.com/office/drawing/2014/main" id="{C15AEB48-F1CC-4628-8D1B-9202E497641E}"/>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Convenience features respect account ownership and current booking status.</a:t>
            </a:r>
          </a:p>
        </p:txBody>
      </p:sp>
    </p:spTree>
    <p:extLst>
      <p:ext uri="{BB962C8B-B14F-4D97-AF65-F5344CB8AC3E}">
        <p14:creationId xmlns:p14="http://schemas.microsoft.com/office/powerpoint/2010/main" val="17864303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EA51599-2410-4853-A061-26E908C81641}"/>
              </a:ext>
            </a:extLst>
          </p:cNvPr>
          <p:cNvCxnSpPr>
            <a:stCxn xmlns:a="http://schemas.openxmlformats.org/drawingml/2006/main" id="7" idx="3"/>
            <a:endCxn xmlns:a="http://schemas.openxmlformats.org/drawingml/2006/main" id="8" idx="1"/>
          </p:cNvCxnSpPr>
          <p:nvPr/>
        </p:nvCxnSpPr>
        <p:spPr>
          <a:xfrm xmlns:a="http://schemas.openxmlformats.org/drawingml/2006/main">
            <a:off x="5438775" y="29718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49508C05-E8B3-4D06-9E01-667C97BD84B2}"/>
              </a:ext>
            </a:extLst>
          </p:cNvPr>
          <p:cNvCxnSpPr>
            <a:stCxn xmlns:a="http://schemas.openxmlformats.org/drawingml/2006/main" id="6" idx="3"/>
            <a:endCxn xmlns:a="http://schemas.openxmlformats.org/drawingml/2006/main" id="7" idx="1"/>
          </p:cNvCxnSpPr>
          <p:nvPr/>
        </p:nvCxnSpPr>
        <p:spPr>
          <a:xfrm xmlns:a="http://schemas.openxmlformats.org/drawingml/2006/main">
            <a:off x="2819400" y="29718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353">
            <a:extLst xmlns:a="http://schemas.openxmlformats.org/drawingml/2006/main">
              <a:ext uri="{FF2B5EF4-FFF2-40B4-BE49-F238E27FC236}">
                <a16:creationId xmlns:a16="http://schemas.microsoft.com/office/drawing/2014/main" id="{A4E2C5B5-C62C-4AFA-8E8B-F90AF240AB9F}"/>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20 / ADMIN WORKSPACE</a:t>
            </a:r>
          </a:p>
        </p:txBody>
      </p:sp>
      <p:sp>
        <p:nvSpPr>
          <p:cNvPr id="2" name="shape-354">
            <a:extLst xmlns:a="http://schemas.openxmlformats.org/drawingml/2006/main">
              <a:ext uri="{FF2B5EF4-FFF2-40B4-BE49-F238E27FC236}">
                <a16:creationId xmlns:a16="http://schemas.microsoft.com/office/drawing/2014/main" id="{7A9DE4D4-F28E-41A5-9119-0DEE979C6169}"/>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Operations and reporting share consistent definitions</a:t>
            </a:r>
          </a:p>
        </p:txBody>
      </p:sp>
      <p:sp>
        <p:nvSpPr>
          <p:cNvPr id="3" name="shape-355">
            <a:extLst xmlns:a="http://schemas.openxmlformats.org/drawingml/2006/main">
              <a:ext uri="{FF2B5EF4-FFF2-40B4-BE49-F238E27FC236}">
                <a16:creationId xmlns:a16="http://schemas.microsoft.com/office/drawing/2014/main" id="{323FB199-82C4-458A-8C2E-F87721A68397}"/>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give administrators practical controls without losing historical records.</a:t>
            </a:r>
          </a:p>
        </p:txBody>
      </p:sp>
      <p:sp>
        <p:nvSpPr>
          <p:cNvPr id="4" name="shape-356">
            <a:extLst xmlns:a="http://schemas.openxmlformats.org/drawingml/2006/main">
              <a:ext uri="{FF2B5EF4-FFF2-40B4-BE49-F238E27FC236}">
                <a16:creationId xmlns:a16="http://schemas.microsoft.com/office/drawing/2014/main" id="{E588D0C3-05D7-482A-825B-BDC807259E42}"/>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57">
            <a:extLst xmlns:a="http://schemas.openxmlformats.org/drawingml/2006/main">
              <a:ext uri="{FF2B5EF4-FFF2-40B4-BE49-F238E27FC236}">
                <a16:creationId xmlns:a16="http://schemas.microsoft.com/office/drawing/2014/main" id="{3CA8384C-E576-46D8-BDC9-56F197687D1C}"/>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21 / 28</a:t>
            </a:r>
          </a:p>
        </p:txBody>
      </p:sp>
      <p:sp>
        <p:nvSpPr>
          <p:cNvPr id="6" name="shape-358">
            <a:extLst xmlns:a="http://schemas.openxmlformats.org/drawingml/2006/main">
              <a:ext uri="{FF2B5EF4-FFF2-40B4-BE49-F238E27FC236}">
                <a16:creationId xmlns:a16="http://schemas.microsoft.com/office/drawing/2014/main" id="{F5846CCB-9FB0-433F-A091-7D35CB845890}"/>
              </a:ext>
            </a:extLst>
          </p:cNvPr>
          <p:cNvSpPr>
            <a:spLocks xmlns:a="http://schemas.openxmlformats.org/drawingml/2006/main" noGrp="1"/>
          </p:cNvSpPr>
          <p:nvPr/>
        </p:nvSpPr>
        <p:spPr>
          <a:xfrm xmlns:a="http://schemas.openxmlformats.org/drawingml/2006/main">
            <a:off x="533400" y="2447925"/>
            <a:ext cx="2286000" cy="10477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Catalogue</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Stations + schedules</a:t>
            </a:r>
          </a:p>
        </p:txBody>
      </p:sp>
      <p:sp>
        <p:nvSpPr>
          <p:cNvPr id="7" name="shape-359">
            <a:extLst xmlns:a="http://schemas.openxmlformats.org/drawingml/2006/main">
              <a:ext uri="{FF2B5EF4-FFF2-40B4-BE49-F238E27FC236}">
                <a16:creationId xmlns:a16="http://schemas.microsoft.com/office/drawing/2014/main" id="{74FBC044-5FA9-48C6-A11B-7861945C130E}"/>
              </a:ext>
            </a:extLst>
          </p:cNvPr>
          <p:cNvSpPr>
            <a:spLocks xmlns:a="http://schemas.openxmlformats.org/drawingml/2006/main" noGrp="1"/>
          </p:cNvSpPr>
          <p:nvPr/>
        </p:nvSpPr>
        <p:spPr>
          <a:xfrm xmlns:a="http://schemas.openxmlformats.org/drawingml/2006/main">
            <a:off x="3152775" y="2447925"/>
            <a:ext cx="2286000" cy="10477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Operations</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Users + bookings</a:t>
            </a:r>
          </a:p>
        </p:txBody>
      </p:sp>
      <p:sp>
        <p:nvSpPr>
          <p:cNvPr id="8" name="shape-360">
            <a:extLst xmlns:a="http://schemas.openxmlformats.org/drawingml/2006/main">
              <a:ext uri="{FF2B5EF4-FFF2-40B4-BE49-F238E27FC236}">
                <a16:creationId xmlns:a16="http://schemas.microsoft.com/office/drawing/2014/main" id="{1F02CDBA-689C-4C9C-8D62-4C1065E7D0F4}"/>
              </a:ext>
            </a:extLst>
          </p:cNvPr>
          <p:cNvSpPr>
            <a:spLocks xmlns:a="http://schemas.openxmlformats.org/drawingml/2006/main" noGrp="1"/>
          </p:cNvSpPr>
          <p:nvPr/>
        </p:nvSpPr>
        <p:spPr>
          <a:xfrm xmlns:a="http://schemas.openxmlformats.org/drawingml/2006/main">
            <a:off x="5772150" y="2447925"/>
            <a:ext cx="2286000" cy="10477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Reports</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Revenue + CSV</a:t>
            </a:r>
          </a:p>
        </p:txBody>
      </p:sp>
      <p:sp>
        <p:nvSpPr>
          <p:cNvPr id="11" name="shape-361">
            <a:extLst xmlns:a="http://schemas.openxmlformats.org/drawingml/2006/main">
              <a:ext uri="{FF2B5EF4-FFF2-40B4-BE49-F238E27FC236}">
                <a16:creationId xmlns:a16="http://schemas.microsoft.com/office/drawing/2014/main" id="{8593A7C7-BA5F-47AF-B7AF-D1291441AAD3}"/>
              </a:ext>
            </a:extLst>
          </p:cNvPr>
          <p:cNvSpPr>
            <a:spLocks xmlns:a="http://schemas.openxmlformats.org/drawingml/2006/main" noGrp="1"/>
          </p:cNvSpPr>
          <p:nvPr/>
        </p:nvSpPr>
        <p:spPr>
          <a:xfrm xmlns:a="http://schemas.openxmlformats.org/drawingml/2006/main">
            <a:off x="533400" y="40957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2459E0"/>
                </a:solidFill>
                <a:latin typeface="Arial"/>
                <a:ea typeface="Arial"/>
                <a:cs typeface="Arial"/>
              </a:defRPr>
            </a:defPPr>
          </a:lstStyle>
          <a:p xmlns:a="http://schemas.openxmlformats.org/drawingml/2006/main">
            <a:pPr algn="l">
              <a:defRPr sz="2400" b="1">
                <a:solidFill>
                  <a:srgbClr val="2459E0"/>
                </a:solidFill>
                <a:latin typeface="Arial"/>
                <a:ea typeface="Arial"/>
                <a:cs typeface="Arial"/>
              </a:defRPr>
            </a:pPr>
            <a:r>
              <a:rPr sz="2400" b="1">
                <a:solidFill>
                  <a:srgbClr val="2459E0"/>
                </a:solidFill>
                <a:latin typeface="Arial"/>
                <a:ea typeface="Arial"/>
                <a:cs typeface="Arial"/>
              </a:rPr>
              <a:t>Net fare position</a:t>
            </a:r>
          </a:p>
        </p:txBody>
      </p:sp>
      <p:sp>
        <p:nvSpPr>
          <p:cNvPr id="12" name="shape-362">
            <a:extLst xmlns:a="http://schemas.openxmlformats.org/drawingml/2006/main">
              <a:ext uri="{FF2B5EF4-FFF2-40B4-BE49-F238E27FC236}">
                <a16:creationId xmlns:a16="http://schemas.microsoft.com/office/drawing/2014/main" id="{C3356FD5-BB0D-4C17-92D3-B76326451C49}"/>
              </a:ext>
            </a:extLst>
          </p:cNvPr>
          <p:cNvSpPr>
            <a:spLocks xmlns:a="http://schemas.openxmlformats.org/drawingml/2006/main" noGrp="1"/>
          </p:cNvSpPr>
          <p:nvPr/>
        </p:nvSpPr>
        <p:spPr>
          <a:xfrm xmlns:a="http://schemas.openxmlformats.org/drawingml/2006/main">
            <a:off x="533400" y="4552950"/>
            <a:ext cx="7524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52442"/>
                </a:solidFill>
                <a:latin typeface="Arial"/>
                <a:ea typeface="Arial"/>
                <a:cs typeface="Arial"/>
              </a:defRPr>
            </a:defPPr>
          </a:lstStyle>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Verified paid fares − processed refunds</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 outstanding refund liabilities</a:t>
            </a:r>
          </a:p>
        </p:txBody>
      </p:sp>
      <p:sp>
        <p:nvSpPr>
          <p:cNvPr id="13" name="shape-363">
            <a:extLst xmlns:a="http://schemas.openxmlformats.org/drawingml/2006/main">
              <a:ext uri="{FF2B5EF4-FFF2-40B4-BE49-F238E27FC236}">
                <a16:creationId xmlns:a16="http://schemas.microsoft.com/office/drawing/2014/main" id="{5DE2D436-FEBC-4E21-B263-DAE0B56F063D}"/>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Management</a:t>
            </a:r>
          </a:p>
        </p:txBody>
      </p:sp>
      <p:sp>
        <p:nvSpPr>
          <p:cNvPr id="14" name="shape-364">
            <a:extLst xmlns:a="http://schemas.openxmlformats.org/drawingml/2006/main">
              <a:ext uri="{FF2B5EF4-FFF2-40B4-BE49-F238E27FC236}">
                <a16:creationId xmlns:a16="http://schemas.microsoft.com/office/drawing/2014/main" id="{34BB6D54-8883-4E79-8DFA-50E829DC62E1}"/>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Search, filter and inspect records; invite eligible administrators.</a:t>
            </a:r>
          </a:p>
        </p:txBody>
      </p:sp>
      <p:sp>
        <p:nvSpPr>
          <p:cNvPr id="15" name="shape-365">
            <a:extLst xmlns:a="http://schemas.openxmlformats.org/drawingml/2006/main">
              <a:ext uri="{FF2B5EF4-FFF2-40B4-BE49-F238E27FC236}">
                <a16:creationId xmlns:a16="http://schemas.microsoft.com/office/drawing/2014/main" id="{9B31768A-4F7B-4D32-A102-A7FB735978CB}"/>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Metrics with meaning</a:t>
            </a:r>
          </a:p>
        </p:txBody>
      </p:sp>
      <p:sp>
        <p:nvSpPr>
          <p:cNvPr id="16" name="shape-366">
            <a:extLst xmlns:a="http://schemas.openxmlformats.org/drawingml/2006/main">
              <a:ext uri="{FF2B5EF4-FFF2-40B4-BE49-F238E27FC236}">
                <a16:creationId xmlns:a16="http://schemas.microsoft.com/office/drawing/2014/main" id="{9193DD28-E3FD-415B-93A8-219FFBD276E0}"/>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Separate gross fares, cancellations and refund obligations.</a:t>
            </a:r>
          </a:p>
        </p:txBody>
      </p:sp>
      <p:sp>
        <p:nvSpPr>
          <p:cNvPr id="17" name="shape-367">
            <a:extLst xmlns:a="http://schemas.openxmlformats.org/drawingml/2006/main">
              <a:ext uri="{FF2B5EF4-FFF2-40B4-BE49-F238E27FC236}">
                <a16:creationId xmlns:a16="http://schemas.microsoft.com/office/drawing/2014/main" id="{7AAE08F8-6489-4975-8039-84E7064414C4}"/>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368">
            <a:extLst xmlns:a="http://schemas.openxmlformats.org/drawingml/2006/main">
              <a:ext uri="{FF2B5EF4-FFF2-40B4-BE49-F238E27FC236}">
                <a16:creationId xmlns:a16="http://schemas.microsoft.com/office/drawing/2014/main" id="{BF8B9575-AA5E-45FC-9930-1548D7EBE905}"/>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Report totals need clear date and status definitions to avoid misleading comparisons.</a:t>
            </a:r>
          </a:p>
        </p:txBody>
      </p:sp>
    </p:spTree>
    <p:extLst>
      <p:ext uri="{BB962C8B-B14F-4D97-AF65-F5344CB8AC3E}">
        <p14:creationId xmlns:p14="http://schemas.microsoft.com/office/powerpoint/2010/main" val="16145015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87974AD-EDD6-4D9E-BC17-560971203C91}"/>
              </a:ext>
            </a:extLst>
          </p:cNvPr>
          <p:cNvCxnSpPr>
            <a:stCxn xmlns:a="http://schemas.openxmlformats.org/drawingml/2006/main" id="7" idx="3"/>
            <a:endCxn xmlns:a="http://schemas.openxmlformats.org/drawingml/2006/main" id="8" idx="1"/>
          </p:cNvCxnSpPr>
          <p:nvPr/>
        </p:nvCxnSpPr>
        <p:spPr>
          <a:xfrm xmlns:a="http://schemas.openxmlformats.org/drawingml/2006/main">
            <a:off x="5438775" y="3167063"/>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9D69CDD-73E8-4DB6-ACDE-D8D2961763FC}"/>
              </a:ext>
            </a:extLst>
          </p:cNvPr>
          <p:cNvCxnSpPr>
            <a:stCxn xmlns:a="http://schemas.openxmlformats.org/drawingml/2006/main" id="6" idx="3"/>
            <a:endCxn xmlns:a="http://schemas.openxmlformats.org/drawingml/2006/main" id="7" idx="1"/>
          </p:cNvCxnSpPr>
          <p:nvPr/>
        </p:nvCxnSpPr>
        <p:spPr>
          <a:xfrm xmlns:a="http://schemas.openxmlformats.org/drawingml/2006/main">
            <a:off x="2819400" y="3167063"/>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8" name="shape-369">
            <a:extLst xmlns:a="http://schemas.openxmlformats.org/drawingml/2006/main">
              <a:ext uri="{FF2B5EF4-FFF2-40B4-BE49-F238E27FC236}">
                <a16:creationId xmlns:a16="http://schemas.microsoft.com/office/drawing/2014/main" id="{372F63FC-03CF-4BC6-B637-398E7528FA43}"/>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21 / SUPPORT</a:t>
            </a:r>
          </a:p>
        </p:txBody>
      </p:sp>
      <p:sp>
        <p:nvSpPr>
          <p:cNvPr id="2" name="shape-370">
            <a:extLst xmlns:a="http://schemas.openxmlformats.org/drawingml/2006/main">
              <a:ext uri="{FF2B5EF4-FFF2-40B4-BE49-F238E27FC236}">
                <a16:creationId xmlns:a16="http://schemas.microsoft.com/office/drawing/2014/main" id="{19CDB57E-E14C-4572-A713-1BF00599015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Help can become a tracked conversation</a:t>
            </a:r>
          </a:p>
        </p:txBody>
      </p:sp>
      <p:sp>
        <p:nvSpPr>
          <p:cNvPr id="3" name="shape-371">
            <a:extLst xmlns:a="http://schemas.openxmlformats.org/drawingml/2006/main">
              <a:ext uri="{FF2B5EF4-FFF2-40B4-BE49-F238E27FC236}">
                <a16:creationId xmlns:a16="http://schemas.microsoft.com/office/drawing/2014/main" id="{44C17C35-BC53-49DF-ACFE-5350E4162377}"/>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Users should not have to guess whether their issue reached an administrator.</a:t>
            </a:r>
          </a:p>
        </p:txBody>
      </p:sp>
      <p:sp>
        <p:nvSpPr>
          <p:cNvPr id="4" name="shape-372">
            <a:extLst xmlns:a="http://schemas.openxmlformats.org/drawingml/2006/main">
              <a:ext uri="{FF2B5EF4-FFF2-40B4-BE49-F238E27FC236}">
                <a16:creationId xmlns:a16="http://schemas.microsoft.com/office/drawing/2014/main" id="{038F5734-C444-464E-ACA0-061B02B289EF}"/>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73">
            <a:extLst xmlns:a="http://schemas.openxmlformats.org/drawingml/2006/main">
              <a:ext uri="{FF2B5EF4-FFF2-40B4-BE49-F238E27FC236}">
                <a16:creationId xmlns:a16="http://schemas.microsoft.com/office/drawing/2014/main" id="{83F124B2-F261-4407-ADFD-E38636C04A32}"/>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22 / 28</a:t>
            </a:r>
          </a:p>
        </p:txBody>
      </p:sp>
      <p:sp>
        <p:nvSpPr>
          <p:cNvPr id="6" name="shape-374">
            <a:extLst xmlns:a="http://schemas.openxmlformats.org/drawingml/2006/main">
              <a:ext uri="{FF2B5EF4-FFF2-40B4-BE49-F238E27FC236}">
                <a16:creationId xmlns:a16="http://schemas.microsoft.com/office/drawing/2014/main" id="{255694D0-0948-425F-B95F-A07452D03DA4}"/>
              </a:ext>
            </a:extLst>
          </p:cNvPr>
          <p:cNvSpPr>
            <a:spLocks xmlns:a="http://schemas.openxmlformats.org/drawingml/2006/main" noGrp="1"/>
          </p:cNvSpPr>
          <p:nvPr/>
        </p:nvSpPr>
        <p:spPr>
          <a:xfrm xmlns:a="http://schemas.openxmlformats.org/drawingml/2006/main">
            <a:off x="533400" y="2714625"/>
            <a:ext cx="2286000" cy="9048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Open</a:t>
            </a:r>
          </a:p>
        </p:txBody>
      </p:sp>
      <p:sp>
        <p:nvSpPr>
          <p:cNvPr id="7" name="shape-375">
            <a:extLst xmlns:a="http://schemas.openxmlformats.org/drawingml/2006/main">
              <a:ext uri="{FF2B5EF4-FFF2-40B4-BE49-F238E27FC236}">
                <a16:creationId xmlns:a16="http://schemas.microsoft.com/office/drawing/2014/main" id="{DF2EAEB8-471C-4370-A450-A71F159263AE}"/>
              </a:ext>
            </a:extLst>
          </p:cNvPr>
          <p:cNvSpPr>
            <a:spLocks xmlns:a="http://schemas.openxmlformats.org/drawingml/2006/main" noGrp="1"/>
          </p:cNvSpPr>
          <p:nvPr/>
        </p:nvSpPr>
        <p:spPr>
          <a:xfrm xmlns:a="http://schemas.openxmlformats.org/drawingml/2006/main">
            <a:off x="3152775" y="2714625"/>
            <a:ext cx="2286000" cy="90487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In progress</a:t>
            </a:r>
          </a:p>
        </p:txBody>
      </p:sp>
      <p:sp>
        <p:nvSpPr>
          <p:cNvPr id="8" name="shape-376">
            <a:extLst xmlns:a="http://schemas.openxmlformats.org/drawingml/2006/main">
              <a:ext uri="{FF2B5EF4-FFF2-40B4-BE49-F238E27FC236}">
                <a16:creationId xmlns:a16="http://schemas.microsoft.com/office/drawing/2014/main" id="{958947CA-0953-4487-9304-F383AFE1B277}"/>
              </a:ext>
            </a:extLst>
          </p:cNvPr>
          <p:cNvSpPr>
            <a:spLocks xmlns:a="http://schemas.openxmlformats.org/drawingml/2006/main" noGrp="1"/>
          </p:cNvSpPr>
          <p:nvPr/>
        </p:nvSpPr>
        <p:spPr>
          <a:xfrm xmlns:a="http://schemas.openxmlformats.org/drawingml/2006/main">
            <a:off x="5772150" y="2714625"/>
            <a:ext cx="2286000" cy="90487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Resolved</a:t>
            </a:r>
          </a:p>
        </p:txBody>
      </p:sp>
      <p:sp>
        <p:nvSpPr>
          <p:cNvPr id="11" name="shape-377">
            <a:extLst xmlns:a="http://schemas.openxmlformats.org/drawingml/2006/main">
              <a:ext uri="{FF2B5EF4-FFF2-40B4-BE49-F238E27FC236}">
                <a16:creationId xmlns:a16="http://schemas.microsoft.com/office/drawing/2014/main" id="{22BC5279-DA03-4934-B929-1E351122ADD0}"/>
              </a:ext>
            </a:extLst>
          </p:cNvPr>
          <p:cNvSpPr>
            <a:spLocks xmlns:a="http://schemas.openxmlformats.org/drawingml/2006/main" noGrp="1"/>
          </p:cNvSpPr>
          <p:nvPr/>
        </p:nvSpPr>
        <p:spPr>
          <a:xfrm xmlns:a="http://schemas.openxmlformats.org/drawingml/2006/main">
            <a:off x="533400" y="4295775"/>
            <a:ext cx="752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459E0"/>
                </a:solidFill>
                <a:latin typeface="Arial"/>
                <a:ea typeface="Arial"/>
                <a:cs typeface="Arial"/>
              </a:defRPr>
            </a:defPPr>
          </a:lstStyle>
          <a:p xmlns:a="http://schemas.openxmlformats.org/drawingml/2006/main">
            <a:pPr algn="l">
              <a:defRPr sz="2250" b="1">
                <a:solidFill>
                  <a:srgbClr val="2459E0"/>
                </a:solidFill>
                <a:latin typeface="Arial"/>
                <a:ea typeface="Arial"/>
                <a:cs typeface="Arial"/>
              </a:defRPr>
            </a:pPr>
            <a:r>
              <a:rPr sz="2250" b="1">
                <a:solidFill>
                  <a:srgbClr val="2459E0"/>
                </a:solidFill>
                <a:latin typeface="Arial"/>
                <a:ea typeface="Arial"/>
                <a:cs typeface="Arial"/>
              </a:rPr>
              <a:t>A passenger reply can reopen</a:t>
            </a:r>
          </a:p>
          <a:p xmlns:a="http://schemas.openxmlformats.org/drawingml/2006/main">
            <a:pPr algn="l">
              <a:defRPr sz="2250" b="1">
                <a:solidFill>
                  <a:srgbClr val="2459E0"/>
                </a:solidFill>
                <a:latin typeface="Arial"/>
                <a:ea typeface="Arial"/>
                <a:cs typeface="Arial"/>
              </a:defRPr>
            </a:pPr>
            <a:r>
              <a:rPr sz="2250" b="1">
                <a:solidFill>
                  <a:srgbClr val="2459E0"/>
                </a:solidFill>
                <a:latin typeface="Arial"/>
                <a:ea typeface="Arial"/>
                <a:cs typeface="Arial"/>
              </a:rPr>
              <a:t>the conversation</a:t>
            </a:r>
          </a:p>
        </p:txBody>
      </p:sp>
      <p:sp>
        <p:nvSpPr>
          <p:cNvPr id="12" name="shape-378">
            <a:extLst xmlns:a="http://schemas.openxmlformats.org/drawingml/2006/main">
              <a:ext uri="{FF2B5EF4-FFF2-40B4-BE49-F238E27FC236}">
                <a16:creationId xmlns:a16="http://schemas.microsoft.com/office/drawing/2014/main" id="{0FB61E73-7DC9-4830-9AFE-E4289019F046}"/>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Relevant context</a:t>
            </a:r>
          </a:p>
        </p:txBody>
      </p:sp>
      <p:sp>
        <p:nvSpPr>
          <p:cNvPr id="13" name="shape-379">
            <a:extLst xmlns:a="http://schemas.openxmlformats.org/drawingml/2006/main">
              <a:ext uri="{FF2B5EF4-FFF2-40B4-BE49-F238E27FC236}">
                <a16:creationId xmlns:a16="http://schemas.microsoft.com/office/drawing/2014/main" id="{781CFABC-E394-433F-AD89-3A7D1F2D6598}"/>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Optional owned PNR and a preserved message history.</a:t>
            </a:r>
          </a:p>
        </p:txBody>
      </p:sp>
      <p:sp>
        <p:nvSpPr>
          <p:cNvPr id="14" name="shape-380">
            <a:extLst xmlns:a="http://schemas.openxmlformats.org/drawingml/2006/main">
              <a:ext uri="{FF2B5EF4-FFF2-40B4-BE49-F238E27FC236}">
                <a16:creationId xmlns:a16="http://schemas.microsoft.com/office/drawing/2014/main" id="{DB5F5080-1992-4C05-AC9E-1654C2403648}"/>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Visible progress</a:t>
            </a:r>
          </a:p>
        </p:txBody>
      </p:sp>
      <p:sp>
        <p:nvSpPr>
          <p:cNvPr id="15" name="shape-381">
            <a:extLst xmlns:a="http://schemas.openxmlformats.org/drawingml/2006/main">
              <a:ext uri="{FF2B5EF4-FFF2-40B4-BE49-F238E27FC236}">
                <a16:creationId xmlns:a16="http://schemas.microsoft.com/office/drawing/2014/main" id="{18B8E7AA-BB81-4138-B9CC-773284202175}"/>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Email and in-app updates accompany support activity.</a:t>
            </a:r>
          </a:p>
        </p:txBody>
      </p:sp>
      <p:sp>
        <p:nvSpPr>
          <p:cNvPr id="16" name="shape-382">
            <a:extLst xmlns:a="http://schemas.openxmlformats.org/drawingml/2006/main">
              <a:ext uri="{FF2B5EF4-FFF2-40B4-BE49-F238E27FC236}">
                <a16:creationId xmlns:a16="http://schemas.microsoft.com/office/drawing/2014/main" id="{B168C4FC-9ADC-4243-8BC4-3A578E5F0222}"/>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7" name="shape-383">
            <a:extLst xmlns:a="http://schemas.openxmlformats.org/drawingml/2006/main">
              <a:ext uri="{FF2B5EF4-FFF2-40B4-BE49-F238E27FC236}">
                <a16:creationId xmlns:a16="http://schemas.microsoft.com/office/drawing/2014/main" id="{3303FD45-DD76-4FFC-A0EE-BB34EA7151EA}"/>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Help articles answer common questions; support tickets handle the passenger’s specific issue.</a:t>
            </a:r>
          </a:p>
        </p:txBody>
      </p:sp>
    </p:spTree>
    <p:extLst>
      <p:ext uri="{BB962C8B-B14F-4D97-AF65-F5344CB8AC3E}">
        <p14:creationId xmlns:p14="http://schemas.microsoft.com/office/powerpoint/2010/main" val="10436086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0F3337A-307D-475C-9304-94E8673A812A}"/>
              </a:ext>
            </a:extLst>
          </p:cNvPr>
          <p:cNvCxnSpPr>
            <a:stCxn xmlns:a="http://schemas.openxmlformats.org/drawingml/2006/main" id="8" idx="3"/>
            <a:endCxn xmlns:a="http://schemas.openxmlformats.org/drawingml/2006/main" id="12" idx="1"/>
          </p:cNvCxnSpPr>
          <p:nvPr/>
        </p:nvCxnSpPr>
        <p:spPr>
          <a:xfrm xmlns:a="http://schemas.openxmlformats.org/drawingml/2006/main">
            <a:off x="5886450" y="4543425"/>
            <a:ext cx="409575" cy="4763"/>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00597808-5360-4744-BD52-19F203D807CA}"/>
              </a:ext>
            </a:extLst>
          </p:cNvPr>
          <p:cNvCxnSpPr>
            <a:stCxn xmlns:a="http://schemas.openxmlformats.org/drawingml/2006/main" id="11" idx="3"/>
            <a:endCxn xmlns:a="http://schemas.openxmlformats.org/drawingml/2006/main" id="8" idx="1"/>
          </p:cNvCxnSpPr>
          <p:nvPr/>
        </p:nvCxnSpPr>
        <p:spPr>
          <a:xfrm xmlns:a="http://schemas.openxmlformats.org/drawingml/2006/main" flipV="1">
            <a:off x="2867025" y="4543425"/>
            <a:ext cx="542925" cy="4763"/>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300F4CD2-8D49-4C4A-96C5-1D02B8D552C0}"/>
              </a:ext>
            </a:extLst>
          </p:cNvPr>
          <p:cNvCxnSpPr>
            <a:stCxn xmlns:a="http://schemas.openxmlformats.org/drawingml/2006/main" id="7" idx="2"/>
            <a:endCxn xmlns:a="http://schemas.openxmlformats.org/drawingml/2006/main" id="8" idx="0"/>
          </p:cNvCxnSpPr>
          <p:nvPr/>
        </p:nvCxnSpPr>
        <p:spPr>
          <a:xfrm xmlns:a="http://schemas.openxmlformats.org/drawingml/2006/main">
            <a:off x="4648200" y="3048000"/>
            <a:ext cx="0" cy="1076325"/>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54E8703-7BA2-4B04-9254-5ED942C5A423}"/>
              </a:ext>
            </a:extLst>
          </p:cNvPr>
          <p:cNvCxnSpPr>
            <a:stCxn xmlns:a="http://schemas.openxmlformats.org/drawingml/2006/main" id="6" idx="3"/>
            <a:endCxn xmlns:a="http://schemas.openxmlformats.org/drawingml/2006/main" id="7" idx="1"/>
          </p:cNvCxnSpPr>
          <p:nvPr/>
        </p:nvCxnSpPr>
        <p:spPr>
          <a:xfrm xmlns:a="http://schemas.openxmlformats.org/drawingml/2006/main">
            <a:off x="2867025" y="2667000"/>
            <a:ext cx="5429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2" name="shape-384">
            <a:extLst xmlns:a="http://schemas.openxmlformats.org/drawingml/2006/main">
              <a:ext uri="{FF2B5EF4-FFF2-40B4-BE49-F238E27FC236}">
                <a16:creationId xmlns:a16="http://schemas.microsoft.com/office/drawing/2014/main" id="{45EA5C59-7D1C-49FE-8991-990AAB7BAD6E}"/>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22 / AI ASSISTANT</a:t>
            </a:r>
          </a:p>
        </p:txBody>
      </p:sp>
      <p:sp>
        <p:nvSpPr>
          <p:cNvPr id="2" name="shape-385">
            <a:extLst xmlns:a="http://schemas.openxmlformats.org/drawingml/2006/main">
              <a:ext uri="{FF2B5EF4-FFF2-40B4-BE49-F238E27FC236}">
                <a16:creationId xmlns:a16="http://schemas.microsoft.com/office/drawing/2014/main" id="{D8C881A8-351B-44FA-9A32-2823D8A5D034}"/>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The assistant combines policy context with live facts</a:t>
            </a:r>
          </a:p>
        </p:txBody>
      </p:sp>
      <p:sp>
        <p:nvSpPr>
          <p:cNvPr id="3" name="shape-386">
            <a:extLst xmlns:a="http://schemas.openxmlformats.org/drawingml/2006/main">
              <a:ext uri="{FF2B5EF4-FFF2-40B4-BE49-F238E27FC236}">
                <a16:creationId xmlns:a16="http://schemas.microsoft.com/office/drawing/2014/main" id="{679AC9A1-2DB4-40B9-90FF-E77313A071E3}"/>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keep booking authority outside the language model.</a:t>
            </a:r>
          </a:p>
        </p:txBody>
      </p:sp>
      <p:sp>
        <p:nvSpPr>
          <p:cNvPr id="4" name="shape-387">
            <a:extLst xmlns:a="http://schemas.openxmlformats.org/drawingml/2006/main">
              <a:ext uri="{FF2B5EF4-FFF2-40B4-BE49-F238E27FC236}">
                <a16:creationId xmlns:a16="http://schemas.microsoft.com/office/drawing/2014/main" id="{E518B7A1-CFB3-485D-A747-463BE9CBF1B0}"/>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388">
            <a:extLst xmlns:a="http://schemas.openxmlformats.org/drawingml/2006/main">
              <a:ext uri="{FF2B5EF4-FFF2-40B4-BE49-F238E27FC236}">
                <a16:creationId xmlns:a16="http://schemas.microsoft.com/office/drawing/2014/main" id="{9AAE11BE-60B6-4142-9607-30B85C6491DF}"/>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23 / 28</a:t>
            </a:r>
          </a:p>
        </p:txBody>
      </p:sp>
      <p:sp>
        <p:nvSpPr>
          <p:cNvPr id="6" name="shape-389">
            <a:extLst xmlns:a="http://schemas.openxmlformats.org/drawingml/2006/main">
              <a:ext uri="{FF2B5EF4-FFF2-40B4-BE49-F238E27FC236}">
                <a16:creationId xmlns:a16="http://schemas.microsoft.com/office/drawing/2014/main" id="{B248DA04-CD76-4DCD-8BC9-3C7340FAAACC}"/>
              </a:ext>
            </a:extLst>
          </p:cNvPr>
          <p:cNvSpPr>
            <a:spLocks xmlns:a="http://schemas.openxmlformats.org/drawingml/2006/main" noGrp="1"/>
          </p:cNvSpPr>
          <p:nvPr/>
        </p:nvSpPr>
        <p:spPr>
          <a:xfrm xmlns:a="http://schemas.openxmlformats.org/drawingml/2006/main">
            <a:off x="533400" y="2286000"/>
            <a:ext cx="2333625" cy="7620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User question</a:t>
            </a:r>
          </a:p>
        </p:txBody>
      </p:sp>
      <p:sp>
        <p:nvSpPr>
          <p:cNvPr id="7" name="shape-390">
            <a:extLst xmlns:a="http://schemas.openxmlformats.org/drawingml/2006/main">
              <a:ext uri="{FF2B5EF4-FFF2-40B4-BE49-F238E27FC236}">
                <a16:creationId xmlns:a16="http://schemas.microsoft.com/office/drawing/2014/main" id="{9B6EE6E1-DFC7-4CDC-9E40-4AAE72742C04}"/>
              </a:ext>
            </a:extLst>
          </p:cNvPr>
          <p:cNvSpPr>
            <a:spLocks xmlns:a="http://schemas.openxmlformats.org/drawingml/2006/main" noGrp="1"/>
          </p:cNvSpPr>
          <p:nvPr/>
        </p:nvSpPr>
        <p:spPr>
          <a:xfrm xmlns:a="http://schemas.openxmlformats.org/drawingml/2006/main">
            <a:off x="3409950" y="2286000"/>
            <a:ext cx="2476500" cy="7620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Guardrails +</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identity context</a:t>
            </a:r>
          </a:p>
        </p:txBody>
      </p:sp>
      <p:sp>
        <p:nvSpPr>
          <p:cNvPr id="8" name="shape-391">
            <a:extLst xmlns:a="http://schemas.openxmlformats.org/drawingml/2006/main">
              <a:ext uri="{FF2B5EF4-FFF2-40B4-BE49-F238E27FC236}">
                <a16:creationId xmlns:a16="http://schemas.microsoft.com/office/drawing/2014/main" id="{C2B44856-1D8A-4BFD-9198-4BE4A7D28074}"/>
              </a:ext>
            </a:extLst>
          </p:cNvPr>
          <p:cNvSpPr>
            <a:spLocks xmlns:a="http://schemas.openxmlformats.org/drawingml/2006/main" noGrp="1"/>
          </p:cNvSpPr>
          <p:nvPr/>
        </p:nvSpPr>
        <p:spPr>
          <a:xfrm xmlns:a="http://schemas.openxmlformats.org/drawingml/2006/main">
            <a:off x="3409950" y="4124325"/>
            <a:ext cx="2476500" cy="838200"/>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Gemini + RAG</a:t>
            </a:r>
          </a:p>
        </p:txBody>
      </p:sp>
      <p:sp>
        <p:nvSpPr>
          <p:cNvPr id="11" name="shape-392">
            <a:extLst xmlns:a="http://schemas.openxmlformats.org/drawingml/2006/main">
              <a:ext uri="{FF2B5EF4-FFF2-40B4-BE49-F238E27FC236}">
                <a16:creationId xmlns:a16="http://schemas.microsoft.com/office/drawing/2014/main" id="{0BFDA698-F818-4DF3-B1EE-37B2A41ED543}"/>
              </a:ext>
            </a:extLst>
          </p:cNvPr>
          <p:cNvSpPr>
            <a:spLocks xmlns:a="http://schemas.openxmlformats.org/drawingml/2006/main" noGrp="1"/>
          </p:cNvSpPr>
          <p:nvPr/>
        </p:nvSpPr>
        <p:spPr>
          <a:xfrm xmlns:a="http://schemas.openxmlformats.org/drawingml/2006/main">
            <a:off x="533400" y="4191000"/>
            <a:ext cx="2333625" cy="71437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FAQ vectors</a:t>
            </a:r>
          </a:p>
        </p:txBody>
      </p:sp>
      <p:sp>
        <p:nvSpPr>
          <p:cNvPr id="12" name="shape-393">
            <a:extLst xmlns:a="http://schemas.openxmlformats.org/drawingml/2006/main">
              <a:ext uri="{FF2B5EF4-FFF2-40B4-BE49-F238E27FC236}">
                <a16:creationId xmlns:a16="http://schemas.microsoft.com/office/drawing/2014/main" id="{6EA4AA68-FA05-4567-90F4-FCF8565DCB1F}"/>
              </a:ext>
            </a:extLst>
          </p:cNvPr>
          <p:cNvSpPr>
            <a:spLocks xmlns:a="http://schemas.openxmlformats.org/drawingml/2006/main" noGrp="1"/>
          </p:cNvSpPr>
          <p:nvPr/>
        </p:nvSpPr>
        <p:spPr>
          <a:xfrm xmlns:a="http://schemas.openxmlformats.org/drawingml/2006/main">
            <a:off x="6296025" y="4191000"/>
            <a:ext cx="1981200" cy="71437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Read-only tools</a:t>
            </a:r>
          </a:p>
        </p:txBody>
      </p:sp>
      <p:sp>
        <p:nvSpPr>
          <p:cNvPr id="15" name="shape-394">
            <a:extLst xmlns:a="http://schemas.openxmlformats.org/drawingml/2006/main">
              <a:ext uri="{FF2B5EF4-FFF2-40B4-BE49-F238E27FC236}">
                <a16:creationId xmlns:a16="http://schemas.microsoft.com/office/drawing/2014/main" id="{7CE70815-68F0-46DB-A794-C495A4D2058B}"/>
              </a:ext>
            </a:extLst>
          </p:cNvPr>
          <p:cNvSpPr>
            <a:spLocks xmlns:a="http://schemas.openxmlformats.org/drawingml/2006/main" noGrp="1"/>
          </p:cNvSpPr>
          <p:nvPr/>
        </p:nvSpPr>
        <p:spPr>
          <a:xfrm xmlns:a="http://schemas.openxmlformats.org/drawingml/2006/main">
            <a:off x="533400" y="5314950"/>
            <a:ext cx="7696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8677F"/>
                </a:solidFill>
                <a:latin typeface="Arial"/>
                <a:ea typeface="Arial"/>
                <a:cs typeface="Arial"/>
              </a:defRPr>
            </a:defPPr>
          </a:lstStyle>
          <a:p xmlns:a="http://schemas.openxmlformats.org/drawingml/2006/main">
            <a:pPr algn="l">
              <a:defRPr sz="1725" b="0">
                <a:solidFill>
                  <a:srgbClr val="58677F"/>
                </a:solidFill>
                <a:latin typeface="Arial"/>
                <a:ea typeface="Arial"/>
                <a:cs typeface="Arial"/>
              </a:defRPr>
            </a:pPr>
            <a:r>
              <a:rPr sz="1725" b="0">
                <a:solidFill>
                  <a:srgbClr val="58677F"/>
                </a:solidFill>
                <a:latin typeface="Arial"/>
                <a:ea typeface="Arial"/>
                <a:cs typeface="Arial"/>
              </a:rPr>
              <a:t>Memory + policy cache · validated cards · SSE</a:t>
            </a:r>
          </a:p>
        </p:txBody>
      </p:sp>
      <p:sp>
        <p:nvSpPr>
          <p:cNvPr id="16" name="shape-395">
            <a:extLst xmlns:a="http://schemas.openxmlformats.org/drawingml/2006/main">
              <a:ext uri="{FF2B5EF4-FFF2-40B4-BE49-F238E27FC236}">
                <a16:creationId xmlns:a16="http://schemas.microsoft.com/office/drawing/2014/main" id="{4AF6CB3A-E72A-4257-A2F0-665BB712F68D}"/>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Local and portable</a:t>
            </a:r>
          </a:p>
        </p:txBody>
      </p:sp>
      <p:sp>
        <p:nvSpPr>
          <p:cNvPr id="17" name="shape-396">
            <a:extLst xmlns:a="http://schemas.openxmlformats.org/drawingml/2006/main">
              <a:ext uri="{FF2B5EF4-FFF2-40B4-BE49-F238E27FC236}">
                <a16:creationId xmlns:a16="http://schemas.microsoft.com/office/drawing/2014/main" id="{32095245-4227-4ACF-B8AE-589586A98A05}"/>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In-memory vector store, memory and cache; no Redis or Docker required.</a:t>
            </a:r>
          </a:p>
        </p:txBody>
      </p:sp>
      <p:sp>
        <p:nvSpPr>
          <p:cNvPr id="18" name="shape-397">
            <a:extLst xmlns:a="http://schemas.openxmlformats.org/drawingml/2006/main">
              <a:ext uri="{FF2B5EF4-FFF2-40B4-BE49-F238E27FC236}">
                <a16:creationId xmlns:a16="http://schemas.microsoft.com/office/drawing/2014/main" id="{B12F677F-3B0E-41BE-8ABA-5ECC1032D3DE}"/>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Safe boundaries</a:t>
            </a:r>
          </a:p>
        </p:txBody>
      </p:sp>
      <p:sp>
        <p:nvSpPr>
          <p:cNvPr id="19" name="shape-398">
            <a:extLst xmlns:a="http://schemas.openxmlformats.org/drawingml/2006/main">
              <a:ext uri="{FF2B5EF4-FFF2-40B4-BE49-F238E27FC236}">
                <a16:creationId xmlns:a16="http://schemas.microsoft.com/office/drawing/2014/main" id="{32A27F6E-1575-40E5-BB31-C14865D5F62C}"/>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No AI payment or cancellation authority; protected data stays owner-scoped.</a:t>
            </a:r>
          </a:p>
        </p:txBody>
      </p:sp>
      <p:sp>
        <p:nvSpPr>
          <p:cNvPr id="20" name="shape-399">
            <a:extLst xmlns:a="http://schemas.openxmlformats.org/drawingml/2006/main">
              <a:ext uri="{FF2B5EF4-FFF2-40B4-BE49-F238E27FC236}">
                <a16:creationId xmlns:a16="http://schemas.microsoft.com/office/drawing/2014/main" id="{034F786C-0CEF-40A0-9A82-C116E98AEBC9}"/>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1" name="shape-400">
            <a:extLst xmlns:a="http://schemas.openxmlformats.org/drawingml/2006/main">
              <a:ext uri="{FF2B5EF4-FFF2-40B4-BE49-F238E27FC236}">
                <a16:creationId xmlns:a16="http://schemas.microsoft.com/office/drawing/2014/main" id="{C37B5C5C-0D80-4540-8CAD-B5E2748FBA3F}"/>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Provider quota or outage may limit AI answers; core reservation features remain separate.</a:t>
            </a:r>
          </a:p>
        </p:txBody>
      </p:sp>
    </p:spTree>
    <p:extLst>
      <p:ext uri="{BB962C8B-B14F-4D97-AF65-F5344CB8AC3E}">
        <p14:creationId xmlns:p14="http://schemas.microsoft.com/office/powerpoint/2010/main" val="4480218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F19045D-C8DA-4400-848D-0E7EDA39AB07}"/>
              </a:ext>
            </a:extLst>
          </p:cNvPr>
          <p:cNvCxnSpPr>
            <a:stCxn xmlns:a="http://schemas.openxmlformats.org/drawingml/2006/main" id="7" idx="3"/>
            <a:endCxn xmlns:a="http://schemas.openxmlformats.org/drawingml/2006/main" id="8" idx="1"/>
          </p:cNvCxnSpPr>
          <p:nvPr/>
        </p:nvCxnSpPr>
        <p:spPr>
          <a:xfrm xmlns:a="http://schemas.openxmlformats.org/drawingml/2006/main">
            <a:off x="5438775" y="29337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57F6FE4-6225-46DF-8EF7-4E3D6D0F10B7}"/>
              </a:ext>
            </a:extLst>
          </p:cNvPr>
          <p:cNvCxnSpPr>
            <a:stCxn xmlns:a="http://schemas.openxmlformats.org/drawingml/2006/main" id="6" idx="3"/>
            <a:endCxn xmlns:a="http://schemas.openxmlformats.org/drawingml/2006/main" id="7" idx="1"/>
          </p:cNvCxnSpPr>
          <p:nvPr/>
        </p:nvCxnSpPr>
        <p:spPr>
          <a:xfrm xmlns:a="http://schemas.openxmlformats.org/drawingml/2006/main">
            <a:off x="2819400" y="29337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0" name="shape-401">
            <a:extLst xmlns:a="http://schemas.openxmlformats.org/drawingml/2006/main">
              <a:ext uri="{FF2B5EF4-FFF2-40B4-BE49-F238E27FC236}">
                <a16:creationId xmlns:a16="http://schemas.microsoft.com/office/drawing/2014/main" id="{6A8B533E-6BA1-4167-B847-2956E2A86A74}"/>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23 / FRONTEND DESIGN</a:t>
            </a:r>
          </a:p>
        </p:txBody>
      </p:sp>
      <p:sp>
        <p:nvSpPr>
          <p:cNvPr id="2" name="shape-402">
            <a:extLst xmlns:a="http://schemas.openxmlformats.org/drawingml/2006/main">
              <a:ext uri="{FF2B5EF4-FFF2-40B4-BE49-F238E27FC236}">
                <a16:creationId xmlns:a16="http://schemas.microsoft.com/office/drawing/2014/main" id="{2E16A1FA-A980-4B4B-BB6C-B77091D8D985}"/>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The interface follows the passenger’s task</a:t>
            </a:r>
          </a:p>
        </p:txBody>
      </p:sp>
      <p:sp>
        <p:nvSpPr>
          <p:cNvPr id="3" name="shape-403">
            <a:extLst xmlns:a="http://schemas.openxmlformats.org/drawingml/2006/main">
              <a:ext uri="{FF2B5EF4-FFF2-40B4-BE49-F238E27FC236}">
                <a16:creationId xmlns:a16="http://schemas.microsoft.com/office/drawing/2014/main" id="{9D25A9A9-C793-4610-ABB9-8C956B0BAD31}"/>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Angular keeps presentation, session state and API access organized.</a:t>
            </a:r>
          </a:p>
        </p:txBody>
      </p:sp>
      <p:sp>
        <p:nvSpPr>
          <p:cNvPr id="4" name="shape-404">
            <a:extLst xmlns:a="http://schemas.openxmlformats.org/drawingml/2006/main">
              <a:ext uri="{FF2B5EF4-FFF2-40B4-BE49-F238E27FC236}">
                <a16:creationId xmlns:a16="http://schemas.microsoft.com/office/drawing/2014/main" id="{942F3D6C-13A5-4784-811D-3D80552F229C}"/>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05">
            <a:extLst xmlns:a="http://schemas.openxmlformats.org/drawingml/2006/main">
              <a:ext uri="{FF2B5EF4-FFF2-40B4-BE49-F238E27FC236}">
                <a16:creationId xmlns:a16="http://schemas.microsoft.com/office/drawing/2014/main" id="{ECE37FD2-A607-46E8-AF91-58A24D42E345}"/>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24 / 28</a:t>
            </a:r>
          </a:p>
        </p:txBody>
      </p:sp>
      <p:sp>
        <p:nvSpPr>
          <p:cNvPr id="6" name="shape-406">
            <a:extLst xmlns:a="http://schemas.openxmlformats.org/drawingml/2006/main">
              <a:ext uri="{FF2B5EF4-FFF2-40B4-BE49-F238E27FC236}">
                <a16:creationId xmlns:a16="http://schemas.microsoft.com/office/drawing/2014/main" id="{E3E3BCA7-856C-4192-8E16-8726B17F8786}"/>
              </a:ext>
            </a:extLst>
          </p:cNvPr>
          <p:cNvSpPr>
            <a:spLocks xmlns:a="http://schemas.openxmlformats.org/drawingml/2006/main" noGrp="1"/>
          </p:cNvSpPr>
          <p:nvPr/>
        </p:nvSpPr>
        <p:spPr>
          <a:xfrm xmlns:a="http://schemas.openxmlformats.org/drawingml/2006/main">
            <a:off x="533400" y="2476500"/>
            <a:ext cx="2286000" cy="9144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Page / component</a:t>
            </a:r>
          </a:p>
        </p:txBody>
      </p:sp>
      <p:sp>
        <p:nvSpPr>
          <p:cNvPr id="7" name="shape-407">
            <a:extLst xmlns:a="http://schemas.openxmlformats.org/drawingml/2006/main">
              <a:ext uri="{FF2B5EF4-FFF2-40B4-BE49-F238E27FC236}">
                <a16:creationId xmlns:a16="http://schemas.microsoft.com/office/drawing/2014/main" id="{DC296153-B775-49A0-9ABB-EEE849AC7E7F}"/>
              </a:ext>
            </a:extLst>
          </p:cNvPr>
          <p:cNvSpPr>
            <a:spLocks xmlns:a="http://schemas.openxmlformats.org/drawingml/2006/main" noGrp="1"/>
          </p:cNvSpPr>
          <p:nvPr/>
        </p:nvSpPr>
        <p:spPr>
          <a:xfrm xmlns:a="http://schemas.openxmlformats.org/drawingml/2006/main">
            <a:off x="3152775" y="2476500"/>
            <a:ext cx="2286000" cy="9144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State + API layer</a:t>
            </a:r>
          </a:p>
        </p:txBody>
      </p:sp>
      <p:sp>
        <p:nvSpPr>
          <p:cNvPr id="8" name="shape-408">
            <a:extLst xmlns:a="http://schemas.openxmlformats.org/drawingml/2006/main">
              <a:ext uri="{FF2B5EF4-FFF2-40B4-BE49-F238E27FC236}">
                <a16:creationId xmlns:a16="http://schemas.microsoft.com/office/drawing/2014/main" id="{97FFEBC2-20A5-4B22-A229-B2A9B1FFA859}"/>
              </a:ext>
            </a:extLst>
          </p:cNvPr>
          <p:cNvSpPr>
            <a:spLocks xmlns:a="http://schemas.openxmlformats.org/drawingml/2006/main" noGrp="1"/>
          </p:cNvSpPr>
          <p:nvPr/>
        </p:nvSpPr>
        <p:spPr>
          <a:xfrm xmlns:a="http://schemas.openxmlformats.org/drawingml/2006/main">
            <a:off x="5772150" y="2476500"/>
            <a:ext cx="2286000" cy="9144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Gateway API</a:t>
            </a:r>
          </a:p>
        </p:txBody>
      </p:sp>
      <p:sp>
        <p:nvSpPr>
          <p:cNvPr id="11" name="shape-409">
            <a:extLst xmlns:a="http://schemas.openxmlformats.org/drawingml/2006/main">
              <a:ext uri="{FF2B5EF4-FFF2-40B4-BE49-F238E27FC236}">
                <a16:creationId xmlns:a16="http://schemas.microsoft.com/office/drawing/2014/main" id="{645B0E94-3666-433A-8D4C-FC2C27429CB8}"/>
              </a:ext>
            </a:extLst>
          </p:cNvPr>
          <p:cNvSpPr>
            <a:spLocks xmlns:a="http://schemas.openxmlformats.org/drawingml/2006/main" noGrp="1"/>
          </p:cNvSpPr>
          <p:nvPr/>
        </p:nvSpPr>
        <p:spPr>
          <a:xfrm xmlns:a="http://schemas.openxmlformats.org/drawingml/2006/main">
            <a:off x="533400" y="4295775"/>
            <a:ext cx="2286000" cy="7429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Passenger routes</a:t>
            </a:r>
          </a:p>
        </p:txBody>
      </p:sp>
      <p:sp>
        <p:nvSpPr>
          <p:cNvPr id="12" name="shape-410">
            <a:extLst xmlns:a="http://schemas.openxmlformats.org/drawingml/2006/main">
              <a:ext uri="{FF2B5EF4-FFF2-40B4-BE49-F238E27FC236}">
                <a16:creationId xmlns:a16="http://schemas.microsoft.com/office/drawing/2014/main" id="{183959E3-BB62-4319-880A-C8F38FA20CCF}"/>
              </a:ext>
            </a:extLst>
          </p:cNvPr>
          <p:cNvSpPr>
            <a:spLocks xmlns:a="http://schemas.openxmlformats.org/drawingml/2006/main" noGrp="1"/>
          </p:cNvSpPr>
          <p:nvPr/>
        </p:nvSpPr>
        <p:spPr>
          <a:xfrm xmlns:a="http://schemas.openxmlformats.org/drawingml/2006/main">
            <a:off x="3152775" y="4295775"/>
            <a:ext cx="2286000" cy="742950"/>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Admin routes</a:t>
            </a:r>
          </a:p>
        </p:txBody>
      </p:sp>
      <p:sp>
        <p:nvSpPr>
          <p:cNvPr id="13" name="shape-411">
            <a:extLst xmlns:a="http://schemas.openxmlformats.org/drawingml/2006/main">
              <a:ext uri="{FF2B5EF4-FFF2-40B4-BE49-F238E27FC236}">
                <a16:creationId xmlns:a16="http://schemas.microsoft.com/office/drawing/2014/main" id="{5AC5218A-E3F7-4558-9163-229DB52C0D10}"/>
              </a:ext>
            </a:extLst>
          </p:cNvPr>
          <p:cNvSpPr>
            <a:spLocks xmlns:a="http://schemas.openxmlformats.org/drawingml/2006/main" noGrp="1"/>
          </p:cNvSpPr>
          <p:nvPr/>
        </p:nvSpPr>
        <p:spPr>
          <a:xfrm xmlns:a="http://schemas.openxmlformats.org/drawingml/2006/main">
            <a:off x="5772150" y="4295775"/>
            <a:ext cx="2286000" cy="7429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Assistant panel</a:t>
            </a:r>
          </a:p>
        </p:txBody>
      </p:sp>
      <p:sp>
        <p:nvSpPr>
          <p:cNvPr id="14" name="shape-412">
            <a:extLst xmlns:a="http://schemas.openxmlformats.org/drawingml/2006/main">
              <a:ext uri="{FF2B5EF4-FFF2-40B4-BE49-F238E27FC236}">
                <a16:creationId xmlns:a16="http://schemas.microsoft.com/office/drawing/2014/main" id="{162299E2-D413-4670-8CF5-8070105D8E51}"/>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Navigation</a:t>
            </a:r>
          </a:p>
        </p:txBody>
      </p:sp>
      <p:sp>
        <p:nvSpPr>
          <p:cNvPr id="15" name="shape-413">
            <a:extLst xmlns:a="http://schemas.openxmlformats.org/drawingml/2006/main">
              <a:ext uri="{FF2B5EF4-FFF2-40B4-BE49-F238E27FC236}">
                <a16:creationId xmlns:a16="http://schemas.microsoft.com/office/drawing/2014/main" id="{8ADCFF64-CAF9-4ED4-BEFC-C04CDEFE3211}"/>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Role-aware landing pages and guest/auth route guards.</a:t>
            </a:r>
          </a:p>
        </p:txBody>
      </p:sp>
      <p:sp>
        <p:nvSpPr>
          <p:cNvPr id="16" name="shape-414">
            <a:extLst xmlns:a="http://schemas.openxmlformats.org/drawingml/2006/main">
              <a:ext uri="{FF2B5EF4-FFF2-40B4-BE49-F238E27FC236}">
                <a16:creationId xmlns:a16="http://schemas.microsoft.com/office/drawing/2014/main" id="{7AAC6C87-A29C-4C76-99BB-6B2D69BE17A3}"/>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Feedback</a:t>
            </a:r>
          </a:p>
        </p:txBody>
      </p:sp>
      <p:sp>
        <p:nvSpPr>
          <p:cNvPr id="17" name="shape-415">
            <a:extLst xmlns:a="http://schemas.openxmlformats.org/drawingml/2006/main">
              <a:ext uri="{FF2B5EF4-FFF2-40B4-BE49-F238E27FC236}">
                <a16:creationId xmlns:a16="http://schemas.microsoft.com/office/drawing/2014/main" id="{394C4156-7747-4D2F-94DD-C49119762758}"/>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Loading, empty, validation and failure states are visible.</a:t>
            </a:r>
          </a:p>
        </p:txBody>
      </p:sp>
      <p:sp>
        <p:nvSpPr>
          <p:cNvPr id="18" name="shape-416">
            <a:extLst xmlns:a="http://schemas.openxmlformats.org/drawingml/2006/main">
              <a:ext uri="{FF2B5EF4-FFF2-40B4-BE49-F238E27FC236}">
                <a16:creationId xmlns:a16="http://schemas.microsoft.com/office/drawing/2014/main" id="{3E5BAC97-230A-4C21-9851-E4A3BF34763C}"/>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9" name="shape-417">
            <a:extLst xmlns:a="http://schemas.openxmlformats.org/drawingml/2006/main">
              <a:ext uri="{FF2B5EF4-FFF2-40B4-BE49-F238E27FC236}">
                <a16:creationId xmlns:a16="http://schemas.microsoft.com/office/drawing/2014/main" id="{27D78B96-ED48-4C60-A7C7-21BBB9F1409F}"/>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 usable client complements backend validation; it never replaces it.</a:t>
            </a:r>
          </a:p>
        </p:txBody>
      </p:sp>
    </p:spTree>
    <p:extLst>
      <p:ext uri="{BB962C8B-B14F-4D97-AF65-F5344CB8AC3E}">
        <p14:creationId xmlns:p14="http://schemas.microsoft.com/office/powerpoint/2010/main" val="139140682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hape-418">
            <a:extLst xmlns:a="http://schemas.openxmlformats.org/drawingml/2006/main">
              <a:ext uri="{FF2B5EF4-FFF2-40B4-BE49-F238E27FC236}">
                <a16:creationId xmlns:a16="http://schemas.microsoft.com/office/drawing/2014/main" id="{2AF1AAC4-AABF-47B8-B42E-81607DE9F215}"/>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24 / VERIFICATION</a:t>
            </a:r>
          </a:p>
        </p:txBody>
      </p:sp>
      <p:sp>
        <p:nvSpPr>
          <p:cNvPr id="2" name="shape-419">
            <a:extLst xmlns:a="http://schemas.openxmlformats.org/drawingml/2006/main">
              <a:ext uri="{FF2B5EF4-FFF2-40B4-BE49-F238E27FC236}">
                <a16:creationId xmlns:a16="http://schemas.microsoft.com/office/drawing/2014/main" id="{791571FC-58E6-470F-8ED7-440CFB3A0683}"/>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I test failure paths as well as successful bookings</a:t>
            </a:r>
          </a:p>
        </p:txBody>
      </p:sp>
      <p:sp>
        <p:nvSpPr>
          <p:cNvPr id="3" name="shape-420">
            <a:extLst xmlns:a="http://schemas.openxmlformats.org/drawingml/2006/main">
              <a:ext uri="{FF2B5EF4-FFF2-40B4-BE49-F238E27FC236}">
                <a16:creationId xmlns:a16="http://schemas.microsoft.com/office/drawing/2014/main" id="{C197A585-0A8E-4F3A-A9B6-02FAC1FB4088}"/>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The test strategy follows the risk in each layer.</a:t>
            </a:r>
          </a:p>
        </p:txBody>
      </p:sp>
      <p:sp>
        <p:nvSpPr>
          <p:cNvPr id="4" name="shape-421">
            <a:extLst xmlns:a="http://schemas.openxmlformats.org/drawingml/2006/main">
              <a:ext uri="{FF2B5EF4-FFF2-40B4-BE49-F238E27FC236}">
                <a16:creationId xmlns:a16="http://schemas.microsoft.com/office/drawing/2014/main" id="{33B7FCA4-90EF-4CF1-8E2A-1314414BF58D}"/>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22">
            <a:extLst xmlns:a="http://schemas.openxmlformats.org/drawingml/2006/main">
              <a:ext uri="{FF2B5EF4-FFF2-40B4-BE49-F238E27FC236}">
                <a16:creationId xmlns:a16="http://schemas.microsoft.com/office/drawing/2014/main" id="{94FB8441-0D58-4A4B-B7D7-3189302C0A5D}"/>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25 / 28</a:t>
            </a:r>
          </a:p>
        </p:txBody>
      </p:sp>
      <p:sp>
        <p:nvSpPr>
          <p:cNvPr id="6" name="shape-423">
            <a:extLst xmlns:a="http://schemas.openxmlformats.org/drawingml/2006/main">
              <a:ext uri="{FF2B5EF4-FFF2-40B4-BE49-F238E27FC236}">
                <a16:creationId xmlns:a16="http://schemas.microsoft.com/office/drawing/2014/main" id="{4944A8CB-B4D6-457D-B981-1BC24A265496}"/>
              </a:ext>
            </a:extLst>
          </p:cNvPr>
          <p:cNvSpPr>
            <a:spLocks xmlns:a="http://schemas.openxmlformats.org/drawingml/2006/main" noGrp="1"/>
          </p:cNvSpPr>
          <p:nvPr/>
        </p:nvSpPr>
        <p:spPr>
          <a:xfrm xmlns:a="http://schemas.openxmlformats.org/drawingml/2006/main">
            <a:off x="2362200" y="2143125"/>
            <a:ext cx="3924300" cy="7048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Browser flows · Playwright</a:t>
            </a:r>
          </a:p>
        </p:txBody>
      </p:sp>
      <p:sp>
        <p:nvSpPr>
          <p:cNvPr id="7" name="shape-424">
            <a:extLst xmlns:a="http://schemas.openxmlformats.org/drawingml/2006/main">
              <a:ext uri="{FF2B5EF4-FFF2-40B4-BE49-F238E27FC236}">
                <a16:creationId xmlns:a16="http://schemas.microsoft.com/office/drawing/2014/main" id="{938AE2E9-D528-4FE9-829D-E13D30C0390F}"/>
              </a:ext>
            </a:extLst>
          </p:cNvPr>
          <p:cNvSpPr>
            <a:spLocks xmlns:a="http://schemas.openxmlformats.org/drawingml/2006/main" noGrp="1"/>
          </p:cNvSpPr>
          <p:nvPr/>
        </p:nvSpPr>
        <p:spPr>
          <a:xfrm xmlns:a="http://schemas.openxmlformats.org/drawingml/2006/main">
            <a:off x="1362075" y="3352800"/>
            <a:ext cx="5924550" cy="7810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00" b="1">
                <a:solidFill>
                  <a:srgbClr val="152442"/>
                </a:solidFill>
                <a:latin typeface="Arial"/>
                <a:ea typeface="Arial"/>
                <a:cs typeface="Arial"/>
              </a:defRPr>
            </a:defPPr>
          </a:lstStyle>
          <a:p xmlns:a="http://schemas.openxmlformats.org/drawingml/2006/main">
            <a:pPr algn="ctr">
              <a:defRPr sz="1800" b="1">
                <a:solidFill>
                  <a:srgbClr val="152442"/>
                </a:solidFill>
                <a:latin typeface="Arial"/>
                <a:ea typeface="Arial"/>
                <a:cs typeface="Arial"/>
              </a:defRPr>
            </a:pPr>
            <a:r>
              <a:rPr sz="1800" b="1">
                <a:solidFill>
                  <a:srgbClr val="152442"/>
                </a:solidFill>
                <a:latin typeface="Arial"/>
                <a:ea typeface="Arial"/>
                <a:cs typeface="Arial"/>
              </a:rPr>
              <a:t>Service integration · H2 / controlled dependencies</a:t>
            </a:r>
          </a:p>
        </p:txBody>
      </p:sp>
      <p:sp>
        <p:nvSpPr>
          <p:cNvPr id="8" name="shape-425">
            <a:extLst xmlns:a="http://schemas.openxmlformats.org/drawingml/2006/main">
              <a:ext uri="{FF2B5EF4-FFF2-40B4-BE49-F238E27FC236}">
                <a16:creationId xmlns:a16="http://schemas.microsoft.com/office/drawing/2014/main" id="{9F82D14E-A234-449C-9331-3B55A5F91C19}"/>
              </a:ext>
            </a:extLst>
          </p:cNvPr>
          <p:cNvSpPr>
            <a:spLocks xmlns:a="http://schemas.openxmlformats.org/drawingml/2006/main" noGrp="1"/>
          </p:cNvSpPr>
          <p:nvPr/>
        </p:nvSpPr>
        <p:spPr>
          <a:xfrm xmlns:a="http://schemas.openxmlformats.org/drawingml/2006/main">
            <a:off x="533400" y="4657725"/>
            <a:ext cx="7572375" cy="7620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00" b="1">
                <a:solidFill>
                  <a:srgbClr val="152442"/>
                </a:solidFill>
                <a:latin typeface="Arial"/>
                <a:ea typeface="Arial"/>
                <a:cs typeface="Arial"/>
              </a:defRPr>
            </a:defPPr>
          </a:lstStyle>
          <a:p xmlns:a="http://schemas.openxmlformats.org/drawingml/2006/main">
            <a:pPr algn="ctr">
              <a:defRPr sz="1800" b="1">
                <a:solidFill>
                  <a:srgbClr val="152442"/>
                </a:solidFill>
                <a:latin typeface="Arial"/>
                <a:ea typeface="Arial"/>
                <a:cs typeface="Arial"/>
              </a:defRPr>
            </a:pPr>
            <a:r>
              <a:rPr sz="1800" b="1">
                <a:solidFill>
                  <a:srgbClr val="152442"/>
                </a:solidFill>
                <a:latin typeface="Arial"/>
                <a:ea typeface="Arial"/>
                <a:cs typeface="Arial"/>
              </a:rPr>
              <a:t>Business rules · JUnit + Mockito / frontend Jasmine</a:t>
            </a:r>
          </a:p>
        </p:txBody>
      </p:sp>
      <p:sp>
        <p:nvSpPr>
          <p:cNvPr id="9" name="shape-426">
            <a:extLst xmlns:a="http://schemas.openxmlformats.org/drawingml/2006/main">
              <a:ext uri="{FF2B5EF4-FFF2-40B4-BE49-F238E27FC236}">
                <a16:creationId xmlns:a16="http://schemas.microsoft.com/office/drawing/2014/main" id="{7167B8C1-7804-456C-A8A1-FB7D455F4AC5}"/>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Critical boundaries</a:t>
            </a:r>
          </a:p>
        </p:txBody>
      </p:sp>
      <p:sp>
        <p:nvSpPr>
          <p:cNvPr id="10" name="shape-427">
            <a:extLst xmlns:a="http://schemas.openxmlformats.org/drawingml/2006/main">
              <a:ext uri="{FF2B5EF4-FFF2-40B4-BE49-F238E27FC236}">
                <a16:creationId xmlns:a16="http://schemas.microsoft.com/office/drawing/2014/main" id="{E1B66013-ECEA-4B89-ACFA-4BD76815843C}"/>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Dates, null passengers, duplicate requests, ownership and seat conflicts.</a:t>
            </a:r>
          </a:p>
        </p:txBody>
      </p:sp>
      <p:sp>
        <p:nvSpPr>
          <p:cNvPr id="11" name="shape-428">
            <a:extLst xmlns:a="http://schemas.openxmlformats.org/drawingml/2006/main">
              <a:ext uri="{FF2B5EF4-FFF2-40B4-BE49-F238E27FC236}">
                <a16:creationId xmlns:a16="http://schemas.microsoft.com/office/drawing/2014/main" id="{2FB61B0B-785C-4546-9CA6-404191865ED6}"/>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Honest evidence</a:t>
            </a:r>
          </a:p>
        </p:txBody>
      </p:sp>
      <p:sp>
        <p:nvSpPr>
          <p:cNvPr id="12" name="shape-429">
            <a:extLst xmlns:a="http://schemas.openxmlformats.org/drawingml/2006/main">
              <a:ext uri="{FF2B5EF4-FFF2-40B4-BE49-F238E27FC236}">
                <a16:creationId xmlns:a16="http://schemas.microsoft.com/office/drawing/2014/main" id="{5CA2902D-A469-464B-B089-14E228A9F51C}"/>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Automated checks plus provider test flows; no invented load or coverage claim.</a:t>
            </a:r>
          </a:p>
        </p:txBody>
      </p:sp>
      <p:sp>
        <p:nvSpPr>
          <p:cNvPr id="13" name="shape-430">
            <a:extLst xmlns:a="http://schemas.openxmlformats.org/drawingml/2006/main">
              <a:ext uri="{FF2B5EF4-FFF2-40B4-BE49-F238E27FC236}">
                <a16:creationId xmlns:a16="http://schemas.microsoft.com/office/drawing/2014/main" id="{DF5BEF28-E2DB-486C-805B-8ECF2A68BA2C}"/>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4" name="shape-431">
            <a:extLst xmlns:a="http://schemas.openxmlformats.org/drawingml/2006/main">
              <a:ext uri="{FF2B5EF4-FFF2-40B4-BE49-F238E27FC236}">
                <a16:creationId xmlns:a16="http://schemas.microsoft.com/office/drawing/2014/main" id="{B0AD1B30-4900-4219-8874-8847E4CB0E3B}"/>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Test behaviour and invariants, not only whether an endpoint returns HTTP 200.</a:t>
            </a:r>
          </a:p>
        </p:txBody>
      </p:sp>
    </p:spTree>
    <p:extLst>
      <p:ext uri="{BB962C8B-B14F-4D97-AF65-F5344CB8AC3E}">
        <p14:creationId xmlns:p14="http://schemas.microsoft.com/office/powerpoint/2010/main" val="78725754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6326115A-3F47-4999-9925-BC1BC45DBCCE}"/>
              </a:ext>
            </a:extLst>
          </p:cNvPr>
          <p:cNvCxnSpPr>
            <a:stCxn xmlns:a="http://schemas.openxmlformats.org/drawingml/2006/main" id="12" idx="3"/>
            <a:endCxn xmlns:a="http://schemas.openxmlformats.org/drawingml/2006/main" id="13" idx="1"/>
          </p:cNvCxnSpPr>
          <p:nvPr/>
        </p:nvCxnSpPr>
        <p:spPr>
          <a:xfrm xmlns:a="http://schemas.openxmlformats.org/drawingml/2006/main">
            <a:off x="5438775" y="46386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17F69405-9B19-4768-BB1F-CBECB4D15070}"/>
              </a:ext>
            </a:extLst>
          </p:cNvPr>
          <p:cNvCxnSpPr>
            <a:stCxn xmlns:a="http://schemas.openxmlformats.org/drawingml/2006/main" id="11" idx="3"/>
            <a:endCxn xmlns:a="http://schemas.openxmlformats.org/drawingml/2006/main" id="12" idx="1"/>
          </p:cNvCxnSpPr>
          <p:nvPr/>
        </p:nvCxnSpPr>
        <p:spPr>
          <a:xfrm xmlns:a="http://schemas.openxmlformats.org/drawingml/2006/main">
            <a:off x="2819400" y="463867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42937DC4-5816-49A7-A9FF-D4681DED3C0C}"/>
              </a:ext>
            </a:extLst>
          </p:cNvPr>
          <p:cNvCxnSpPr>
            <a:stCxn xmlns:a="http://schemas.openxmlformats.org/drawingml/2006/main" id="7" idx="3"/>
            <a:endCxn xmlns:a="http://schemas.openxmlformats.org/drawingml/2006/main" id="8" idx="1"/>
          </p:cNvCxnSpPr>
          <p:nvPr/>
        </p:nvCxnSpPr>
        <p:spPr>
          <a:xfrm xmlns:a="http://schemas.openxmlformats.org/drawingml/2006/main">
            <a:off x="5438775" y="27432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0EC37336-8DAA-4DD6-9EF0-B084B9787F10}"/>
              </a:ext>
            </a:extLst>
          </p:cNvPr>
          <p:cNvCxnSpPr>
            <a:stCxn xmlns:a="http://schemas.openxmlformats.org/drawingml/2006/main" id="6" idx="3"/>
            <a:endCxn xmlns:a="http://schemas.openxmlformats.org/drawingml/2006/main" id="7" idx="1"/>
          </p:cNvCxnSpPr>
          <p:nvPr/>
        </p:nvCxnSpPr>
        <p:spPr>
          <a:xfrm xmlns:a="http://schemas.openxmlformats.org/drawingml/2006/main">
            <a:off x="2819400" y="274320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2" name="shape-432">
            <a:extLst xmlns:a="http://schemas.openxmlformats.org/drawingml/2006/main">
              <a:ext uri="{FF2B5EF4-FFF2-40B4-BE49-F238E27FC236}">
                <a16:creationId xmlns:a16="http://schemas.microsoft.com/office/drawing/2014/main" id="{765251CA-F14B-4F21-9CE3-C55B3389984D}"/>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25 / RUNNING THE PLATFORM</a:t>
            </a:r>
          </a:p>
        </p:txBody>
      </p:sp>
      <p:sp>
        <p:nvSpPr>
          <p:cNvPr id="2" name="shape-433">
            <a:extLst xmlns:a="http://schemas.openxmlformats.org/drawingml/2006/main">
              <a:ext uri="{FF2B5EF4-FFF2-40B4-BE49-F238E27FC236}">
                <a16:creationId xmlns:a16="http://schemas.microsoft.com/office/drawing/2014/main" id="{F462AB2B-65AD-4C3F-A449-F6677DED8BB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Ordered startup makes local setup predictable</a:t>
            </a:r>
          </a:p>
        </p:txBody>
      </p:sp>
      <p:sp>
        <p:nvSpPr>
          <p:cNvPr id="3" name="shape-434">
            <a:extLst xmlns:a="http://schemas.openxmlformats.org/drawingml/2006/main">
              <a:ext uri="{FF2B5EF4-FFF2-40B4-BE49-F238E27FC236}">
                <a16:creationId xmlns:a16="http://schemas.microsoft.com/office/drawing/2014/main" id="{9D8366AF-6B2C-4B0E-A3BF-24AC4DBA416E}"/>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Configuration and discovery must be ready before dependent services.</a:t>
            </a:r>
          </a:p>
        </p:txBody>
      </p:sp>
      <p:sp>
        <p:nvSpPr>
          <p:cNvPr id="4" name="shape-435">
            <a:extLst xmlns:a="http://schemas.openxmlformats.org/drawingml/2006/main">
              <a:ext uri="{FF2B5EF4-FFF2-40B4-BE49-F238E27FC236}">
                <a16:creationId xmlns:a16="http://schemas.microsoft.com/office/drawing/2014/main" id="{29965993-DDC5-4E2C-826E-8EC4EA3D1697}"/>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36">
            <a:extLst xmlns:a="http://schemas.openxmlformats.org/drawingml/2006/main">
              <a:ext uri="{FF2B5EF4-FFF2-40B4-BE49-F238E27FC236}">
                <a16:creationId xmlns:a16="http://schemas.microsoft.com/office/drawing/2014/main" id="{A42A0778-C808-43F6-A8B1-28BB454872AD}"/>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26 / 28</a:t>
            </a:r>
          </a:p>
        </p:txBody>
      </p:sp>
      <p:sp>
        <p:nvSpPr>
          <p:cNvPr id="6" name="shape-437">
            <a:extLst xmlns:a="http://schemas.openxmlformats.org/drawingml/2006/main">
              <a:ext uri="{FF2B5EF4-FFF2-40B4-BE49-F238E27FC236}">
                <a16:creationId xmlns:a16="http://schemas.microsoft.com/office/drawing/2014/main" id="{116AE8A7-15F3-464F-A330-BE511B04C7E2}"/>
              </a:ext>
            </a:extLst>
          </p:cNvPr>
          <p:cNvSpPr>
            <a:spLocks xmlns:a="http://schemas.openxmlformats.org/drawingml/2006/main" noGrp="1"/>
          </p:cNvSpPr>
          <p:nvPr/>
        </p:nvSpPr>
        <p:spPr>
          <a:xfrm xmlns:a="http://schemas.openxmlformats.org/drawingml/2006/main">
            <a:off x="533400" y="2324100"/>
            <a:ext cx="2286000" cy="8382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Config server</a:t>
            </a:r>
          </a:p>
        </p:txBody>
      </p:sp>
      <p:sp>
        <p:nvSpPr>
          <p:cNvPr id="7" name="shape-438">
            <a:extLst xmlns:a="http://schemas.openxmlformats.org/drawingml/2006/main">
              <a:ext uri="{FF2B5EF4-FFF2-40B4-BE49-F238E27FC236}">
                <a16:creationId xmlns:a16="http://schemas.microsoft.com/office/drawing/2014/main" id="{B9A66D51-4579-4F71-88E3-A48AA980E2DB}"/>
              </a:ext>
            </a:extLst>
          </p:cNvPr>
          <p:cNvSpPr>
            <a:spLocks xmlns:a="http://schemas.openxmlformats.org/drawingml/2006/main" noGrp="1"/>
          </p:cNvSpPr>
          <p:nvPr/>
        </p:nvSpPr>
        <p:spPr>
          <a:xfrm xmlns:a="http://schemas.openxmlformats.org/drawingml/2006/main">
            <a:off x="3152775" y="2324100"/>
            <a:ext cx="2286000"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Eureka server</a:t>
            </a:r>
          </a:p>
        </p:txBody>
      </p:sp>
      <p:sp>
        <p:nvSpPr>
          <p:cNvPr id="8" name="shape-439">
            <a:extLst xmlns:a="http://schemas.openxmlformats.org/drawingml/2006/main">
              <a:ext uri="{FF2B5EF4-FFF2-40B4-BE49-F238E27FC236}">
                <a16:creationId xmlns:a16="http://schemas.microsoft.com/office/drawing/2014/main" id="{E7BC8898-B6C4-49CF-9515-14BEBE3146E0}"/>
              </a:ext>
            </a:extLst>
          </p:cNvPr>
          <p:cNvSpPr>
            <a:spLocks xmlns:a="http://schemas.openxmlformats.org/drawingml/2006/main" noGrp="1"/>
          </p:cNvSpPr>
          <p:nvPr/>
        </p:nvSpPr>
        <p:spPr>
          <a:xfrm xmlns:a="http://schemas.openxmlformats.org/drawingml/2006/main">
            <a:off x="5772150" y="2324100"/>
            <a:ext cx="2286000"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Business services</a:t>
            </a:r>
          </a:p>
        </p:txBody>
      </p:sp>
      <p:sp>
        <p:nvSpPr>
          <p:cNvPr id="11" name="shape-440">
            <a:extLst xmlns:a="http://schemas.openxmlformats.org/drawingml/2006/main">
              <a:ext uri="{FF2B5EF4-FFF2-40B4-BE49-F238E27FC236}">
                <a16:creationId xmlns:a16="http://schemas.microsoft.com/office/drawing/2014/main" id="{07CE02C1-9BF2-4E16-8327-ACA2E189C64D}"/>
              </a:ext>
            </a:extLst>
          </p:cNvPr>
          <p:cNvSpPr>
            <a:spLocks xmlns:a="http://schemas.openxmlformats.org/drawingml/2006/main" noGrp="1"/>
          </p:cNvSpPr>
          <p:nvPr/>
        </p:nvSpPr>
        <p:spPr>
          <a:xfrm xmlns:a="http://schemas.openxmlformats.org/drawingml/2006/main">
            <a:off x="533400" y="4219575"/>
            <a:ext cx="2286000" cy="8382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API Gateway</a:t>
            </a:r>
          </a:p>
        </p:txBody>
      </p:sp>
      <p:sp>
        <p:nvSpPr>
          <p:cNvPr id="12" name="shape-441">
            <a:extLst xmlns:a="http://schemas.openxmlformats.org/drawingml/2006/main">
              <a:ext uri="{FF2B5EF4-FFF2-40B4-BE49-F238E27FC236}">
                <a16:creationId xmlns:a16="http://schemas.microsoft.com/office/drawing/2014/main" id="{F17F58B7-4634-447A-BDBA-491742E582DA}"/>
              </a:ext>
            </a:extLst>
          </p:cNvPr>
          <p:cNvSpPr>
            <a:spLocks xmlns:a="http://schemas.openxmlformats.org/drawingml/2006/main" noGrp="1"/>
          </p:cNvSpPr>
          <p:nvPr/>
        </p:nvSpPr>
        <p:spPr>
          <a:xfrm xmlns:a="http://schemas.openxmlformats.org/drawingml/2006/main">
            <a:off x="3152775" y="4219575"/>
            <a:ext cx="2286000"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Angular frontend</a:t>
            </a:r>
          </a:p>
        </p:txBody>
      </p:sp>
      <p:sp>
        <p:nvSpPr>
          <p:cNvPr id="13" name="shape-442">
            <a:extLst xmlns:a="http://schemas.openxmlformats.org/drawingml/2006/main">
              <a:ext uri="{FF2B5EF4-FFF2-40B4-BE49-F238E27FC236}">
                <a16:creationId xmlns:a16="http://schemas.microsoft.com/office/drawing/2014/main" id="{10AB0E7C-E5CD-48F1-B521-60CBCB4CFFED}"/>
              </a:ext>
            </a:extLst>
          </p:cNvPr>
          <p:cNvSpPr>
            <a:spLocks xmlns:a="http://schemas.openxmlformats.org/drawingml/2006/main" noGrp="1"/>
          </p:cNvSpPr>
          <p:nvPr/>
        </p:nvSpPr>
        <p:spPr>
          <a:xfrm xmlns:a="http://schemas.openxmlformats.org/drawingml/2006/main">
            <a:off x="5772150" y="4219575"/>
            <a:ext cx="2286000"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Ready to explore</a:t>
            </a:r>
          </a:p>
        </p:txBody>
      </p:sp>
      <p:sp>
        <p:nvSpPr>
          <p:cNvPr id="16" name="shape-443">
            <a:extLst xmlns:a="http://schemas.openxmlformats.org/drawingml/2006/main">
              <a:ext uri="{FF2B5EF4-FFF2-40B4-BE49-F238E27FC236}">
                <a16:creationId xmlns:a16="http://schemas.microsoft.com/office/drawing/2014/main" id="{6940440C-A04B-4372-80D3-DBE8C7BD8F68}"/>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Prerequisites</a:t>
            </a:r>
          </a:p>
        </p:txBody>
      </p:sp>
      <p:sp>
        <p:nvSpPr>
          <p:cNvPr id="17" name="shape-444">
            <a:extLst xmlns:a="http://schemas.openxmlformats.org/drawingml/2006/main">
              <a:ext uri="{FF2B5EF4-FFF2-40B4-BE49-F238E27FC236}">
                <a16:creationId xmlns:a16="http://schemas.microsoft.com/office/drawing/2014/main" id="{260260F1-611B-418F-B952-5F0E1A8D4264}"/>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Java, Node, MySQL, RabbitMQ and configured provider credentials.</a:t>
            </a:r>
          </a:p>
        </p:txBody>
      </p:sp>
      <p:sp>
        <p:nvSpPr>
          <p:cNvPr id="18" name="shape-445">
            <a:extLst xmlns:a="http://schemas.openxmlformats.org/drawingml/2006/main">
              <a:ext uri="{FF2B5EF4-FFF2-40B4-BE49-F238E27FC236}">
                <a16:creationId xmlns:a16="http://schemas.microsoft.com/office/drawing/2014/main" id="{0AB93E2D-5690-462A-871A-C2EB5950B39A}"/>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Portable setup</a:t>
            </a:r>
          </a:p>
        </p:txBody>
      </p:sp>
      <p:sp>
        <p:nvSpPr>
          <p:cNvPr id="19" name="shape-446">
            <a:extLst xmlns:a="http://schemas.openxmlformats.org/drawingml/2006/main">
              <a:ext uri="{FF2B5EF4-FFF2-40B4-BE49-F238E27FC236}">
                <a16:creationId xmlns:a16="http://schemas.microsoft.com/office/drawing/2014/main" id="{B42DCEF0-CFB7-46F5-85A4-729FB4FBC6DD}"/>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Eight schemas, environment keys and documented SQL catalogue loading.</a:t>
            </a:r>
          </a:p>
        </p:txBody>
      </p:sp>
      <p:sp>
        <p:nvSpPr>
          <p:cNvPr id="20" name="shape-447">
            <a:extLst xmlns:a="http://schemas.openxmlformats.org/drawingml/2006/main">
              <a:ext uri="{FF2B5EF4-FFF2-40B4-BE49-F238E27FC236}">
                <a16:creationId xmlns:a16="http://schemas.microsoft.com/office/drawing/2014/main" id="{F3792A0D-F7F5-4C4B-8291-5D4415A0968A}"/>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1" name="shape-448">
            <a:extLst xmlns:a="http://schemas.openxmlformats.org/drawingml/2006/main">
              <a:ext uri="{FF2B5EF4-FFF2-40B4-BE49-F238E27FC236}">
                <a16:creationId xmlns:a16="http://schemas.microsoft.com/office/drawing/2014/main" id="{49F2379D-CD98-4B61-AC74-67BEE1CCBFE6}"/>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Keep .env and credentials private; configure them separately on each machine.</a:t>
            </a:r>
          </a:p>
        </p:txBody>
      </p:sp>
    </p:spTree>
    <p:extLst>
      <p:ext uri="{BB962C8B-B14F-4D97-AF65-F5344CB8AC3E}">
        <p14:creationId xmlns:p14="http://schemas.microsoft.com/office/powerpoint/2010/main" val="191158965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F22482F-E199-492A-955A-78A916EE9ACA}"/>
              </a:ext>
            </a:extLst>
          </p:cNvPr>
          <p:cNvCxnSpPr>
            <a:stCxn xmlns:a="http://schemas.openxmlformats.org/drawingml/2006/main" id="6" idx="3"/>
            <a:endCxn xmlns:a="http://schemas.openxmlformats.org/drawingml/2006/main" id="7" idx="1"/>
          </p:cNvCxnSpPr>
          <p:nvPr/>
        </p:nvCxnSpPr>
        <p:spPr>
          <a:xfrm xmlns:a="http://schemas.openxmlformats.org/drawingml/2006/main">
            <a:off x="3962400" y="2538413"/>
            <a:ext cx="7334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7" name="shape-449">
            <a:extLst xmlns:a="http://schemas.openxmlformats.org/drawingml/2006/main">
              <a:ext uri="{FF2B5EF4-FFF2-40B4-BE49-F238E27FC236}">
                <a16:creationId xmlns:a16="http://schemas.microsoft.com/office/drawing/2014/main" id="{7DD7F961-5BDC-4F5D-A932-43F969D60F37}"/>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26 / TRADE-OFFS</a:t>
            </a:r>
          </a:p>
        </p:txBody>
      </p:sp>
      <p:sp>
        <p:nvSpPr>
          <p:cNvPr id="2" name="shape-450">
            <a:extLst xmlns:a="http://schemas.openxmlformats.org/drawingml/2006/main">
              <a:ext uri="{FF2B5EF4-FFF2-40B4-BE49-F238E27FC236}">
                <a16:creationId xmlns:a16="http://schemas.microsoft.com/office/drawing/2014/main" id="{27515538-3461-4184-9377-98EEFE365D1D}"/>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Clear limits make the design easier to defend</a:t>
            </a:r>
          </a:p>
        </p:txBody>
      </p:sp>
      <p:sp>
        <p:nvSpPr>
          <p:cNvPr id="3" name="shape-451">
            <a:extLst xmlns:a="http://schemas.openxmlformats.org/drawingml/2006/main">
              <a:ext uri="{FF2B5EF4-FFF2-40B4-BE49-F238E27FC236}">
                <a16:creationId xmlns:a16="http://schemas.microsoft.com/office/drawing/2014/main" id="{28F08484-1869-4903-94DC-3F2A00FF5B65}"/>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I distinguish implemented behaviour from future improvements.</a:t>
            </a:r>
          </a:p>
        </p:txBody>
      </p:sp>
      <p:sp>
        <p:nvSpPr>
          <p:cNvPr id="4" name="shape-452">
            <a:extLst xmlns:a="http://schemas.openxmlformats.org/drawingml/2006/main">
              <a:ext uri="{FF2B5EF4-FFF2-40B4-BE49-F238E27FC236}">
                <a16:creationId xmlns:a16="http://schemas.microsoft.com/office/drawing/2014/main" id="{1913F69E-449E-4370-ACA9-0F57EE4C046E}"/>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53">
            <a:extLst xmlns:a="http://schemas.openxmlformats.org/drawingml/2006/main">
              <a:ext uri="{FF2B5EF4-FFF2-40B4-BE49-F238E27FC236}">
                <a16:creationId xmlns:a16="http://schemas.microsoft.com/office/drawing/2014/main" id="{B1428A19-20ED-49C0-80C2-CD75826CE54B}"/>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27 / 28</a:t>
            </a:r>
          </a:p>
        </p:txBody>
      </p:sp>
      <p:sp>
        <p:nvSpPr>
          <p:cNvPr id="6" name="shape-454">
            <a:extLst xmlns:a="http://schemas.openxmlformats.org/drawingml/2006/main">
              <a:ext uri="{FF2B5EF4-FFF2-40B4-BE49-F238E27FC236}">
                <a16:creationId xmlns:a16="http://schemas.microsoft.com/office/drawing/2014/main" id="{AB15B550-6EFC-42DC-891F-B42E8519A80E}"/>
              </a:ext>
            </a:extLst>
          </p:cNvPr>
          <p:cNvSpPr>
            <a:spLocks xmlns:a="http://schemas.openxmlformats.org/drawingml/2006/main" noGrp="1"/>
          </p:cNvSpPr>
          <p:nvPr/>
        </p:nvSpPr>
        <p:spPr>
          <a:xfrm xmlns:a="http://schemas.openxmlformats.org/drawingml/2006/main">
            <a:off x="533400" y="2219325"/>
            <a:ext cx="3429000" cy="6381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Implemented now</a:t>
            </a:r>
          </a:p>
        </p:txBody>
      </p:sp>
      <p:sp>
        <p:nvSpPr>
          <p:cNvPr id="7" name="shape-455">
            <a:extLst xmlns:a="http://schemas.openxmlformats.org/drawingml/2006/main">
              <a:ext uri="{FF2B5EF4-FFF2-40B4-BE49-F238E27FC236}">
                <a16:creationId xmlns:a16="http://schemas.microsoft.com/office/drawing/2014/main" id="{C64531A4-C3D5-40F4-90D4-5C0BEF027CE0}"/>
              </a:ext>
            </a:extLst>
          </p:cNvPr>
          <p:cNvSpPr>
            <a:spLocks xmlns:a="http://schemas.openxmlformats.org/drawingml/2006/main" noGrp="1"/>
          </p:cNvSpPr>
          <p:nvPr/>
        </p:nvSpPr>
        <p:spPr>
          <a:xfrm xmlns:a="http://schemas.openxmlformats.org/drawingml/2006/main">
            <a:off x="4695825" y="2219325"/>
            <a:ext cx="3429000" cy="638175"/>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Possible next steps</a:t>
            </a:r>
          </a:p>
        </p:txBody>
      </p:sp>
      <p:sp>
        <p:nvSpPr>
          <p:cNvPr id="9" name="shape-456">
            <a:extLst xmlns:a="http://schemas.openxmlformats.org/drawingml/2006/main">
              <a:ext uri="{FF2B5EF4-FFF2-40B4-BE49-F238E27FC236}">
                <a16:creationId xmlns:a16="http://schemas.microsoft.com/office/drawing/2014/main" id="{4211F111-FF39-4391-A3B3-2F8B6AA382E6}"/>
              </a:ext>
            </a:extLst>
          </p:cNvPr>
          <p:cNvSpPr>
            <a:spLocks xmlns:a="http://schemas.openxmlformats.org/drawingml/2006/main" noGrp="1"/>
          </p:cNvSpPr>
          <p:nvPr/>
        </p:nvSpPr>
        <p:spPr>
          <a:xfrm xmlns:a="http://schemas.openxmlformats.org/drawingml/2006/main">
            <a:off x="533400" y="3238500"/>
            <a:ext cx="3533775"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52442"/>
                </a:solidFill>
                <a:latin typeface="Arial"/>
                <a:ea typeface="Arial"/>
                <a:cs typeface="Arial"/>
              </a:defRPr>
            </a:defPPr>
          </a:lstStyle>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One interchange</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Separate leg bookings</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In-memory AI state</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Razorpay test mode</a:t>
            </a:r>
          </a:p>
        </p:txBody>
      </p:sp>
      <p:sp>
        <p:nvSpPr>
          <p:cNvPr id="10" name="shape-457">
            <a:extLst xmlns:a="http://schemas.openxmlformats.org/drawingml/2006/main">
              <a:ext uri="{FF2B5EF4-FFF2-40B4-BE49-F238E27FC236}">
                <a16:creationId xmlns:a16="http://schemas.microsoft.com/office/drawing/2014/main" id="{F01017BF-7F28-4C37-88D1-B151BB4F631F}"/>
              </a:ext>
            </a:extLst>
          </p:cNvPr>
          <p:cNvSpPr>
            <a:spLocks xmlns:a="http://schemas.openxmlformats.org/drawingml/2006/main" noGrp="1"/>
          </p:cNvSpPr>
          <p:nvPr/>
        </p:nvSpPr>
        <p:spPr>
          <a:xfrm xmlns:a="http://schemas.openxmlformats.org/drawingml/2006/main">
            <a:off x="4695825" y="3238500"/>
            <a:ext cx="35623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52442"/>
                </a:solidFill>
                <a:latin typeface="Arial"/>
                <a:ea typeface="Arial"/>
                <a:cs typeface="Arial"/>
              </a:defRPr>
            </a:defPPr>
          </a:lstStyle>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Connection protection design</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Shared durable AI state</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Load and resilience testing</a:t>
            </a:r>
          </a:p>
          <a:p xmlns:a="http://schemas.openxmlformats.org/drawingml/2006/main">
            <a:pPr algn="l">
              <a:defRPr sz="2175" b="0">
                <a:solidFill>
                  <a:srgbClr val="152442"/>
                </a:solidFill>
                <a:latin typeface="Arial"/>
                <a:ea typeface="Arial"/>
                <a:cs typeface="Arial"/>
              </a:defRPr>
            </a:pPr>
            <a:r>
              <a:rPr sz="2175" b="0">
                <a:solidFill>
                  <a:srgbClr val="152442"/>
                </a:solidFill>
                <a:latin typeface="Arial"/>
                <a:ea typeface="Arial"/>
                <a:cs typeface="Arial"/>
              </a:rPr>
              <a:t>Deeper observability</a:t>
            </a:r>
          </a:p>
        </p:txBody>
      </p:sp>
      <p:sp>
        <p:nvSpPr>
          <p:cNvPr id="11" name="shape-458">
            <a:extLst xmlns:a="http://schemas.openxmlformats.org/drawingml/2006/main">
              <a:ext uri="{FF2B5EF4-FFF2-40B4-BE49-F238E27FC236}">
                <a16:creationId xmlns:a16="http://schemas.microsoft.com/office/drawing/2014/main" id="{8F7DE34E-3CEA-4278-9BA2-FD8F8FB5AB59}"/>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Current boundary</a:t>
            </a:r>
          </a:p>
        </p:txBody>
      </p:sp>
      <p:sp>
        <p:nvSpPr>
          <p:cNvPr id="12" name="shape-459">
            <a:extLst xmlns:a="http://schemas.openxmlformats.org/drawingml/2006/main">
              <a:ext uri="{FF2B5EF4-FFF2-40B4-BE49-F238E27FC236}">
                <a16:creationId xmlns:a16="http://schemas.microsoft.com/office/drawing/2014/main" id="{CAC6D68E-57FF-48AE-AE15-D02D6D54E564}"/>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Own timetable and inventory, without live railway integration.</a:t>
            </a:r>
          </a:p>
        </p:txBody>
      </p:sp>
      <p:sp>
        <p:nvSpPr>
          <p:cNvPr id="13" name="shape-460">
            <a:extLst xmlns:a="http://schemas.openxmlformats.org/drawingml/2006/main">
              <a:ext uri="{FF2B5EF4-FFF2-40B4-BE49-F238E27FC236}">
                <a16:creationId xmlns:a16="http://schemas.microsoft.com/office/drawing/2014/main" id="{0CF6AB20-CAD7-4155-99D0-D46FDFFF5D79}"/>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Design discipline</a:t>
            </a:r>
          </a:p>
        </p:txBody>
      </p:sp>
      <p:sp>
        <p:nvSpPr>
          <p:cNvPr id="14" name="shape-461">
            <a:extLst xmlns:a="http://schemas.openxmlformats.org/drawingml/2006/main">
              <a:ext uri="{FF2B5EF4-FFF2-40B4-BE49-F238E27FC236}">
                <a16:creationId xmlns:a16="http://schemas.microsoft.com/office/drawing/2014/main" id="{C140D961-F99D-4F6D-9EAA-FC2C416D4E72}"/>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Future ideas need data, operational rules and validation.</a:t>
            </a:r>
          </a:p>
        </p:txBody>
      </p:sp>
      <p:sp>
        <p:nvSpPr>
          <p:cNvPr id="15" name="shape-462">
            <a:extLst xmlns:a="http://schemas.openxmlformats.org/drawingml/2006/main">
              <a:ext uri="{FF2B5EF4-FFF2-40B4-BE49-F238E27FC236}">
                <a16:creationId xmlns:a16="http://schemas.microsoft.com/office/drawing/2014/main" id="{83011C2E-0DE1-4C68-9125-5425BF4501BD}"/>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6" name="shape-463">
            <a:extLst xmlns:a="http://schemas.openxmlformats.org/drawingml/2006/main">
              <a:ext uri="{FF2B5EF4-FFF2-40B4-BE49-F238E27FC236}">
                <a16:creationId xmlns:a16="http://schemas.microsoft.com/office/drawing/2014/main" id="{B01BB13E-C758-4E56-B942-4162EA42268E}"/>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 complete academic platform can still have explicitly stated production limitations.</a:t>
            </a:r>
          </a:p>
        </p:txBody>
      </p:sp>
    </p:spTree>
    <p:extLst>
      <p:ext uri="{BB962C8B-B14F-4D97-AF65-F5344CB8AC3E}">
        <p14:creationId xmlns:p14="http://schemas.microsoft.com/office/powerpoint/2010/main" val="22743228"/>
      </p:ext>
    </p:extLst>
  </p:cSld>
</p:sld>
</file>

<file path=ppt/slides/slide28.xml><?xml version="1.0" encoding="utf-8"?>
<p:sld xmlns:p="http://schemas.openxmlformats.org/presentationml/2006/main">
  <p:cSld>
    <p:bg>
      <p:bgPr>
        <a:solidFill xmlns:a="http://schemas.openxmlformats.org/drawingml/2006/main">
          <a:srgbClr val="0B163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7B11B17-6C2C-4122-A6D6-FD7D637B37EB}"/>
              </a:ext>
            </a:extLst>
          </p:cNvPr>
          <p:cNvCxnSpPr>
            <a:stCxn xmlns:a="http://schemas.openxmlformats.org/drawingml/2006/main" id="7" idx="3"/>
            <a:endCxn xmlns:a="http://schemas.openxmlformats.org/drawingml/2006/main" id="8" idx="1"/>
          </p:cNvCxnSpPr>
          <p:nvPr/>
        </p:nvCxnSpPr>
        <p:spPr>
          <a:xfrm xmlns:a="http://schemas.openxmlformats.org/drawingml/2006/main">
            <a:off x="7705725" y="3190875"/>
            <a:ext cx="6953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6FE7386-2D97-43E9-A6B8-67D1BFEF9631}"/>
              </a:ext>
            </a:extLst>
          </p:cNvPr>
          <p:cNvCxnSpPr>
            <a:stCxn xmlns:a="http://schemas.openxmlformats.org/drawingml/2006/main" id="6" idx="3"/>
            <a:endCxn xmlns:a="http://schemas.openxmlformats.org/drawingml/2006/main" id="7" idx="1"/>
          </p:cNvCxnSpPr>
          <p:nvPr/>
        </p:nvCxnSpPr>
        <p:spPr>
          <a:xfrm xmlns:a="http://schemas.openxmlformats.org/drawingml/2006/main">
            <a:off x="3771900" y="3190875"/>
            <a:ext cx="6953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6" name="shape-464">
            <a:extLst xmlns:a="http://schemas.openxmlformats.org/drawingml/2006/main">
              <a:ext uri="{FF2B5EF4-FFF2-40B4-BE49-F238E27FC236}">
                <a16:creationId xmlns:a16="http://schemas.microsoft.com/office/drawing/2014/main" id="{2B2C54C9-E1D7-41C8-AB3C-B6C343380B4A}"/>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61DCF2"/>
                </a:solidFill>
                <a:latin typeface="Arial"/>
                <a:ea typeface="Arial"/>
                <a:cs typeface="Arial"/>
              </a:defRPr>
            </a:defPPr>
          </a:lstStyle>
          <a:p xmlns:a="http://schemas.openxmlformats.org/drawingml/2006/main">
            <a:pPr algn="l">
              <a:defRPr sz="1200" b="1">
                <a:solidFill>
                  <a:srgbClr val="61DCF2"/>
                </a:solidFill>
                <a:latin typeface="Arial"/>
                <a:ea typeface="Arial"/>
                <a:cs typeface="Arial"/>
              </a:defRPr>
            </a:pPr>
            <a:r>
              <a:rPr sz="1200" b="1">
                <a:solidFill>
                  <a:srgbClr val="61DCF2"/>
                </a:solidFill>
                <a:latin typeface="Arial"/>
                <a:ea typeface="Arial"/>
                <a:cs typeface="Arial"/>
              </a:rPr>
              <a:t>27 / CLOSING</a:t>
            </a:r>
          </a:p>
        </p:txBody>
      </p:sp>
      <p:sp>
        <p:nvSpPr>
          <p:cNvPr id="2" name="shape-465">
            <a:extLst xmlns:a="http://schemas.openxmlformats.org/drawingml/2006/main">
              <a:ext uri="{FF2B5EF4-FFF2-40B4-BE49-F238E27FC236}">
                <a16:creationId xmlns:a16="http://schemas.microsoft.com/office/drawing/2014/main" id="{39702D37-5646-4D61-A635-C2292FF49687}"/>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My contribution: discovery with dependable booking</a:t>
            </a:r>
          </a:p>
        </p:txBody>
      </p:sp>
      <p:sp>
        <p:nvSpPr>
          <p:cNvPr id="3" name="shape-466">
            <a:extLst xmlns:a="http://schemas.openxmlformats.org/drawingml/2006/main">
              <a:ext uri="{FF2B5EF4-FFF2-40B4-BE49-F238E27FC236}">
                <a16:creationId xmlns:a16="http://schemas.microsoft.com/office/drawing/2014/main" id="{3445BE2F-61E7-4119-88C5-798C87BFECE0}"/>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B9C9E4"/>
                </a:solidFill>
                <a:latin typeface="Arial"/>
                <a:ea typeface="Arial"/>
                <a:cs typeface="Arial"/>
              </a:defRPr>
            </a:defPPr>
          </a:lstStyle>
          <a:p xmlns:a="http://schemas.openxmlformats.org/drawingml/2006/main">
            <a:pPr algn="l">
              <a:defRPr sz="1800" b="0">
                <a:solidFill>
                  <a:srgbClr val="B9C9E4"/>
                </a:solidFill>
                <a:latin typeface="Arial"/>
                <a:ea typeface="Arial"/>
                <a:cs typeface="Arial"/>
              </a:defRPr>
            </a:pPr>
            <a:r>
              <a:rPr sz="1800" b="0">
                <a:solidFill>
                  <a:srgbClr val="B9C9E4"/>
                </a:solidFill>
                <a:latin typeface="Arial"/>
                <a:ea typeface="Arial"/>
                <a:cs typeface="Arial"/>
              </a:rPr>
              <a:t>I connect the search problem to the complete passenger journey.</a:t>
            </a:r>
          </a:p>
        </p:txBody>
      </p:sp>
      <p:sp>
        <p:nvSpPr>
          <p:cNvPr id="4" name="shape-467">
            <a:extLst xmlns:a="http://schemas.openxmlformats.org/drawingml/2006/main">
              <a:ext uri="{FF2B5EF4-FFF2-40B4-BE49-F238E27FC236}">
                <a16:creationId xmlns:a16="http://schemas.microsoft.com/office/drawing/2014/main" id="{2E8248D2-880F-4974-B49D-8C7AF3F308BB}"/>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9CB1D5"/>
                </a:solidFill>
                <a:latin typeface="Arial"/>
                <a:ea typeface="Arial"/>
                <a:cs typeface="Arial"/>
              </a:defRPr>
            </a:defPPr>
          </a:lstStyle>
          <a:p xmlns:a="http://schemas.openxmlformats.org/drawingml/2006/main">
            <a:pPr algn="l">
              <a:defRPr sz="975" b="0">
                <a:solidFill>
                  <a:srgbClr val="9CB1D5"/>
                </a:solidFill>
                <a:latin typeface="Arial"/>
                <a:ea typeface="Arial"/>
                <a:cs typeface="Arial"/>
              </a:defRPr>
            </a:pPr>
            <a:r>
              <a:rPr sz="975" b="0">
                <a:solidFill>
                  <a:srgbClr val="9CB1D5"/>
                </a:solidFill>
                <a:latin typeface="Arial"/>
                <a:ea typeface="Arial"/>
                <a:cs typeface="Arial"/>
              </a:rPr>
              <a:t>RAILWIZE  /  PROJECT PRESENTATION</a:t>
            </a:r>
          </a:p>
        </p:txBody>
      </p:sp>
      <p:sp>
        <p:nvSpPr>
          <p:cNvPr id="5" name="shape-468">
            <a:extLst xmlns:a="http://schemas.openxmlformats.org/drawingml/2006/main">
              <a:ext uri="{FF2B5EF4-FFF2-40B4-BE49-F238E27FC236}">
                <a16:creationId xmlns:a16="http://schemas.microsoft.com/office/drawing/2014/main" id="{5FFC6CF9-4E99-43F6-B60B-CD8680D0B69F}"/>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9CB1D5"/>
                </a:solidFill>
                <a:latin typeface="Arial"/>
                <a:ea typeface="Arial"/>
                <a:cs typeface="Arial"/>
              </a:defRPr>
            </a:defPPr>
          </a:lstStyle>
          <a:p xmlns:a="http://schemas.openxmlformats.org/drawingml/2006/main">
            <a:pPr algn="r">
              <a:defRPr sz="1125" b="0">
                <a:solidFill>
                  <a:srgbClr val="9CB1D5"/>
                </a:solidFill>
                <a:latin typeface="Arial"/>
                <a:ea typeface="Arial"/>
                <a:cs typeface="Arial"/>
              </a:defRPr>
            </a:pPr>
            <a:r>
              <a:rPr sz="1125" b="0">
                <a:solidFill>
                  <a:srgbClr val="9CB1D5"/>
                </a:solidFill>
                <a:latin typeface="Arial"/>
                <a:ea typeface="Arial"/>
                <a:cs typeface="Arial"/>
              </a:rPr>
              <a:t>28 / 28</a:t>
            </a:r>
          </a:p>
        </p:txBody>
      </p:sp>
      <p:sp>
        <p:nvSpPr>
          <p:cNvPr id="6" name="shape-469">
            <a:extLst xmlns:a="http://schemas.openxmlformats.org/drawingml/2006/main">
              <a:ext uri="{FF2B5EF4-FFF2-40B4-BE49-F238E27FC236}">
                <a16:creationId xmlns:a16="http://schemas.microsoft.com/office/drawing/2014/main" id="{429BC388-9345-4403-9F6A-DE043CB50C29}"/>
              </a:ext>
            </a:extLst>
          </p:cNvPr>
          <p:cNvSpPr>
            <a:spLocks xmlns:a="http://schemas.openxmlformats.org/drawingml/2006/main" noGrp="1"/>
          </p:cNvSpPr>
          <p:nvPr/>
        </p:nvSpPr>
        <p:spPr>
          <a:xfrm xmlns:a="http://schemas.openxmlformats.org/drawingml/2006/main">
            <a:off x="533400" y="2762250"/>
            <a:ext cx="32385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Find a journey</a:t>
            </a:r>
          </a:p>
        </p:txBody>
      </p:sp>
      <p:sp>
        <p:nvSpPr>
          <p:cNvPr id="7" name="shape-470">
            <a:extLst xmlns:a="http://schemas.openxmlformats.org/drawingml/2006/main">
              <a:ext uri="{FF2B5EF4-FFF2-40B4-BE49-F238E27FC236}">
                <a16:creationId xmlns:a16="http://schemas.microsoft.com/office/drawing/2014/main" id="{7C7D798E-BDDF-4EB1-9614-632DAAE9E0CD}"/>
              </a:ext>
            </a:extLst>
          </p:cNvPr>
          <p:cNvSpPr>
            <a:spLocks xmlns:a="http://schemas.openxmlformats.org/drawingml/2006/main" noGrp="1"/>
          </p:cNvSpPr>
          <p:nvPr/>
        </p:nvSpPr>
        <p:spPr>
          <a:xfrm xmlns:a="http://schemas.openxmlformats.org/drawingml/2006/main">
            <a:off x="4467225" y="2762250"/>
            <a:ext cx="32385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Book and pay</a:t>
            </a:r>
          </a:p>
        </p:txBody>
      </p:sp>
      <p:sp>
        <p:nvSpPr>
          <p:cNvPr id="8" name="shape-471">
            <a:extLst xmlns:a="http://schemas.openxmlformats.org/drawingml/2006/main">
              <a:ext uri="{FF2B5EF4-FFF2-40B4-BE49-F238E27FC236}">
                <a16:creationId xmlns:a16="http://schemas.microsoft.com/office/drawing/2014/main" id="{A769BD74-61D0-495F-B4FF-0C91732F63F9}"/>
              </a:ext>
            </a:extLst>
          </p:cNvPr>
          <p:cNvSpPr>
            <a:spLocks xmlns:a="http://schemas.openxmlformats.org/drawingml/2006/main" noGrp="1"/>
          </p:cNvSpPr>
          <p:nvPr/>
        </p:nvSpPr>
        <p:spPr>
          <a:xfrm xmlns:a="http://schemas.openxmlformats.org/drawingml/2006/main">
            <a:off x="8401050" y="2762250"/>
            <a:ext cx="32385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Track and resolve</a:t>
            </a:r>
          </a:p>
        </p:txBody>
      </p:sp>
      <p:sp>
        <p:nvSpPr>
          <p:cNvPr id="11" name="shape-472">
            <a:extLst xmlns:a="http://schemas.openxmlformats.org/drawingml/2006/main">
              <a:ext uri="{FF2B5EF4-FFF2-40B4-BE49-F238E27FC236}">
                <a16:creationId xmlns:a16="http://schemas.microsoft.com/office/drawing/2014/main" id="{569368B9-DA36-4DCA-AAEE-4FD190C3811A}"/>
              </a:ext>
            </a:extLst>
          </p:cNvPr>
          <p:cNvSpPr>
            <a:spLocks xmlns:a="http://schemas.openxmlformats.org/drawingml/2006/main" noGrp="1"/>
          </p:cNvSpPr>
          <p:nvPr/>
        </p:nvSpPr>
        <p:spPr>
          <a:xfrm xmlns:a="http://schemas.openxmlformats.org/drawingml/2006/main">
            <a:off x="533400" y="3943350"/>
            <a:ext cx="32575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Direct + nearby + connecting</a:t>
            </a:r>
          </a:p>
        </p:txBody>
      </p:sp>
      <p:sp>
        <p:nvSpPr>
          <p:cNvPr id="12" name="shape-473">
            <a:extLst xmlns:a="http://schemas.openxmlformats.org/drawingml/2006/main">
              <a:ext uri="{FF2B5EF4-FFF2-40B4-BE49-F238E27FC236}">
                <a16:creationId xmlns:a16="http://schemas.microsoft.com/office/drawing/2014/main" id="{B0252BEF-4EE7-4473-8FDF-AE652E304D50}"/>
              </a:ext>
            </a:extLst>
          </p:cNvPr>
          <p:cNvSpPr>
            <a:spLocks xmlns:a="http://schemas.openxmlformats.org/drawingml/2006/main" noGrp="1"/>
          </p:cNvSpPr>
          <p:nvPr/>
        </p:nvSpPr>
        <p:spPr>
          <a:xfrm xmlns:a="http://schemas.openxmlformats.org/drawingml/2006/main">
            <a:off x="4467225" y="394335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CNF / WL + test checkout</a:t>
            </a:r>
          </a:p>
        </p:txBody>
      </p:sp>
      <p:sp>
        <p:nvSpPr>
          <p:cNvPr id="13" name="shape-474">
            <a:extLst xmlns:a="http://schemas.openxmlformats.org/drawingml/2006/main">
              <a:ext uri="{FF2B5EF4-FFF2-40B4-BE49-F238E27FC236}">
                <a16:creationId xmlns:a16="http://schemas.microsoft.com/office/drawing/2014/main" id="{9E00942D-7854-4215-847B-DCB1A252C835}"/>
              </a:ext>
            </a:extLst>
          </p:cNvPr>
          <p:cNvSpPr>
            <a:spLocks xmlns:a="http://schemas.openxmlformats.org/drawingml/2006/main" noGrp="1"/>
          </p:cNvSpPr>
          <p:nvPr/>
        </p:nvSpPr>
        <p:spPr>
          <a:xfrm xmlns:a="http://schemas.openxmlformats.org/drawingml/2006/main">
            <a:off x="8401050" y="3943350"/>
            <a:ext cx="327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Updates + refunds + support</a:t>
            </a:r>
          </a:p>
        </p:txBody>
      </p:sp>
      <p:sp>
        <p:nvSpPr>
          <p:cNvPr id="14" name="shape-475">
            <a:extLst xmlns:a="http://schemas.openxmlformats.org/drawingml/2006/main">
              <a:ext uri="{FF2B5EF4-FFF2-40B4-BE49-F238E27FC236}">
                <a16:creationId xmlns:a16="http://schemas.microsoft.com/office/drawing/2014/main" id="{BC617547-A0DA-4207-B2F6-BF1ECEE919B2}"/>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304361"/>
          </a:solidFill>
          <a:ln xmlns:a="http://schemas.openxmlformats.org/drawingml/2006/main" w="0">
            <a:noFill/>
          </a:ln>
        </p:spPr>
      </p:sp>
      <p:sp>
        <p:nvSpPr>
          <p:cNvPr id="15" name="shape-476">
            <a:extLst xmlns:a="http://schemas.openxmlformats.org/drawingml/2006/main">
              <a:ext uri="{FF2B5EF4-FFF2-40B4-BE49-F238E27FC236}">
                <a16:creationId xmlns:a16="http://schemas.microsoft.com/office/drawing/2014/main" id="{510A4F5F-0B5E-4FAC-B103-5F801D9EEF73}"/>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61DCF2"/>
                </a:solidFill>
                <a:latin typeface="Arial"/>
                <a:ea typeface="Arial"/>
                <a:cs typeface="Arial"/>
              </a:defRPr>
            </a:defPPr>
          </a:lstStyle>
          <a:p xmlns:a="http://schemas.openxmlformats.org/drawingml/2006/main">
            <a:pPr algn="l">
              <a:defRPr sz="1800" b="1">
                <a:solidFill>
                  <a:srgbClr val="61DCF2"/>
                </a:solidFill>
                <a:latin typeface="Arial"/>
                <a:ea typeface="Arial"/>
                <a:cs typeface="Arial"/>
              </a:defRPr>
            </a:pPr>
            <a:r>
              <a:rPr sz="1800" b="1">
                <a:solidFill>
                  <a:srgbClr val="61DCF2"/>
                </a:solidFill>
                <a:latin typeface="Arial"/>
                <a:ea typeface="Arial"/>
                <a:cs typeface="Arial"/>
              </a:rPr>
              <a:t>I built Railwize to reduce fragmented journey planning and keep the reservation lifecycle visible.</a:t>
            </a:r>
          </a:p>
        </p:txBody>
      </p:sp>
    </p:spTree>
    <p:extLst>
      <p:ext uri="{BB962C8B-B14F-4D97-AF65-F5344CB8AC3E}">
        <p14:creationId xmlns:p14="http://schemas.microsoft.com/office/powerpoint/2010/main" val="979276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2026-10-13T21:44:38.0920000Z</dcterms:created>
  <dcterms:modified xsi:type="dcterms:W3CDTF">2026-10-13T21:44:38.0920000Z</dcterms:modified>
</coreProperties>
</file>