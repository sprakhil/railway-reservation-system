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7fa54c5665458d" /><Relationship Type="http://schemas.openxmlformats.org/officeDocument/2006/relationships/extended-properties" Target="/docProps/app.xml" Id="Rdebf4a10c67c435b" /><Relationship Type="http://schemas.openxmlformats.org/officeDocument/2006/relationships/officeDocument" Target="/ppt/presentation.xml" Id="R71be8ef4ed0048b4" /></Relationships>
</file>

<file path=ppt/presentation.xml><?xml version="1.0" encoding="utf-8"?>
<p:presentation xmlns:p="http://schemas.openxmlformats.org/presentationml/2006/main">
  <p:sldMasterIdLst>
    <p:sldMasterId xmlns:r="http://schemas.openxmlformats.org/officeDocument/2006/relationships" id="2147483648" r:id="R87dbbf00538449b0"/>
  </p:sldMasterIdLst>
  <p:notesMasterIdLst>
    <p:notesMasterId xmlns:r="http://schemas.openxmlformats.org/officeDocument/2006/relationships" r:id="Re77d2ceb6fca477c"/>
  </p:notesMasterIdLst>
  <p:sldIdLst>
    <p:sldId xmlns:r="http://schemas.openxmlformats.org/officeDocument/2006/relationships" id="256" r:id="R1728c96b74da492a"/>
    <p:sldId xmlns:r="http://schemas.openxmlformats.org/officeDocument/2006/relationships" id="257" r:id="Re2793328bb934984"/>
    <p:sldId xmlns:r="http://schemas.openxmlformats.org/officeDocument/2006/relationships" id="258" r:id="R49c476ddc20f42aa"/>
    <p:sldId xmlns:r="http://schemas.openxmlformats.org/officeDocument/2006/relationships" id="259" r:id="R158644440fd54d55"/>
    <p:sldId xmlns:r="http://schemas.openxmlformats.org/officeDocument/2006/relationships" id="260" r:id="R305c2816cb5e46a8"/>
    <p:sldId xmlns:r="http://schemas.openxmlformats.org/officeDocument/2006/relationships" id="261" r:id="R367066cfaff349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9a2266651d4418" /><Relationship Type="http://schemas.openxmlformats.org/officeDocument/2006/relationships/slideMaster" Target="/ppt/slideMasters/slideMaster1.xml" Id="R87dbbf00538449b0" /><Relationship Type="http://schemas.openxmlformats.org/officeDocument/2006/relationships/notesMaster" Target="/ppt/notesMasters/notesMaster1.xml" Id="Re77d2ceb6fca477c" /><Relationship Type="http://schemas.openxmlformats.org/officeDocument/2006/relationships/presProps" Target="/ppt/presProps.xml" Id="R884df0a0421b4a1c" /><Relationship Type="http://schemas.openxmlformats.org/officeDocument/2006/relationships/tableStyles" Target="/ppt/tableStyles.xml" Id="R719d0158ca6e4f4f" /><Relationship Type="http://schemas.openxmlformats.org/officeDocument/2006/relationships/slide" Target="/ppt/slides/slide1.xml" Id="R1728c96b74da492a" /><Relationship Type="http://schemas.openxmlformats.org/officeDocument/2006/relationships/slide" Target="/ppt/slides/slide2.xml" Id="Re2793328bb934984" /><Relationship Type="http://schemas.openxmlformats.org/officeDocument/2006/relationships/slide" Target="/ppt/slides/slide3.xml" Id="R49c476ddc20f42aa" /><Relationship Type="http://schemas.openxmlformats.org/officeDocument/2006/relationships/slide" Target="/ppt/slides/slide4.xml" Id="R158644440fd54d55" /><Relationship Type="http://schemas.openxmlformats.org/officeDocument/2006/relationships/slide" Target="/ppt/slides/slide5.xml" Id="R305c2816cb5e46a8" /><Relationship Type="http://schemas.openxmlformats.org/officeDocument/2006/relationships/slide" Target="/ppt/slides/slide6.xml" Id="R367066cfaff349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08b813f09a41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50e27a7c343c4" /><Relationship Type="http://schemas.openxmlformats.org/officeDocument/2006/relationships/notesMaster" Target="/ppt/notesMasters/notesMaster1.xml" Id="R27da164f59f241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b672423376485e" /><Relationship Type="http://schemas.openxmlformats.org/officeDocument/2006/relationships/notesMaster" Target="/ppt/notesMasters/notesMaster1.xml" Id="R83c094f8497e4d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9bd9ac343d42ba" /><Relationship Type="http://schemas.openxmlformats.org/officeDocument/2006/relationships/notesMaster" Target="/ppt/notesMasters/notesMaster1.xml" Id="R7b82d19ca9f746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edf0dacc6941ac" /><Relationship Type="http://schemas.openxmlformats.org/officeDocument/2006/relationships/notesMaster" Target="/ppt/notesMasters/notesMaster1.xml" Id="Rd274f7c45fa241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c2d4f5866043a2" /><Relationship Type="http://schemas.openxmlformats.org/officeDocument/2006/relationships/notesMaster" Target="/ppt/notesMasters/notesMaster1.xml" Id="Rbbf9d7d0e14b4f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af152bf7fe4fa7" /><Relationship Type="http://schemas.openxmlformats.org/officeDocument/2006/relationships/notesMaster" Target="/ppt/notesMasters/notesMaster1.xml" Id="R66e289488cd34e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Railwize to help passengers find a practical journey even when an exact direct train is unavailable. It combines a modern Angular interface with Spring Boot services for accounts, booking, test payment and support. The platform manages its own catalogue and inventory, rather than connecting to the live Indian Railways reservation system. In this short presentation I will focus on the problem, the distinctive discovery feature, the architecture and the booking safeguards.</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Mumbai Central to Old Delhi request, a train arriving at nearby New Delhi can be useful. The planner expands both origin and destination candidates, checks operating dates and availability, and shows real station names with codes. It can also suggest one same-station interchange, such as the illustrative Nizamuddin to Varanasi journey through Lucknow Junction. Ranking is deterministic and bounded. Each connection leg remains an independent booking; local transfers and missed-connection protection are not included.</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Angular calls the API Gateway. Eight business services own their data in separate MySQL schemas. Config Server and Eureka provide configuration and discovery; the chatbot is the twelfth service. Feign supports immediate service calls and RabbitMQ supports event-driven notifications. JWT sessions, role checks and ownership checks protect operations. Gemini supplies policy and read-only assistance through Spring AI, with in-memory stores and fallback behaviour.</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search, the passenger selects a class and one to six passengers. The server calculates the quote and uses locked inventory to create a two-minute hold. Razorpay test payment is verified server-side. The entire booking becomes confirmed or waiting. Paid waitlisted bookings are automatically promoted in FIFO order only when the whole group fits. Unconfirmed bookings at the cutoff are refunded. Passenger cancellation policy differs from admin cancellation of a dated run, which refunds the full captured fare.</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Passengers can use a Master List, account-scoped recent searches, ticket PDFs, calendar export and notification history. They can ask the assistant about policies or owned bookings, and raise tracked support tickets. Administrators manage stations, trains, schedules, users and bookings, inspect analytics, export CSV reports and cancel dated runs. Admin accounts are created through controlled setup and invitations, never by a public role selector.</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validate business rules with JUnit and Mockito, selected integrations with H2, frontend behaviour with Jasmine, and controlled browser flows with Playwright. Important checks cover invalid dates and passengers, authorization, duplicate requests, seat conflicts and payment/cancellation transitions. I have kept limitations explicit: own inventory, one interchange, separate PNRs and test transactions. Future work can add durable AI state, observability and measured load testing. I would close by showing one alternative journey, a booking, its PDF and updates, then an admin cancellation and refund.</a:t>
            </a:r>
          </a:p>
          <a:p xmlns:a="http://schemas.openxmlformats.org/drawingml/2006/main">
            <a:r>
              <a:t/>
            </a:r>
          </a:p>
          <a:p xmlns:a="http://schemas.openxmlformats.org/drawingml/2006/main">
            <a:r>
              <a:t>Source: Railwize repository, README.md; backend/README.md; frontend/README.md; EVALUATION-GUIDE.md (current project documentation). Diagrams are simplified presentation views of the implementation. Illustrative values are not live operational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524cbba10749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77df7222624d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049ea16e4a4d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0062da824f46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450ff1b9d44a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4b370392724c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0BB9A6-B789-465F-9E99-44E9758232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69405A-C84E-49D4-9434-6FF374796A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CB4ADD-F21B-4391-BDBD-17763EBE89D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0C9616-58DA-4FD3-B445-137E13D5B0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2EED0A-EFB9-4E5D-9F6F-994C2ED7EC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6D7479-9BAC-4E90-9355-B785173A74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7A20C2-0E2E-42E7-BB85-4E182F8F7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5B0F1E-4A60-4BCA-9764-FD4636FF7B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9EE434-54BC-4DB0-BBE4-A409342EDE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F78EBE-1A1A-49CF-9A9B-6DF781356D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56fc57fc78467c" /><Relationship Type="http://schemas.openxmlformats.org/officeDocument/2006/relationships/slideLayout" Target="/ppt/slideLayouts/slideLayout1.xml" Id="R8b0affe1237041e8" /><Relationship Type="http://schemas.openxmlformats.org/officeDocument/2006/relationships/slideLayout" Target="/ppt/slideLayouts/slideLayout2.xml" Id="R281cd161f2424982" /><Relationship Type="http://schemas.openxmlformats.org/officeDocument/2006/relationships/slideLayout" Target="/ppt/slideLayouts/slideLayout3.xml" Id="R0df7400a95ee4042" /><Relationship Type="http://schemas.openxmlformats.org/officeDocument/2006/relationships/slideLayout" Target="/ppt/slideLayouts/slideLayout4.xml" Id="Re37913fcd6974618" /><Relationship Type="http://schemas.openxmlformats.org/officeDocument/2006/relationships/slideLayout" Target="/ppt/slideLayouts/slideLayout5.xml" Id="Rb2e13d47a2a046b2" /><Relationship Type="http://schemas.openxmlformats.org/officeDocument/2006/relationships/slideLayout" Target="/ppt/slideLayouts/slideLayout6.xml" Id="Ra161dda7d8374b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0affe1237041e8"/>
    <p:sldLayoutId xmlns:r="http://schemas.openxmlformats.org/officeDocument/2006/relationships" id="2147483650" r:id="R281cd161f2424982"/>
    <p:sldLayoutId xmlns:r="http://schemas.openxmlformats.org/officeDocument/2006/relationships" id="2147483651" r:id="R0df7400a95ee4042"/>
    <p:sldLayoutId xmlns:r="http://schemas.openxmlformats.org/officeDocument/2006/relationships" id="2147483652" r:id="Re37913fcd6974618"/>
    <p:sldLayoutId xmlns:r="http://schemas.openxmlformats.org/officeDocument/2006/relationships" id="2147483653" r:id="Rb2e13d47a2a046b2"/>
    <p:sldLayoutId xmlns:r="http://schemas.openxmlformats.org/officeDocument/2006/relationships" id="2147483654" r:id="Ra161dda7d8374b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e9bf2571114d53" /><Relationship Type="http://schemas.openxmlformats.org/officeDocument/2006/relationships/notesSlide" Target="/ppt/notesSlides/notesSlide1.xml" Id="R08820967659d4c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0191487bbb47e7" /><Relationship Type="http://schemas.openxmlformats.org/officeDocument/2006/relationships/notesSlide" Target="/ppt/notesSlides/notesSlide2.xml" Id="R7ca8094917644e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23b7e47d264afc" /><Relationship Type="http://schemas.openxmlformats.org/officeDocument/2006/relationships/notesSlide" Target="/ppt/notesSlides/notesSlide3.xml" Id="R34df6c00d5e34f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28089770b84275" /><Relationship Type="http://schemas.openxmlformats.org/officeDocument/2006/relationships/notesSlide" Target="/ppt/notesSlides/notesSlide4.xml" Id="R2b14b46bbf2c42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6f2d0a7ceb4b9c" /><Relationship Type="http://schemas.openxmlformats.org/officeDocument/2006/relationships/notesSlide" Target="/ppt/notesSlides/notesSlide5.xml" Id="Rae4ddf55fa004d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a6d0bfe6e341e9" /><Relationship Type="http://schemas.openxmlformats.org/officeDocument/2006/relationships/notesSlide" Target="/ppt/notesSlides/notesSlide6.xml" Id="Rb7d32109ecc44f25" /></Relationships>
</file>

<file path=ppt/slides/slide1.xml><?xml version="1.0" encoding="utf-8"?>
<p:sld xmlns:p="http://schemas.openxmlformats.org/presentationml/2006/main">
  <p:cSld>
    <p:bg>
      <p:bgPr>
        <a:solidFill xmlns:a="http://schemas.openxmlformats.org/drawingml/2006/main">
          <a:srgbClr val="0B1630"/>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B53249A3-162F-466F-862B-941B9D893CF0}"/>
              </a:ext>
            </a:extLst>
          </p:cNvPr>
          <p:cNvCxnSpPr>
            <a:stCxn xmlns:a="http://schemas.openxmlformats.org/drawingml/2006/main" id="9" idx="2"/>
            <a:endCxn xmlns:a="http://schemas.openxmlformats.org/drawingml/2006/main" id="10" idx="0"/>
          </p:cNvCxnSpPr>
          <p:nvPr/>
        </p:nvCxnSpPr>
        <p:spPr>
          <a:xfrm xmlns:a="http://schemas.openxmlformats.org/drawingml/2006/main">
            <a:off x="10001250" y="4191000"/>
            <a:ext cx="0" cy="381000"/>
          </a:xfrm>
          <a:prstGeom xmlns:a="http://schemas.openxmlformats.org/drawingml/2006/main" prst="straightConnector1">
            <a:avLst/>
          </a:prstGeom>
          <a:ln xmlns:a="http://schemas.openxmlformats.org/drawingml/2006/main" w="25718">
            <a:solidFill>
              <a:srgbClr val="61DCF2"/>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ED668634-3644-4B76-B0D6-DBA14EAACD68}"/>
              </a:ext>
            </a:extLst>
          </p:cNvPr>
          <p:cNvCxnSpPr>
            <a:stCxn xmlns:a="http://schemas.openxmlformats.org/drawingml/2006/main" id="8" idx="2"/>
            <a:endCxn xmlns:a="http://schemas.openxmlformats.org/drawingml/2006/main" id="9" idx="0"/>
          </p:cNvCxnSpPr>
          <p:nvPr/>
        </p:nvCxnSpPr>
        <p:spPr>
          <a:xfrm xmlns:a="http://schemas.openxmlformats.org/drawingml/2006/main">
            <a:off x="10001250" y="3095625"/>
            <a:ext cx="0" cy="381000"/>
          </a:xfrm>
          <a:prstGeom xmlns:a="http://schemas.openxmlformats.org/drawingml/2006/main" prst="straightConnector1">
            <a:avLst/>
          </a:prstGeom>
          <a:ln xmlns:a="http://schemas.openxmlformats.org/drawingml/2006/main" w="25718">
            <a:solidFill>
              <a:srgbClr val="61DCF2"/>
            </a:solidFill>
            <a:prstDash val="solid"/>
            <a:tailEnd type="arrow" w="med" len="med"/>
          </a:ln>
        </p:spPr>
      </p:cxnSp>
      <p:sp>
        <p:nvSpPr>
          <p:cNvPr id="15" name="shape-477">
            <a:extLst xmlns:a="http://schemas.openxmlformats.org/drawingml/2006/main">
              <a:ext uri="{FF2B5EF4-FFF2-40B4-BE49-F238E27FC236}">
                <a16:creationId xmlns:a16="http://schemas.microsoft.com/office/drawing/2014/main" id="{6836DB52-A915-4C78-9147-55CC7346ED10}"/>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61DCF2"/>
                </a:solidFill>
                <a:latin typeface="Arial"/>
                <a:ea typeface="Arial"/>
                <a:cs typeface="Arial"/>
              </a:defRPr>
            </a:defPPr>
          </a:lstStyle>
          <a:p xmlns:a="http://schemas.openxmlformats.org/drawingml/2006/main">
            <a:pPr algn="l">
              <a:defRPr sz="1200" b="1">
                <a:solidFill>
                  <a:srgbClr val="61DCF2"/>
                </a:solidFill>
                <a:latin typeface="Arial"/>
                <a:ea typeface="Arial"/>
                <a:cs typeface="Arial"/>
              </a:defRPr>
            </a:pPr>
            <a:r>
              <a:rPr sz="1200" b="1">
                <a:solidFill>
                  <a:srgbClr val="61DCF2"/>
                </a:solidFill>
                <a:latin typeface="Arial"/>
                <a:ea typeface="Arial"/>
                <a:cs typeface="Arial"/>
              </a:rPr>
              <a:t>PROJECT OVERVIEW</a:t>
            </a:r>
          </a:p>
        </p:txBody>
      </p:sp>
      <p:sp>
        <p:nvSpPr>
          <p:cNvPr id="2" name="shape-478">
            <a:extLst xmlns:a="http://schemas.openxmlformats.org/drawingml/2006/main">
              <a:ext uri="{FF2B5EF4-FFF2-40B4-BE49-F238E27FC236}">
                <a16:creationId xmlns:a16="http://schemas.microsoft.com/office/drawing/2014/main" id="{F230307D-6FA9-4408-9D82-ECE8F8D563D0}"/>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Railwize</a:t>
            </a:r>
          </a:p>
        </p:txBody>
      </p:sp>
      <p:sp>
        <p:nvSpPr>
          <p:cNvPr id="3" name="shape-479">
            <a:extLst xmlns:a="http://schemas.openxmlformats.org/drawingml/2006/main">
              <a:ext uri="{FF2B5EF4-FFF2-40B4-BE49-F238E27FC236}">
                <a16:creationId xmlns:a16="http://schemas.microsoft.com/office/drawing/2014/main" id="{15B62807-9796-4126-A006-2D5A2D420B45}"/>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B9C9E4"/>
                </a:solidFill>
                <a:latin typeface="Arial"/>
                <a:ea typeface="Arial"/>
                <a:cs typeface="Arial"/>
              </a:defRPr>
            </a:defPPr>
          </a:lstStyle>
          <a:p xmlns:a="http://schemas.openxmlformats.org/drawingml/2006/main">
            <a:pPr algn="l">
              <a:defRPr sz="1800" b="0">
                <a:solidFill>
                  <a:srgbClr val="B9C9E4"/>
                </a:solidFill>
                <a:latin typeface="Arial"/>
                <a:ea typeface="Arial"/>
                <a:cs typeface="Arial"/>
              </a:defRPr>
            </a:pPr>
            <a:r>
              <a:rPr sz="1800" b="0">
                <a:solidFill>
                  <a:srgbClr val="B9C9E4"/>
                </a:solidFill>
                <a:latin typeface="Arial"/>
                <a:ea typeface="Arial"/>
                <a:cs typeface="Arial"/>
              </a:rPr>
              <a:t>Smarter train discovery, reservations and journey updates</a:t>
            </a:r>
          </a:p>
        </p:txBody>
      </p:sp>
      <p:sp>
        <p:nvSpPr>
          <p:cNvPr id="4" name="shape-480">
            <a:extLst xmlns:a="http://schemas.openxmlformats.org/drawingml/2006/main">
              <a:ext uri="{FF2B5EF4-FFF2-40B4-BE49-F238E27FC236}">
                <a16:creationId xmlns:a16="http://schemas.microsoft.com/office/drawing/2014/main" id="{FC80BCAE-C223-451A-8068-1DACD0C3C1AF}"/>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9CB1D5"/>
                </a:solidFill>
                <a:latin typeface="Arial"/>
                <a:ea typeface="Arial"/>
                <a:cs typeface="Arial"/>
              </a:defRPr>
            </a:defPPr>
          </a:lstStyle>
          <a:p xmlns:a="http://schemas.openxmlformats.org/drawingml/2006/main">
            <a:pPr algn="l">
              <a:defRPr sz="975" b="0">
                <a:solidFill>
                  <a:srgbClr val="9CB1D5"/>
                </a:solidFill>
                <a:latin typeface="Arial"/>
                <a:ea typeface="Arial"/>
                <a:cs typeface="Arial"/>
              </a:defRPr>
            </a:pPr>
            <a:r>
              <a:rPr sz="975" b="0">
                <a:solidFill>
                  <a:srgbClr val="9CB1D5"/>
                </a:solidFill>
                <a:latin typeface="Arial"/>
                <a:ea typeface="Arial"/>
                <a:cs typeface="Arial"/>
              </a:rPr>
              <a:t>RAILWIZE  /  PROJECT PRESENTATION</a:t>
            </a:r>
          </a:p>
        </p:txBody>
      </p:sp>
      <p:sp>
        <p:nvSpPr>
          <p:cNvPr id="5" name="shape-481">
            <a:extLst xmlns:a="http://schemas.openxmlformats.org/drawingml/2006/main">
              <a:ext uri="{FF2B5EF4-FFF2-40B4-BE49-F238E27FC236}">
                <a16:creationId xmlns:a16="http://schemas.microsoft.com/office/drawing/2014/main" id="{AFD21AFA-4DAA-4BDF-BC71-9C2906CAA826}"/>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9CB1D5"/>
                </a:solidFill>
                <a:latin typeface="Arial"/>
                <a:ea typeface="Arial"/>
                <a:cs typeface="Arial"/>
              </a:defRPr>
            </a:defPPr>
          </a:lstStyle>
          <a:p xmlns:a="http://schemas.openxmlformats.org/drawingml/2006/main">
            <a:pPr algn="r">
              <a:defRPr sz="1125" b="0">
                <a:solidFill>
                  <a:srgbClr val="9CB1D5"/>
                </a:solidFill>
                <a:latin typeface="Arial"/>
                <a:ea typeface="Arial"/>
                <a:cs typeface="Arial"/>
              </a:defRPr>
            </a:pPr>
            <a:r>
              <a:rPr sz="1125" b="0">
                <a:solidFill>
                  <a:srgbClr val="9CB1D5"/>
                </a:solidFill>
                <a:latin typeface="Arial"/>
                <a:ea typeface="Arial"/>
                <a:cs typeface="Arial"/>
              </a:rPr>
              <a:t>01 / 6</a:t>
            </a:r>
          </a:p>
        </p:txBody>
      </p:sp>
      <p:sp>
        <p:nvSpPr>
          <p:cNvPr id="6" name="shape-482">
            <a:extLst xmlns:a="http://schemas.openxmlformats.org/drawingml/2006/main">
              <a:ext uri="{FF2B5EF4-FFF2-40B4-BE49-F238E27FC236}">
                <a16:creationId xmlns:a16="http://schemas.microsoft.com/office/drawing/2014/main" id="{71D1F3CA-61A5-4B97-8ED6-222B48872B95}"/>
              </a:ext>
            </a:extLst>
          </p:cNvPr>
          <p:cNvSpPr>
            <a:spLocks xmlns:a="http://schemas.openxmlformats.org/drawingml/2006/main" noGrp="1"/>
          </p:cNvSpPr>
          <p:nvPr/>
        </p:nvSpPr>
        <p:spPr>
          <a:xfrm xmlns:a="http://schemas.openxmlformats.org/drawingml/2006/main">
            <a:off x="533400" y="2286000"/>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61DCF2"/>
                </a:solidFill>
                <a:latin typeface="Arial"/>
                <a:ea typeface="Arial"/>
                <a:cs typeface="Arial"/>
              </a:defRPr>
            </a:defPPr>
          </a:lstStyle>
          <a:p xmlns:a="http://schemas.openxmlformats.org/drawingml/2006/main">
            <a:pPr algn="l">
              <a:defRPr sz="2400" b="1">
                <a:solidFill>
                  <a:srgbClr val="61DCF2"/>
                </a:solidFill>
                <a:latin typeface="Arial"/>
                <a:ea typeface="Arial"/>
                <a:cs typeface="Arial"/>
              </a:defRPr>
            </a:pPr>
            <a:r>
              <a:rPr sz="2400" b="1">
                <a:solidFill>
                  <a:srgbClr val="61DCF2"/>
                </a:solidFill>
                <a:latin typeface="Arial"/>
                <a:ea typeface="Arial"/>
                <a:cs typeface="Arial"/>
              </a:rPr>
              <a:t>The problem I solve</a:t>
            </a:r>
          </a:p>
        </p:txBody>
      </p:sp>
      <p:sp>
        <p:nvSpPr>
          <p:cNvPr id="7" name="shape-483">
            <a:extLst xmlns:a="http://schemas.openxmlformats.org/drawingml/2006/main">
              <a:ext uri="{FF2B5EF4-FFF2-40B4-BE49-F238E27FC236}">
                <a16:creationId xmlns:a16="http://schemas.microsoft.com/office/drawing/2014/main" id="{CABF5DBF-208C-447D-943F-9FB47F6D71AA}"/>
              </a:ext>
            </a:extLst>
          </p:cNvPr>
          <p:cNvSpPr>
            <a:spLocks xmlns:a="http://schemas.openxmlformats.org/drawingml/2006/main" noGrp="1"/>
          </p:cNvSpPr>
          <p:nvPr/>
        </p:nvSpPr>
        <p:spPr>
          <a:xfrm xmlns:a="http://schemas.openxmlformats.org/drawingml/2006/main">
            <a:off x="533400" y="2914650"/>
            <a:ext cx="7239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0">
                <a:solidFill>
                  <a:srgbClr val="FFFFFF"/>
                </a:solidFill>
                <a:latin typeface="Arial"/>
                <a:ea typeface="Arial"/>
                <a:cs typeface="Arial"/>
              </a:defRPr>
            </a:defPPr>
          </a:lstStyle>
          <a:p xmlns:a="http://schemas.openxmlformats.org/drawingml/2006/main">
            <a:pPr algn="l">
              <a:defRPr sz="2775" b="0">
                <a:solidFill>
                  <a:srgbClr val="FFFFFF"/>
                </a:solidFill>
                <a:latin typeface="Arial"/>
                <a:ea typeface="Arial"/>
                <a:cs typeface="Arial"/>
              </a:defRPr>
            </a:pPr>
            <a:r>
              <a:rPr sz="2775" b="0">
                <a:solidFill>
                  <a:srgbClr val="FFFFFF"/>
                </a:solidFill>
                <a:latin typeface="Arial"/>
                <a:ea typeface="Arial"/>
                <a:cs typeface="Arial"/>
              </a:rPr>
              <a:t>Passengers manually compare nearby</a:t>
            </a:r>
          </a:p>
          <a:p xmlns:a="http://schemas.openxmlformats.org/drawingml/2006/main">
            <a:pPr algn="l">
              <a:defRPr sz="2775" b="0">
                <a:solidFill>
                  <a:srgbClr val="FFFFFF"/>
                </a:solidFill>
                <a:latin typeface="Arial"/>
                <a:ea typeface="Arial"/>
                <a:cs typeface="Arial"/>
              </a:defRPr>
            </a:pPr>
            <a:r>
              <a:rPr sz="2775" b="0">
                <a:solidFill>
                  <a:srgbClr val="FFFFFF"/>
                </a:solidFill>
                <a:latin typeface="Arial"/>
                <a:ea typeface="Arial"/>
                <a:cs typeface="Arial"/>
              </a:rPr>
              <a:t>terminals and connections when</a:t>
            </a:r>
          </a:p>
          <a:p xmlns:a="http://schemas.openxmlformats.org/drawingml/2006/main">
            <a:pPr algn="l">
              <a:defRPr sz="2775" b="0">
                <a:solidFill>
                  <a:srgbClr val="FFFFFF"/>
                </a:solidFill>
                <a:latin typeface="Arial"/>
                <a:ea typeface="Arial"/>
                <a:cs typeface="Arial"/>
              </a:defRPr>
            </a:pPr>
            <a:r>
              <a:rPr sz="2775" b="0">
                <a:solidFill>
                  <a:srgbClr val="FFFFFF"/>
                </a:solidFill>
                <a:latin typeface="Arial"/>
                <a:ea typeface="Arial"/>
                <a:cs typeface="Arial"/>
              </a:rPr>
              <a:t>a direct search is unsuitable.</a:t>
            </a:r>
          </a:p>
        </p:txBody>
      </p:sp>
      <p:sp>
        <p:nvSpPr>
          <p:cNvPr id="8" name="shape-484">
            <a:extLst xmlns:a="http://schemas.openxmlformats.org/drawingml/2006/main">
              <a:ext uri="{FF2B5EF4-FFF2-40B4-BE49-F238E27FC236}">
                <a16:creationId xmlns:a16="http://schemas.microsoft.com/office/drawing/2014/main" id="{7C92C777-3827-4A64-B19B-FDE042AB67AE}"/>
              </a:ext>
            </a:extLst>
          </p:cNvPr>
          <p:cNvSpPr>
            <a:spLocks xmlns:a="http://schemas.openxmlformats.org/drawingml/2006/main" noGrp="1"/>
          </p:cNvSpPr>
          <p:nvPr/>
        </p:nvSpPr>
        <p:spPr>
          <a:xfrm xmlns:a="http://schemas.openxmlformats.org/drawingml/2006/main">
            <a:off x="8524875" y="2381250"/>
            <a:ext cx="2952750" cy="7143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Discover</a:t>
            </a:r>
          </a:p>
        </p:txBody>
      </p:sp>
      <p:sp>
        <p:nvSpPr>
          <p:cNvPr id="9" name="shape-485">
            <a:extLst xmlns:a="http://schemas.openxmlformats.org/drawingml/2006/main">
              <a:ext uri="{FF2B5EF4-FFF2-40B4-BE49-F238E27FC236}">
                <a16:creationId xmlns:a16="http://schemas.microsoft.com/office/drawing/2014/main" id="{81E9957A-B7C5-4E4C-8B8A-E14CAB240BE4}"/>
              </a:ext>
            </a:extLst>
          </p:cNvPr>
          <p:cNvSpPr>
            <a:spLocks xmlns:a="http://schemas.openxmlformats.org/drawingml/2006/main" noGrp="1"/>
          </p:cNvSpPr>
          <p:nvPr/>
        </p:nvSpPr>
        <p:spPr>
          <a:xfrm xmlns:a="http://schemas.openxmlformats.org/drawingml/2006/main">
            <a:off x="8524875" y="3476625"/>
            <a:ext cx="2952750" cy="71437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Reserve</a:t>
            </a:r>
          </a:p>
        </p:txBody>
      </p:sp>
      <p:sp>
        <p:nvSpPr>
          <p:cNvPr id="10" name="shape-486">
            <a:extLst xmlns:a="http://schemas.openxmlformats.org/drawingml/2006/main">
              <a:ext uri="{FF2B5EF4-FFF2-40B4-BE49-F238E27FC236}">
                <a16:creationId xmlns:a16="http://schemas.microsoft.com/office/drawing/2014/main" id="{9893289F-F335-403A-8258-A15030381E7F}"/>
              </a:ext>
            </a:extLst>
          </p:cNvPr>
          <p:cNvSpPr>
            <a:spLocks xmlns:a="http://schemas.openxmlformats.org/drawingml/2006/main" noGrp="1"/>
          </p:cNvSpPr>
          <p:nvPr/>
        </p:nvSpPr>
        <p:spPr>
          <a:xfrm xmlns:a="http://schemas.openxmlformats.org/drawingml/2006/main">
            <a:off x="8524875" y="4572000"/>
            <a:ext cx="2952750" cy="714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Stay informed</a:t>
            </a:r>
          </a:p>
        </p:txBody>
      </p:sp>
      <p:sp>
        <p:nvSpPr>
          <p:cNvPr id="13" name="shape-487">
            <a:extLst xmlns:a="http://schemas.openxmlformats.org/drawingml/2006/main">
              <a:ext uri="{FF2B5EF4-FFF2-40B4-BE49-F238E27FC236}">
                <a16:creationId xmlns:a16="http://schemas.microsoft.com/office/drawing/2014/main" id="{BB3CDE74-3801-4CC4-932A-005569EC041E}"/>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304361"/>
          </a:solidFill>
          <a:ln xmlns:a="http://schemas.openxmlformats.org/drawingml/2006/main" w="0">
            <a:noFill/>
          </a:ln>
        </p:spPr>
      </p:sp>
      <p:sp>
        <p:nvSpPr>
          <p:cNvPr id="14" name="shape-488">
            <a:extLst xmlns:a="http://schemas.openxmlformats.org/drawingml/2006/main">
              <a:ext uri="{FF2B5EF4-FFF2-40B4-BE49-F238E27FC236}">
                <a16:creationId xmlns:a16="http://schemas.microsoft.com/office/drawing/2014/main" id="{AE3F20D3-0011-4E69-9BF8-920F56A6E334}"/>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61DCF2"/>
                </a:solidFill>
                <a:latin typeface="Arial"/>
                <a:ea typeface="Arial"/>
                <a:cs typeface="Arial"/>
              </a:defRPr>
            </a:defPPr>
          </a:lstStyle>
          <a:p xmlns:a="http://schemas.openxmlformats.org/drawingml/2006/main">
            <a:pPr algn="l">
              <a:defRPr sz="1800" b="1">
                <a:solidFill>
                  <a:srgbClr val="61DCF2"/>
                </a:solidFill>
                <a:latin typeface="Arial"/>
                <a:ea typeface="Arial"/>
                <a:cs typeface="Arial"/>
              </a:defRPr>
            </a:pPr>
            <a:r>
              <a:rPr sz="1800" b="1">
                <a:solidFill>
                  <a:srgbClr val="61DCF2"/>
                </a:solidFill>
                <a:latin typeface="Arial"/>
                <a:ea typeface="Arial"/>
                <a:cs typeface="Arial"/>
              </a:rPr>
              <a:t>My focus: practical journey alternatives backed by an understandable booking lifecycle.</a:t>
            </a:r>
          </a:p>
        </p:txBody>
      </p:sp>
    </p:spTree>
    <p:extLst>
      <p:ext uri="{BB962C8B-B14F-4D97-AF65-F5344CB8AC3E}">
        <p14:creationId xmlns:p14="http://schemas.microsoft.com/office/powerpoint/2010/main" val="424460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104AFBD-AE52-4064-8833-9FC0D5B5C3F2}"/>
              </a:ext>
            </a:extLst>
          </p:cNvPr>
          <p:cNvCxnSpPr>
            <a:stCxn xmlns:a="http://schemas.openxmlformats.org/drawingml/2006/main" id="11" idx="3"/>
            <a:endCxn xmlns:a="http://schemas.openxmlformats.org/drawingml/2006/main" id="12" idx="1"/>
          </p:cNvCxnSpPr>
          <p:nvPr/>
        </p:nvCxnSpPr>
        <p:spPr>
          <a:xfrm xmlns:a="http://schemas.openxmlformats.org/drawingml/2006/main">
            <a:off x="5438775" y="48101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CD6D503A-E5C9-459B-81BF-32436CA73131}"/>
              </a:ext>
            </a:extLst>
          </p:cNvPr>
          <p:cNvCxnSpPr>
            <a:stCxn xmlns:a="http://schemas.openxmlformats.org/drawingml/2006/main" id="10" idx="3"/>
            <a:endCxn xmlns:a="http://schemas.openxmlformats.org/drawingml/2006/main" id="11" idx="1"/>
          </p:cNvCxnSpPr>
          <p:nvPr/>
        </p:nvCxnSpPr>
        <p:spPr>
          <a:xfrm xmlns:a="http://schemas.openxmlformats.org/drawingml/2006/main">
            <a:off x="2819400" y="4810125"/>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35158419-A809-464D-93EB-3847911C433A}"/>
              </a:ext>
            </a:extLst>
          </p:cNvPr>
          <p:cNvCxnSpPr>
            <a:stCxn xmlns:a="http://schemas.openxmlformats.org/drawingml/2006/main" id="6" idx="3"/>
            <a:endCxn xmlns:a="http://schemas.openxmlformats.org/drawingml/2006/main" id="7" idx="1"/>
          </p:cNvCxnSpPr>
          <p:nvPr/>
        </p:nvCxnSpPr>
        <p:spPr>
          <a:xfrm xmlns:a="http://schemas.openxmlformats.org/drawingml/2006/main">
            <a:off x="3552825" y="2828925"/>
            <a:ext cx="156210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1" name="shape-489">
            <a:extLst xmlns:a="http://schemas.openxmlformats.org/drawingml/2006/main">
              <a:ext uri="{FF2B5EF4-FFF2-40B4-BE49-F238E27FC236}">
                <a16:creationId xmlns:a16="http://schemas.microsoft.com/office/drawing/2014/main" id="{2B220EC8-4B4F-4960-862B-FD60D12D39A5}"/>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WHAT MAKES IT DISTINCTIVE</a:t>
            </a:r>
          </a:p>
        </p:txBody>
      </p:sp>
      <p:sp>
        <p:nvSpPr>
          <p:cNvPr id="2" name="shape-490">
            <a:extLst xmlns:a="http://schemas.openxmlformats.org/drawingml/2006/main">
              <a:ext uri="{FF2B5EF4-FFF2-40B4-BE49-F238E27FC236}">
                <a16:creationId xmlns:a16="http://schemas.microsoft.com/office/drawing/2014/main" id="{3595FE4C-48A1-48EC-ADDF-8DB66341298B}"/>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I search beyond an exact station pair</a:t>
            </a:r>
          </a:p>
        </p:txBody>
      </p:sp>
      <p:sp>
        <p:nvSpPr>
          <p:cNvPr id="3" name="shape-491">
            <a:extLst xmlns:a="http://schemas.openxmlformats.org/drawingml/2006/main">
              <a:ext uri="{FF2B5EF4-FFF2-40B4-BE49-F238E27FC236}">
                <a16:creationId xmlns:a16="http://schemas.microsoft.com/office/drawing/2014/main" id="{ED03C4D2-E900-483D-B1A2-D08B6A634BCC}"/>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Nearby stations at both ends + one feasible interchange.</a:t>
            </a:r>
          </a:p>
        </p:txBody>
      </p:sp>
      <p:sp>
        <p:nvSpPr>
          <p:cNvPr id="4" name="shape-492">
            <a:extLst xmlns:a="http://schemas.openxmlformats.org/drawingml/2006/main">
              <a:ext uri="{FF2B5EF4-FFF2-40B4-BE49-F238E27FC236}">
                <a16:creationId xmlns:a16="http://schemas.microsoft.com/office/drawing/2014/main" id="{1D99C374-9960-4CB8-B830-50D3AADFDFE9}"/>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493">
            <a:extLst xmlns:a="http://schemas.openxmlformats.org/drawingml/2006/main">
              <a:ext uri="{FF2B5EF4-FFF2-40B4-BE49-F238E27FC236}">
                <a16:creationId xmlns:a16="http://schemas.microsoft.com/office/drawing/2014/main" id="{CB2AA205-FDF4-41EC-83FF-4BDACA7E7077}"/>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02 / 6</a:t>
            </a:r>
          </a:p>
        </p:txBody>
      </p:sp>
      <p:sp>
        <p:nvSpPr>
          <p:cNvPr id="6" name="shape-494">
            <a:extLst xmlns:a="http://schemas.openxmlformats.org/drawingml/2006/main">
              <a:ext uri="{FF2B5EF4-FFF2-40B4-BE49-F238E27FC236}">
                <a16:creationId xmlns:a16="http://schemas.microsoft.com/office/drawing/2014/main" id="{F941AC67-B4B6-4BF7-80CE-951AF8E2AFBB}"/>
              </a:ext>
            </a:extLst>
          </p:cNvPr>
          <p:cNvSpPr>
            <a:spLocks xmlns:a="http://schemas.openxmlformats.org/drawingml/2006/main" noGrp="1"/>
          </p:cNvSpPr>
          <p:nvPr/>
        </p:nvSpPr>
        <p:spPr>
          <a:xfrm xmlns:a="http://schemas.openxmlformats.org/drawingml/2006/main">
            <a:off x="533400" y="2400300"/>
            <a:ext cx="3019425"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Mumbai Central</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MMCT</a:t>
            </a:r>
          </a:p>
        </p:txBody>
      </p:sp>
      <p:sp>
        <p:nvSpPr>
          <p:cNvPr id="7" name="shape-495">
            <a:extLst xmlns:a="http://schemas.openxmlformats.org/drawingml/2006/main">
              <a:ext uri="{FF2B5EF4-FFF2-40B4-BE49-F238E27FC236}">
                <a16:creationId xmlns:a16="http://schemas.microsoft.com/office/drawing/2014/main" id="{A30DCB80-882C-4311-AE48-2C79F9DFB3BC}"/>
              </a:ext>
            </a:extLst>
          </p:cNvPr>
          <p:cNvSpPr>
            <a:spLocks xmlns:a="http://schemas.openxmlformats.org/drawingml/2006/main" noGrp="1"/>
          </p:cNvSpPr>
          <p:nvPr/>
        </p:nvSpPr>
        <p:spPr>
          <a:xfrm xmlns:a="http://schemas.openxmlformats.org/drawingml/2006/main">
            <a:off x="5114925" y="2400300"/>
            <a:ext cx="3019425" cy="85725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New Delhi</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NDLS</a:t>
            </a:r>
          </a:p>
        </p:txBody>
      </p:sp>
      <p:sp>
        <p:nvSpPr>
          <p:cNvPr id="9" name="shape-496">
            <a:extLst xmlns:a="http://schemas.openxmlformats.org/drawingml/2006/main">
              <a:ext uri="{FF2B5EF4-FFF2-40B4-BE49-F238E27FC236}">
                <a16:creationId xmlns:a16="http://schemas.microsoft.com/office/drawing/2014/main" id="{4B6090D9-F923-470C-A492-4A585FBC0C37}"/>
              </a:ext>
            </a:extLst>
          </p:cNvPr>
          <p:cNvSpPr>
            <a:spLocks xmlns:a="http://schemas.openxmlformats.org/drawingml/2006/main" noGrp="1"/>
          </p:cNvSpPr>
          <p:nvPr/>
        </p:nvSpPr>
        <p:spPr>
          <a:xfrm xmlns:a="http://schemas.openxmlformats.org/drawingml/2006/main">
            <a:off x="533400" y="3486150"/>
            <a:ext cx="7772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2459E0"/>
                </a:solidFill>
                <a:latin typeface="Arial"/>
                <a:ea typeface="Arial"/>
                <a:cs typeface="Arial"/>
              </a:defRPr>
            </a:defPPr>
          </a:lstStyle>
          <a:p xmlns:a="http://schemas.openxmlformats.org/drawingml/2006/main">
            <a:pPr algn="l">
              <a:defRPr sz="1950" b="1">
                <a:solidFill>
                  <a:srgbClr val="2459E0"/>
                </a:solidFill>
                <a:latin typeface="Arial"/>
                <a:ea typeface="Arial"/>
                <a:cs typeface="Arial"/>
              </a:defRPr>
            </a:pPr>
            <a:r>
              <a:rPr sz="1950" b="1">
                <a:solidFill>
                  <a:srgbClr val="2459E0"/>
                </a:solidFill>
                <a:latin typeface="Arial"/>
                <a:ea typeface="Arial"/>
                <a:cs typeface="Arial"/>
              </a:rPr>
              <a:t>Useful nearby arrival for an Old Delhi (DLI) search</a:t>
            </a:r>
          </a:p>
        </p:txBody>
      </p:sp>
      <p:sp>
        <p:nvSpPr>
          <p:cNvPr id="10" name="shape-497">
            <a:extLst xmlns:a="http://schemas.openxmlformats.org/drawingml/2006/main">
              <a:ext uri="{FF2B5EF4-FFF2-40B4-BE49-F238E27FC236}">
                <a16:creationId xmlns:a16="http://schemas.microsoft.com/office/drawing/2014/main" id="{2DF2BF57-5B41-4C8E-A597-0C01BE73FA72}"/>
              </a:ext>
            </a:extLst>
          </p:cNvPr>
          <p:cNvSpPr>
            <a:spLocks xmlns:a="http://schemas.openxmlformats.org/drawingml/2006/main" noGrp="1"/>
          </p:cNvSpPr>
          <p:nvPr/>
        </p:nvSpPr>
        <p:spPr>
          <a:xfrm xmlns:a="http://schemas.openxmlformats.org/drawingml/2006/main">
            <a:off x="533400" y="4371975"/>
            <a:ext cx="2286000" cy="8763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Nizamuddin</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NZM</a:t>
            </a:r>
          </a:p>
        </p:txBody>
      </p:sp>
      <p:sp>
        <p:nvSpPr>
          <p:cNvPr id="11" name="shape-498">
            <a:extLst xmlns:a="http://schemas.openxmlformats.org/drawingml/2006/main">
              <a:ext uri="{FF2B5EF4-FFF2-40B4-BE49-F238E27FC236}">
                <a16:creationId xmlns:a16="http://schemas.microsoft.com/office/drawing/2014/main" id="{302A72CF-B31E-4C3C-ABF8-9217B1A002CE}"/>
              </a:ext>
            </a:extLst>
          </p:cNvPr>
          <p:cNvSpPr>
            <a:spLocks xmlns:a="http://schemas.openxmlformats.org/drawingml/2006/main" noGrp="1"/>
          </p:cNvSpPr>
          <p:nvPr/>
        </p:nvSpPr>
        <p:spPr>
          <a:xfrm xmlns:a="http://schemas.openxmlformats.org/drawingml/2006/main">
            <a:off x="3152775" y="4371975"/>
            <a:ext cx="2286000" cy="8763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Lucknow Junction</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LJN · 90 min</a:t>
            </a:r>
          </a:p>
        </p:txBody>
      </p:sp>
      <p:sp>
        <p:nvSpPr>
          <p:cNvPr id="12" name="shape-499">
            <a:extLst xmlns:a="http://schemas.openxmlformats.org/drawingml/2006/main">
              <a:ext uri="{FF2B5EF4-FFF2-40B4-BE49-F238E27FC236}">
                <a16:creationId xmlns:a16="http://schemas.microsoft.com/office/drawing/2014/main" id="{98BF9F3C-20FA-4E8E-937C-F798577362BE}"/>
              </a:ext>
            </a:extLst>
          </p:cNvPr>
          <p:cNvSpPr>
            <a:spLocks xmlns:a="http://schemas.openxmlformats.org/drawingml/2006/main" noGrp="1"/>
          </p:cNvSpPr>
          <p:nvPr/>
        </p:nvSpPr>
        <p:spPr>
          <a:xfrm xmlns:a="http://schemas.openxmlformats.org/drawingml/2006/main">
            <a:off x="5772150" y="4371975"/>
            <a:ext cx="2286000" cy="8763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Varanasi</a:t>
            </a:r>
          </a:p>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BSB</a:t>
            </a:r>
          </a:p>
        </p:txBody>
      </p:sp>
      <p:sp>
        <p:nvSpPr>
          <p:cNvPr id="15" name="shape-500">
            <a:extLst xmlns:a="http://schemas.openxmlformats.org/drawingml/2006/main">
              <a:ext uri="{FF2B5EF4-FFF2-40B4-BE49-F238E27FC236}">
                <a16:creationId xmlns:a16="http://schemas.microsoft.com/office/drawing/2014/main" id="{E5C7E981-4BF1-470F-A116-366FF0F30037}"/>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Practical comparison</a:t>
            </a:r>
          </a:p>
        </p:txBody>
      </p:sp>
      <p:sp>
        <p:nvSpPr>
          <p:cNvPr id="16" name="shape-501">
            <a:extLst xmlns:a="http://schemas.openxmlformats.org/drawingml/2006/main">
              <a:ext uri="{FF2B5EF4-FFF2-40B4-BE49-F238E27FC236}">
                <a16:creationId xmlns:a16="http://schemas.microsoft.com/office/drawing/2014/main" id="{21FA5F88-21C7-4135-9BFF-05B085DD5E68}"/>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Names, actual stations, dates, classes, fares and transfer time.</a:t>
            </a:r>
          </a:p>
        </p:txBody>
      </p:sp>
      <p:sp>
        <p:nvSpPr>
          <p:cNvPr id="17" name="shape-502">
            <a:extLst xmlns:a="http://schemas.openxmlformats.org/drawingml/2006/main">
              <a:ext uri="{FF2B5EF4-FFF2-40B4-BE49-F238E27FC236}">
                <a16:creationId xmlns:a16="http://schemas.microsoft.com/office/drawing/2014/main" id="{02DBF51C-587B-470C-9EB2-A2857361327B}"/>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Explainable rules</a:t>
            </a:r>
          </a:p>
        </p:txBody>
      </p:sp>
      <p:sp>
        <p:nvSpPr>
          <p:cNvPr id="18" name="shape-503">
            <a:extLst xmlns:a="http://schemas.openxmlformats.org/drawingml/2006/main">
              <a:ext uri="{FF2B5EF4-FFF2-40B4-BE49-F238E27FC236}">
                <a16:creationId xmlns:a16="http://schemas.microsoft.com/office/drawing/2014/main" id="{CA5A69D7-6B5F-4522-B5D3-C3873D92044C}"/>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Timetable feasibility and geographic distance; no trained ML model.</a:t>
            </a:r>
          </a:p>
        </p:txBody>
      </p:sp>
      <p:sp>
        <p:nvSpPr>
          <p:cNvPr id="19" name="shape-504">
            <a:extLst xmlns:a="http://schemas.openxmlformats.org/drawingml/2006/main">
              <a:ext uri="{FF2B5EF4-FFF2-40B4-BE49-F238E27FC236}">
                <a16:creationId xmlns:a16="http://schemas.microsoft.com/office/drawing/2014/main" id="{9EACCEDF-BB7A-4550-B9D6-F8A588400D11}"/>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0" name="shape-505">
            <a:extLst xmlns:a="http://schemas.openxmlformats.org/drawingml/2006/main">
              <a:ext uri="{FF2B5EF4-FFF2-40B4-BE49-F238E27FC236}">
                <a16:creationId xmlns:a16="http://schemas.microsoft.com/office/drawing/2014/main" id="{718B999D-672B-4B1F-8DC4-A00E32EC6F3F}"/>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The passenger sees a usable option instead of only a “no direct train” result.</a:t>
            </a:r>
          </a:p>
        </p:txBody>
      </p:sp>
    </p:spTree>
    <p:extLst>
      <p:ext uri="{BB962C8B-B14F-4D97-AF65-F5344CB8AC3E}">
        <p14:creationId xmlns:p14="http://schemas.microsoft.com/office/powerpoint/2010/main" val="4427533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B70E162-36FA-4441-8886-5AFE288C6DA8}"/>
              </a:ext>
            </a:extLst>
          </p:cNvPr>
          <p:cNvCxnSpPr>
            <a:stCxn xmlns:a="http://schemas.openxmlformats.org/drawingml/2006/main" id="7" idx="3"/>
            <a:endCxn xmlns:a="http://schemas.openxmlformats.org/drawingml/2006/main" id="8" idx="1"/>
          </p:cNvCxnSpPr>
          <p:nvPr/>
        </p:nvCxnSpPr>
        <p:spPr>
          <a:xfrm xmlns:a="http://schemas.openxmlformats.org/drawingml/2006/main">
            <a:off x="5343525" y="2714625"/>
            <a:ext cx="723900"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C327EF08-3B7C-487F-9F2B-0829E9D80F80}"/>
              </a:ext>
            </a:extLst>
          </p:cNvPr>
          <p:cNvCxnSpPr>
            <a:stCxn xmlns:a="http://schemas.openxmlformats.org/drawingml/2006/main" id="6" idx="3"/>
            <a:endCxn xmlns:a="http://schemas.openxmlformats.org/drawingml/2006/main" id="7" idx="1"/>
          </p:cNvCxnSpPr>
          <p:nvPr/>
        </p:nvCxnSpPr>
        <p:spPr>
          <a:xfrm xmlns:a="http://schemas.openxmlformats.org/drawingml/2006/main">
            <a:off x="2590800" y="2714625"/>
            <a:ext cx="6953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0" name="shape-506">
            <a:extLst xmlns:a="http://schemas.openxmlformats.org/drawingml/2006/main">
              <a:ext uri="{FF2B5EF4-FFF2-40B4-BE49-F238E27FC236}">
                <a16:creationId xmlns:a16="http://schemas.microsoft.com/office/drawing/2014/main" id="{04D6BD69-B0C8-403C-AA53-DDFE77FA3338}"/>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HOW I BUILT IT</a:t>
            </a:r>
          </a:p>
        </p:txBody>
      </p:sp>
      <p:sp>
        <p:nvSpPr>
          <p:cNvPr id="2" name="shape-507">
            <a:extLst xmlns:a="http://schemas.openxmlformats.org/drawingml/2006/main">
              <a:ext uri="{FF2B5EF4-FFF2-40B4-BE49-F238E27FC236}">
                <a16:creationId xmlns:a16="http://schemas.microsoft.com/office/drawing/2014/main" id="{01328CFC-F4BA-48BE-A0F2-8DAEC87D9005}"/>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Angular + 12 focused Spring Boot services</a:t>
            </a:r>
          </a:p>
        </p:txBody>
      </p:sp>
      <p:sp>
        <p:nvSpPr>
          <p:cNvPr id="3" name="shape-508">
            <a:extLst xmlns:a="http://schemas.openxmlformats.org/drawingml/2006/main">
              <a:ext uri="{FF2B5EF4-FFF2-40B4-BE49-F238E27FC236}">
                <a16:creationId xmlns:a16="http://schemas.microsoft.com/office/drawing/2014/main" id="{B6719445-BCB4-4DCA-99E4-A2EC4F0C5CD8}"/>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Synchronous APIs make decisions; events distribute updates.</a:t>
            </a:r>
          </a:p>
        </p:txBody>
      </p:sp>
      <p:sp>
        <p:nvSpPr>
          <p:cNvPr id="4" name="shape-509">
            <a:extLst xmlns:a="http://schemas.openxmlformats.org/drawingml/2006/main">
              <a:ext uri="{FF2B5EF4-FFF2-40B4-BE49-F238E27FC236}">
                <a16:creationId xmlns:a16="http://schemas.microsoft.com/office/drawing/2014/main" id="{5354E02B-1DDD-41CB-ACA6-A52A93F39547}"/>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510">
            <a:extLst xmlns:a="http://schemas.openxmlformats.org/drawingml/2006/main">
              <a:ext uri="{FF2B5EF4-FFF2-40B4-BE49-F238E27FC236}">
                <a16:creationId xmlns:a16="http://schemas.microsoft.com/office/drawing/2014/main" id="{11C75BFF-9984-469E-B1AF-ABF76AB69DCB}"/>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03 / 6</a:t>
            </a:r>
          </a:p>
        </p:txBody>
      </p:sp>
      <p:sp>
        <p:nvSpPr>
          <p:cNvPr id="6" name="shape-511">
            <a:extLst xmlns:a="http://schemas.openxmlformats.org/drawingml/2006/main">
              <a:ext uri="{FF2B5EF4-FFF2-40B4-BE49-F238E27FC236}">
                <a16:creationId xmlns:a16="http://schemas.microsoft.com/office/drawing/2014/main" id="{4D7C7493-5A4B-44D2-A943-80E89D91F217}"/>
              </a:ext>
            </a:extLst>
          </p:cNvPr>
          <p:cNvSpPr>
            <a:spLocks xmlns:a="http://schemas.openxmlformats.org/drawingml/2006/main" noGrp="1"/>
          </p:cNvSpPr>
          <p:nvPr/>
        </p:nvSpPr>
        <p:spPr>
          <a:xfrm xmlns:a="http://schemas.openxmlformats.org/drawingml/2006/main">
            <a:off x="533400" y="2333625"/>
            <a:ext cx="2057400" cy="7620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Angular</a:t>
            </a:r>
          </a:p>
        </p:txBody>
      </p:sp>
      <p:sp>
        <p:nvSpPr>
          <p:cNvPr id="7" name="shape-512">
            <a:extLst xmlns:a="http://schemas.openxmlformats.org/drawingml/2006/main">
              <a:ext uri="{FF2B5EF4-FFF2-40B4-BE49-F238E27FC236}">
                <a16:creationId xmlns:a16="http://schemas.microsoft.com/office/drawing/2014/main" id="{36475EB8-DA0B-410C-B0AB-A793545C02C7}"/>
              </a:ext>
            </a:extLst>
          </p:cNvPr>
          <p:cNvSpPr>
            <a:spLocks xmlns:a="http://schemas.openxmlformats.org/drawingml/2006/main" noGrp="1"/>
          </p:cNvSpPr>
          <p:nvPr/>
        </p:nvSpPr>
        <p:spPr>
          <a:xfrm xmlns:a="http://schemas.openxmlformats.org/drawingml/2006/main">
            <a:off x="3286125" y="2333625"/>
            <a:ext cx="2057400" cy="762000"/>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Gateway</a:t>
            </a:r>
          </a:p>
        </p:txBody>
      </p:sp>
      <p:sp>
        <p:nvSpPr>
          <p:cNvPr id="8" name="shape-513">
            <a:extLst xmlns:a="http://schemas.openxmlformats.org/drawingml/2006/main">
              <a:ext uri="{FF2B5EF4-FFF2-40B4-BE49-F238E27FC236}">
                <a16:creationId xmlns:a16="http://schemas.microsoft.com/office/drawing/2014/main" id="{960B2428-DA98-4B13-BCF0-F36FF7CFC193}"/>
              </a:ext>
            </a:extLst>
          </p:cNvPr>
          <p:cNvSpPr>
            <a:spLocks xmlns:a="http://schemas.openxmlformats.org/drawingml/2006/main" noGrp="1"/>
          </p:cNvSpPr>
          <p:nvPr/>
        </p:nvSpPr>
        <p:spPr>
          <a:xfrm xmlns:a="http://schemas.openxmlformats.org/drawingml/2006/main">
            <a:off x="6067425" y="2333625"/>
            <a:ext cx="2057400" cy="7620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Business services</a:t>
            </a:r>
          </a:p>
        </p:txBody>
      </p:sp>
      <p:sp>
        <p:nvSpPr>
          <p:cNvPr id="11" name="shape-514">
            <a:extLst xmlns:a="http://schemas.openxmlformats.org/drawingml/2006/main">
              <a:ext uri="{FF2B5EF4-FFF2-40B4-BE49-F238E27FC236}">
                <a16:creationId xmlns:a16="http://schemas.microsoft.com/office/drawing/2014/main" id="{E870FF79-0CE9-4910-A148-23F327736BE1}"/>
              </a:ext>
            </a:extLst>
          </p:cNvPr>
          <p:cNvSpPr>
            <a:spLocks xmlns:a="http://schemas.openxmlformats.org/drawingml/2006/main" noGrp="1"/>
          </p:cNvSpPr>
          <p:nvPr/>
        </p:nvSpPr>
        <p:spPr>
          <a:xfrm xmlns:a="http://schemas.openxmlformats.org/drawingml/2006/main">
            <a:off x="533400" y="4210050"/>
            <a:ext cx="2352675" cy="8382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8 MySQL schemas</a:t>
            </a:r>
          </a:p>
        </p:txBody>
      </p:sp>
      <p:sp>
        <p:nvSpPr>
          <p:cNvPr id="12" name="shape-515">
            <a:extLst xmlns:a="http://schemas.openxmlformats.org/drawingml/2006/main">
              <a:ext uri="{FF2B5EF4-FFF2-40B4-BE49-F238E27FC236}">
                <a16:creationId xmlns:a16="http://schemas.microsoft.com/office/drawing/2014/main" id="{15E459D8-E63C-4A62-BDB2-01D785147870}"/>
              </a:ext>
            </a:extLst>
          </p:cNvPr>
          <p:cNvSpPr>
            <a:spLocks xmlns:a="http://schemas.openxmlformats.org/drawingml/2006/main" noGrp="1"/>
          </p:cNvSpPr>
          <p:nvPr/>
        </p:nvSpPr>
        <p:spPr>
          <a:xfrm xmlns:a="http://schemas.openxmlformats.org/drawingml/2006/main">
            <a:off x="3143250" y="4210050"/>
            <a:ext cx="2352675" cy="83820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RabbitMQ events</a:t>
            </a:r>
          </a:p>
        </p:txBody>
      </p:sp>
      <p:sp>
        <p:nvSpPr>
          <p:cNvPr id="13" name="shape-516">
            <a:extLst xmlns:a="http://schemas.openxmlformats.org/drawingml/2006/main">
              <a:ext uri="{FF2B5EF4-FFF2-40B4-BE49-F238E27FC236}">
                <a16:creationId xmlns:a16="http://schemas.microsoft.com/office/drawing/2014/main" id="{8E72FA9B-151D-4176-A51A-B3841131AAB1}"/>
              </a:ext>
            </a:extLst>
          </p:cNvPr>
          <p:cNvSpPr>
            <a:spLocks xmlns:a="http://schemas.openxmlformats.org/drawingml/2006/main" noGrp="1"/>
          </p:cNvSpPr>
          <p:nvPr/>
        </p:nvSpPr>
        <p:spPr>
          <a:xfrm xmlns:a="http://schemas.openxmlformats.org/drawingml/2006/main">
            <a:off x="5762625" y="4210050"/>
            <a:ext cx="2352675" cy="8382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Gemini assistant</a:t>
            </a:r>
          </a:p>
        </p:txBody>
      </p:sp>
      <p:sp>
        <p:nvSpPr>
          <p:cNvPr id="14" name="shape-517">
            <a:extLst xmlns:a="http://schemas.openxmlformats.org/drawingml/2006/main">
              <a:ext uri="{FF2B5EF4-FFF2-40B4-BE49-F238E27FC236}">
                <a16:creationId xmlns:a16="http://schemas.microsoft.com/office/drawing/2014/main" id="{0E8B1FE8-AEF3-4165-9F3C-706ABABBBDE1}"/>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Business boundaries</a:t>
            </a:r>
          </a:p>
        </p:txBody>
      </p:sp>
      <p:sp>
        <p:nvSpPr>
          <p:cNvPr id="15" name="shape-518">
            <a:extLst xmlns:a="http://schemas.openxmlformats.org/drawingml/2006/main">
              <a:ext uri="{FF2B5EF4-FFF2-40B4-BE49-F238E27FC236}">
                <a16:creationId xmlns:a16="http://schemas.microsoft.com/office/drawing/2014/main" id="{0F69DAF2-9C34-4456-BEBB-E1A4043E961C}"/>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Identity, catalogue, schedules, booking, PNR, payment and updates.</a:t>
            </a:r>
          </a:p>
        </p:txBody>
      </p:sp>
      <p:sp>
        <p:nvSpPr>
          <p:cNvPr id="16" name="shape-519">
            <a:extLst xmlns:a="http://schemas.openxmlformats.org/drawingml/2006/main">
              <a:ext uri="{FF2B5EF4-FFF2-40B4-BE49-F238E27FC236}">
                <a16:creationId xmlns:a16="http://schemas.microsoft.com/office/drawing/2014/main" id="{0D0A5DFE-6B89-484D-B350-0FF2F36CD038}"/>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Infrastructure</a:t>
            </a:r>
          </a:p>
        </p:txBody>
      </p:sp>
      <p:sp>
        <p:nvSpPr>
          <p:cNvPr id="17" name="shape-520">
            <a:extLst xmlns:a="http://schemas.openxmlformats.org/drawingml/2006/main">
              <a:ext uri="{FF2B5EF4-FFF2-40B4-BE49-F238E27FC236}">
                <a16:creationId xmlns:a16="http://schemas.microsoft.com/office/drawing/2014/main" id="{746D7D57-5867-4768-BEDD-BF17E8502543}"/>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Config Server, Eureka, gateway and consistent protected APIs.</a:t>
            </a:r>
          </a:p>
        </p:txBody>
      </p:sp>
      <p:sp>
        <p:nvSpPr>
          <p:cNvPr id="18" name="shape-521">
            <a:extLst xmlns:a="http://schemas.openxmlformats.org/drawingml/2006/main">
              <a:ext uri="{FF2B5EF4-FFF2-40B4-BE49-F238E27FC236}">
                <a16:creationId xmlns:a16="http://schemas.microsoft.com/office/drawing/2014/main" id="{A0800E37-51AB-4096-A3FE-59C2871C0CAC}"/>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9" name="shape-522">
            <a:extLst xmlns:a="http://schemas.openxmlformats.org/drawingml/2006/main">
              <a:ext uri="{FF2B5EF4-FFF2-40B4-BE49-F238E27FC236}">
                <a16:creationId xmlns:a16="http://schemas.microsoft.com/office/drawing/2014/main" id="{41ABFDE2-1B2B-4035-8E14-F508C3B368F7}"/>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Java · Spring Security / JPA · OpenFeign · RabbitMQ · Spring AI · Angular</a:t>
            </a:r>
          </a:p>
        </p:txBody>
      </p:sp>
    </p:spTree>
    <p:extLst>
      <p:ext uri="{BB962C8B-B14F-4D97-AF65-F5344CB8AC3E}">
        <p14:creationId xmlns:p14="http://schemas.microsoft.com/office/powerpoint/2010/main" val="13110030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A90DC2E3-1758-4E91-9F64-248549F9ACD1}"/>
              </a:ext>
            </a:extLst>
          </p:cNvPr>
          <p:cNvCxnSpPr>
            <a:stCxn xmlns:a="http://schemas.openxmlformats.org/drawingml/2006/main" id="8" idx="2"/>
            <a:endCxn xmlns:a="http://schemas.openxmlformats.org/drawingml/2006/main" id="12" idx="0"/>
          </p:cNvCxnSpPr>
          <p:nvPr/>
        </p:nvCxnSpPr>
        <p:spPr>
          <a:xfrm xmlns:a="http://schemas.openxmlformats.org/drawingml/2006/main" flipH="1">
            <a:off x="4310063" y="3314700"/>
            <a:ext cx="2605088" cy="971550"/>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2F6EA368-0DF0-4886-A513-987F76E6C3B8}"/>
              </a:ext>
            </a:extLst>
          </p:cNvPr>
          <p:cNvCxnSpPr>
            <a:stCxn xmlns:a="http://schemas.openxmlformats.org/drawingml/2006/main" id="8" idx="2"/>
            <a:endCxn xmlns:a="http://schemas.openxmlformats.org/drawingml/2006/main" id="11" idx="0"/>
          </p:cNvCxnSpPr>
          <p:nvPr/>
        </p:nvCxnSpPr>
        <p:spPr>
          <a:xfrm xmlns:a="http://schemas.openxmlformats.org/drawingml/2006/main" flipH="1">
            <a:off x="1709738" y="3314700"/>
            <a:ext cx="5205413" cy="971550"/>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A69990CB-FCA1-4CA2-8C22-E1C33885BE9E}"/>
              </a:ext>
            </a:extLst>
          </p:cNvPr>
          <p:cNvCxnSpPr>
            <a:stCxn xmlns:a="http://schemas.openxmlformats.org/drawingml/2006/main" id="12" idx="3"/>
            <a:endCxn xmlns:a="http://schemas.openxmlformats.org/drawingml/2006/main" id="13" idx="1"/>
          </p:cNvCxnSpPr>
          <p:nvPr/>
        </p:nvCxnSpPr>
        <p:spPr>
          <a:xfrm xmlns:a="http://schemas.openxmlformats.org/drawingml/2006/main">
            <a:off x="5486400" y="4700588"/>
            <a:ext cx="2762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B6B4C97E-129C-4F10-91BC-0E5464D5561A}"/>
              </a:ext>
            </a:extLst>
          </p:cNvPr>
          <p:cNvCxnSpPr>
            <a:stCxn xmlns:a="http://schemas.openxmlformats.org/drawingml/2006/main" id="7" idx="3"/>
            <a:endCxn xmlns:a="http://schemas.openxmlformats.org/drawingml/2006/main" id="8" idx="1"/>
          </p:cNvCxnSpPr>
          <p:nvPr/>
        </p:nvCxnSpPr>
        <p:spPr>
          <a:xfrm xmlns:a="http://schemas.openxmlformats.org/drawingml/2006/main">
            <a:off x="5438775" y="28765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4D56F5F-00EF-4E51-9157-B8E3B13EFE75}"/>
              </a:ext>
            </a:extLst>
          </p:cNvPr>
          <p:cNvCxnSpPr>
            <a:stCxn xmlns:a="http://schemas.openxmlformats.org/drawingml/2006/main" id="6" idx="3"/>
            <a:endCxn xmlns:a="http://schemas.openxmlformats.org/drawingml/2006/main" id="7" idx="1"/>
          </p:cNvCxnSpPr>
          <p:nvPr/>
        </p:nvCxnSpPr>
        <p:spPr>
          <a:xfrm xmlns:a="http://schemas.openxmlformats.org/drawingml/2006/main">
            <a:off x="2819400" y="2876550"/>
            <a:ext cx="33337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23" name="shape-523">
            <a:extLst xmlns:a="http://schemas.openxmlformats.org/drawingml/2006/main">
              <a:ext uri="{FF2B5EF4-FFF2-40B4-BE49-F238E27FC236}">
                <a16:creationId xmlns:a16="http://schemas.microsoft.com/office/drawing/2014/main" id="{4C352224-2B6D-4392-BD44-2B1E0160333A}"/>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BOOKING CORRECTNESS</a:t>
            </a:r>
          </a:p>
        </p:txBody>
      </p:sp>
      <p:sp>
        <p:nvSpPr>
          <p:cNvPr id="2" name="shape-524">
            <a:extLst xmlns:a="http://schemas.openxmlformats.org/drawingml/2006/main">
              <a:ext uri="{FF2B5EF4-FFF2-40B4-BE49-F238E27FC236}">
                <a16:creationId xmlns:a16="http://schemas.microsoft.com/office/drawing/2014/main" id="{83A981A1-A04A-4CB5-99B1-382E40E03B24}"/>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I protect the complete reservation lifecycle</a:t>
            </a:r>
          </a:p>
        </p:txBody>
      </p:sp>
      <p:sp>
        <p:nvSpPr>
          <p:cNvPr id="3" name="shape-525">
            <a:extLst xmlns:a="http://schemas.openxmlformats.org/drawingml/2006/main">
              <a:ext uri="{FF2B5EF4-FFF2-40B4-BE49-F238E27FC236}">
                <a16:creationId xmlns:a16="http://schemas.microsoft.com/office/drawing/2014/main" id="{851D6BE5-FAD3-4911-9AD4-0370E973DCA8}"/>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Short holds, verified payment and explicit CNF / WL transitions.</a:t>
            </a:r>
          </a:p>
        </p:txBody>
      </p:sp>
      <p:sp>
        <p:nvSpPr>
          <p:cNvPr id="4" name="shape-526">
            <a:extLst xmlns:a="http://schemas.openxmlformats.org/drawingml/2006/main">
              <a:ext uri="{FF2B5EF4-FFF2-40B4-BE49-F238E27FC236}">
                <a16:creationId xmlns:a16="http://schemas.microsoft.com/office/drawing/2014/main" id="{7F0AFC7D-CA75-471F-96C3-F1A5130E9B48}"/>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527">
            <a:extLst xmlns:a="http://schemas.openxmlformats.org/drawingml/2006/main">
              <a:ext uri="{FF2B5EF4-FFF2-40B4-BE49-F238E27FC236}">
                <a16:creationId xmlns:a16="http://schemas.microsoft.com/office/drawing/2014/main" id="{121E6DA9-AAE2-49E8-B71C-9215E585407A}"/>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04 / 6</a:t>
            </a:r>
          </a:p>
        </p:txBody>
      </p:sp>
      <p:sp>
        <p:nvSpPr>
          <p:cNvPr id="6" name="shape-528">
            <a:extLst xmlns:a="http://schemas.openxmlformats.org/drawingml/2006/main">
              <a:ext uri="{FF2B5EF4-FFF2-40B4-BE49-F238E27FC236}">
                <a16:creationId xmlns:a16="http://schemas.microsoft.com/office/drawing/2014/main" id="{1205654F-0FF9-4F70-A3C8-3A8DB37ADE08}"/>
              </a:ext>
            </a:extLst>
          </p:cNvPr>
          <p:cNvSpPr>
            <a:spLocks xmlns:a="http://schemas.openxmlformats.org/drawingml/2006/main" noGrp="1"/>
          </p:cNvSpPr>
          <p:nvPr/>
        </p:nvSpPr>
        <p:spPr>
          <a:xfrm xmlns:a="http://schemas.openxmlformats.org/drawingml/2006/main">
            <a:off x="533400" y="2438400"/>
            <a:ext cx="2286000" cy="8763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Fresh quote</a:t>
            </a:r>
          </a:p>
        </p:txBody>
      </p:sp>
      <p:sp>
        <p:nvSpPr>
          <p:cNvPr id="7" name="shape-529">
            <a:extLst xmlns:a="http://schemas.openxmlformats.org/drawingml/2006/main">
              <a:ext uri="{FF2B5EF4-FFF2-40B4-BE49-F238E27FC236}">
                <a16:creationId xmlns:a16="http://schemas.microsoft.com/office/drawing/2014/main" id="{C3C28947-8940-4F85-9670-FD51E8B686C1}"/>
              </a:ext>
            </a:extLst>
          </p:cNvPr>
          <p:cNvSpPr>
            <a:spLocks xmlns:a="http://schemas.openxmlformats.org/drawingml/2006/main" noGrp="1"/>
          </p:cNvSpPr>
          <p:nvPr/>
        </p:nvSpPr>
        <p:spPr>
          <a:xfrm xmlns:a="http://schemas.openxmlformats.org/drawingml/2006/main">
            <a:off x="3152775" y="2438400"/>
            <a:ext cx="2286000" cy="8763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2-minute hold</a:t>
            </a:r>
          </a:p>
        </p:txBody>
      </p:sp>
      <p:sp>
        <p:nvSpPr>
          <p:cNvPr id="8" name="shape-530">
            <a:extLst xmlns:a="http://schemas.openxmlformats.org/drawingml/2006/main">
              <a:ext uri="{FF2B5EF4-FFF2-40B4-BE49-F238E27FC236}">
                <a16:creationId xmlns:a16="http://schemas.microsoft.com/office/drawing/2014/main" id="{ACF4F137-5841-415E-9B64-CDC2F77E3394}"/>
              </a:ext>
            </a:extLst>
          </p:cNvPr>
          <p:cNvSpPr>
            <a:spLocks xmlns:a="http://schemas.openxmlformats.org/drawingml/2006/main" noGrp="1"/>
          </p:cNvSpPr>
          <p:nvPr/>
        </p:nvSpPr>
        <p:spPr>
          <a:xfrm xmlns:a="http://schemas.openxmlformats.org/drawingml/2006/main">
            <a:off x="5772150" y="2438400"/>
            <a:ext cx="2286000" cy="87630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Verified payment</a:t>
            </a:r>
          </a:p>
        </p:txBody>
      </p:sp>
      <p:sp>
        <p:nvSpPr>
          <p:cNvPr id="11" name="shape-531">
            <a:extLst xmlns:a="http://schemas.openxmlformats.org/drawingml/2006/main">
              <a:ext uri="{FF2B5EF4-FFF2-40B4-BE49-F238E27FC236}">
                <a16:creationId xmlns:a16="http://schemas.microsoft.com/office/drawing/2014/main" id="{64E9E0DC-E2E1-449C-BEC1-530D1C19C8EB}"/>
              </a:ext>
            </a:extLst>
          </p:cNvPr>
          <p:cNvSpPr>
            <a:spLocks xmlns:a="http://schemas.openxmlformats.org/drawingml/2006/main" noGrp="1"/>
          </p:cNvSpPr>
          <p:nvPr/>
        </p:nvSpPr>
        <p:spPr>
          <a:xfrm xmlns:a="http://schemas.openxmlformats.org/drawingml/2006/main">
            <a:off x="533400" y="4286250"/>
            <a:ext cx="2352675" cy="828675"/>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CONFIRMED</a:t>
            </a:r>
          </a:p>
        </p:txBody>
      </p:sp>
      <p:sp>
        <p:nvSpPr>
          <p:cNvPr id="12" name="shape-532">
            <a:extLst xmlns:a="http://schemas.openxmlformats.org/drawingml/2006/main">
              <a:ext uri="{FF2B5EF4-FFF2-40B4-BE49-F238E27FC236}">
                <a16:creationId xmlns:a16="http://schemas.microsoft.com/office/drawing/2014/main" id="{21953CCA-2ECD-47A1-9F1E-D40298001AD4}"/>
              </a:ext>
            </a:extLst>
          </p:cNvPr>
          <p:cNvSpPr>
            <a:spLocks xmlns:a="http://schemas.openxmlformats.org/drawingml/2006/main" noGrp="1"/>
          </p:cNvSpPr>
          <p:nvPr/>
        </p:nvSpPr>
        <p:spPr>
          <a:xfrm xmlns:a="http://schemas.openxmlformats.org/drawingml/2006/main">
            <a:off x="3133725" y="4286250"/>
            <a:ext cx="2352675" cy="828675"/>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WAITING</a:t>
            </a:r>
          </a:p>
        </p:txBody>
      </p:sp>
      <p:sp>
        <p:nvSpPr>
          <p:cNvPr id="13" name="shape-533">
            <a:extLst xmlns:a="http://schemas.openxmlformats.org/drawingml/2006/main">
              <a:ext uri="{FF2B5EF4-FFF2-40B4-BE49-F238E27FC236}">
                <a16:creationId xmlns:a16="http://schemas.microsoft.com/office/drawing/2014/main" id="{A8538484-1441-47FE-A358-14D2A95E477B}"/>
              </a:ext>
            </a:extLst>
          </p:cNvPr>
          <p:cNvSpPr>
            <a:spLocks xmlns:a="http://schemas.openxmlformats.org/drawingml/2006/main" noGrp="1"/>
          </p:cNvSpPr>
          <p:nvPr/>
        </p:nvSpPr>
        <p:spPr>
          <a:xfrm xmlns:a="http://schemas.openxmlformats.org/drawingml/2006/main">
            <a:off x="5762625" y="4286250"/>
            <a:ext cx="2352675" cy="828675"/>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Promote or refund</a:t>
            </a:r>
          </a:p>
        </p:txBody>
      </p:sp>
      <p:sp>
        <p:nvSpPr>
          <p:cNvPr id="17" name="shape-534">
            <a:extLst xmlns:a="http://schemas.openxmlformats.org/drawingml/2006/main">
              <a:ext uri="{FF2B5EF4-FFF2-40B4-BE49-F238E27FC236}">
                <a16:creationId xmlns:a16="http://schemas.microsoft.com/office/drawing/2014/main" id="{FB30E810-2391-4F06-AE18-9F07B5ABA86B}"/>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Safety mechanisms</a:t>
            </a:r>
          </a:p>
        </p:txBody>
      </p:sp>
      <p:sp>
        <p:nvSpPr>
          <p:cNvPr id="18" name="shape-535">
            <a:extLst xmlns:a="http://schemas.openxmlformats.org/drawingml/2006/main">
              <a:ext uri="{FF2B5EF4-FFF2-40B4-BE49-F238E27FC236}">
                <a16:creationId xmlns:a16="http://schemas.microsoft.com/office/drawing/2014/main" id="{A720AC65-DBE3-4C9B-93A7-D9846FE03AC6}"/>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Seat locks, request idempotency, payment verification and refund tracking.</a:t>
            </a:r>
          </a:p>
        </p:txBody>
      </p:sp>
      <p:sp>
        <p:nvSpPr>
          <p:cNvPr id="19" name="shape-536">
            <a:extLst xmlns:a="http://schemas.openxmlformats.org/drawingml/2006/main">
              <a:ext uri="{FF2B5EF4-FFF2-40B4-BE49-F238E27FC236}">
                <a16:creationId xmlns:a16="http://schemas.microsoft.com/office/drawing/2014/main" id="{8ECA967A-E6BD-47FC-8228-BECB9DF9AE6B}"/>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Passenger updates</a:t>
            </a:r>
          </a:p>
        </p:txBody>
      </p:sp>
      <p:sp>
        <p:nvSpPr>
          <p:cNvPr id="20" name="shape-537">
            <a:extLst xmlns:a="http://schemas.openxmlformats.org/drawingml/2006/main">
              <a:ext uri="{FF2B5EF4-FFF2-40B4-BE49-F238E27FC236}">
                <a16:creationId xmlns:a16="http://schemas.microsoft.com/office/drawing/2014/main" id="{8786C17C-6DA4-4658-BE6D-98C86338C526}"/>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Ticket PDF, confirmation, promotion, cancellation and refund messages.</a:t>
            </a:r>
          </a:p>
        </p:txBody>
      </p:sp>
      <p:sp>
        <p:nvSpPr>
          <p:cNvPr id="21" name="shape-538">
            <a:extLst xmlns:a="http://schemas.openxmlformats.org/drawingml/2006/main">
              <a:ext uri="{FF2B5EF4-FFF2-40B4-BE49-F238E27FC236}">
                <a16:creationId xmlns:a16="http://schemas.microsoft.com/office/drawing/2014/main" id="{C816827C-9CB4-4791-83D6-A21276115BE0}"/>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22" name="shape-539">
            <a:extLst xmlns:a="http://schemas.openxmlformats.org/drawingml/2006/main">
              <a:ext uri="{FF2B5EF4-FFF2-40B4-BE49-F238E27FC236}">
                <a16:creationId xmlns:a16="http://schemas.microsoft.com/office/drawing/2014/main" id="{1910C8FE-5393-44D4-9F8E-607AAA12E313}"/>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No RAC or partial group promotion; payments and refunds use Razorpay test mode.</a:t>
            </a:r>
          </a:p>
        </p:txBody>
      </p:sp>
    </p:spTree>
    <p:extLst>
      <p:ext uri="{BB962C8B-B14F-4D97-AF65-F5344CB8AC3E}">
        <p14:creationId xmlns:p14="http://schemas.microsoft.com/office/powerpoint/2010/main" val="1061590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62B4A4E-D3AA-4FD4-AF25-0258E303FEA0}"/>
              </a:ext>
            </a:extLst>
          </p:cNvPr>
          <p:cNvCxnSpPr>
            <a:stCxn xmlns:a="http://schemas.openxmlformats.org/drawingml/2006/main" id="6" idx="2"/>
            <a:endCxn xmlns:a="http://schemas.openxmlformats.org/drawingml/2006/main" id="9" idx="0"/>
          </p:cNvCxnSpPr>
          <p:nvPr/>
        </p:nvCxnSpPr>
        <p:spPr>
          <a:xfrm xmlns:a="http://schemas.openxmlformats.org/drawingml/2006/main">
            <a:off x="4152900" y="4076700"/>
            <a:ext cx="19050" cy="619125"/>
          </a:xfrm>
          <a:prstGeom xmlns:a="http://schemas.openxmlformats.org/drawingml/2006/main" prst="bentConnector4">
            <a:avLst>
              <a:gd name="adj1" fmla="val 0"/>
              <a:gd name="adj2" fmla="val 50000"/>
            </a:avLst>
          </a:prstGeom>
          <a:ln xmlns:a="http://schemas.openxmlformats.org/drawingml/2006/main" w="25718">
            <a:solidFill>
              <a:srgbClr val="2459E0"/>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9166C45E-19CF-4C12-BDE5-FBFD4C8379D6}"/>
              </a:ext>
            </a:extLst>
          </p:cNvPr>
          <p:cNvCxnSpPr>
            <a:stCxn xmlns:a="http://schemas.openxmlformats.org/drawingml/2006/main" id="6" idx="3"/>
            <a:endCxn xmlns:a="http://schemas.openxmlformats.org/drawingml/2006/main" id="8" idx="2"/>
          </p:cNvCxnSpPr>
          <p:nvPr/>
        </p:nvCxnSpPr>
        <p:spPr>
          <a:xfrm xmlns:a="http://schemas.openxmlformats.org/drawingml/2006/main" flipV="1">
            <a:off x="5238750" y="3048000"/>
            <a:ext cx="1738313" cy="623888"/>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B5E8A550-DE18-4B59-89B9-F33EFBEB89E7}"/>
              </a:ext>
            </a:extLst>
          </p:cNvPr>
          <p:cNvCxnSpPr>
            <a:stCxn xmlns:a="http://schemas.openxmlformats.org/drawingml/2006/main" id="6" idx="1"/>
            <a:endCxn xmlns:a="http://schemas.openxmlformats.org/drawingml/2006/main" id="7" idx="2"/>
          </p:cNvCxnSpPr>
          <p:nvPr/>
        </p:nvCxnSpPr>
        <p:spPr>
          <a:xfrm xmlns:a="http://schemas.openxmlformats.org/drawingml/2006/main" flipH="1" flipV="1">
            <a:off x="1724025" y="3048000"/>
            <a:ext cx="1343025" cy="623888"/>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9" name="shape-540">
            <a:extLst xmlns:a="http://schemas.openxmlformats.org/drawingml/2006/main">
              <a:ext uri="{FF2B5EF4-FFF2-40B4-BE49-F238E27FC236}">
                <a16:creationId xmlns:a16="http://schemas.microsoft.com/office/drawing/2014/main" id="{6F39D86B-6F53-4B32-891D-30DEB3A70271}"/>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2459E0"/>
                </a:solidFill>
                <a:latin typeface="Arial"/>
                <a:ea typeface="Arial"/>
                <a:cs typeface="Arial"/>
              </a:defRPr>
            </a:defPPr>
          </a:lstStyle>
          <a:p xmlns:a="http://schemas.openxmlformats.org/drawingml/2006/main">
            <a:pPr algn="l">
              <a:defRPr sz="1200" b="1">
                <a:solidFill>
                  <a:srgbClr val="2459E0"/>
                </a:solidFill>
                <a:latin typeface="Arial"/>
                <a:ea typeface="Arial"/>
                <a:cs typeface="Arial"/>
              </a:defRPr>
            </a:pPr>
            <a:r>
              <a:rPr sz="1200" b="1">
                <a:solidFill>
                  <a:srgbClr val="2459E0"/>
                </a:solidFill>
                <a:latin typeface="Arial"/>
                <a:ea typeface="Arial"/>
                <a:cs typeface="Arial"/>
              </a:rPr>
              <a:t>COMPLETE PLATFORM</a:t>
            </a:r>
          </a:p>
        </p:txBody>
      </p:sp>
      <p:sp>
        <p:nvSpPr>
          <p:cNvPr id="2" name="shape-541">
            <a:extLst xmlns:a="http://schemas.openxmlformats.org/drawingml/2006/main">
              <a:ext uri="{FF2B5EF4-FFF2-40B4-BE49-F238E27FC236}">
                <a16:creationId xmlns:a16="http://schemas.microsoft.com/office/drawing/2014/main" id="{04D03A04-EB00-410B-8CD9-45A90165E660}"/>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52442"/>
                </a:solidFill>
                <a:latin typeface="Arial"/>
                <a:ea typeface="Arial"/>
                <a:cs typeface="Arial"/>
              </a:defRPr>
            </a:defPPr>
          </a:lstStyle>
          <a:p xmlns:a="http://schemas.openxmlformats.org/drawingml/2006/main">
            <a:pPr algn="l">
              <a:defRPr sz="3300" b="1">
                <a:solidFill>
                  <a:srgbClr val="152442"/>
                </a:solidFill>
                <a:latin typeface="Arial"/>
                <a:ea typeface="Arial"/>
                <a:cs typeface="Arial"/>
              </a:defRPr>
            </a:pPr>
            <a:r>
              <a:rPr sz="3300" b="1">
                <a:solidFill>
                  <a:srgbClr val="152442"/>
                </a:solidFill>
                <a:latin typeface="Arial"/>
                <a:ea typeface="Arial"/>
                <a:cs typeface="Arial"/>
              </a:rPr>
              <a:t>I support the journey before and after payment</a:t>
            </a:r>
          </a:p>
        </p:txBody>
      </p:sp>
      <p:sp>
        <p:nvSpPr>
          <p:cNvPr id="3" name="shape-542">
            <a:extLst xmlns:a="http://schemas.openxmlformats.org/drawingml/2006/main">
              <a:ext uri="{FF2B5EF4-FFF2-40B4-BE49-F238E27FC236}">
                <a16:creationId xmlns:a16="http://schemas.microsoft.com/office/drawing/2014/main" id="{BEE6B29E-CBAD-4E65-A028-BF57E81316E0}"/>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677F"/>
                </a:solidFill>
                <a:latin typeface="Arial"/>
                <a:ea typeface="Arial"/>
                <a:cs typeface="Arial"/>
              </a:defRPr>
            </a:defPPr>
          </a:lstStyle>
          <a:p xmlns:a="http://schemas.openxmlformats.org/drawingml/2006/main">
            <a:pPr algn="l">
              <a:defRPr sz="1800" b="0">
                <a:solidFill>
                  <a:srgbClr val="58677F"/>
                </a:solidFill>
                <a:latin typeface="Arial"/>
                <a:ea typeface="Arial"/>
                <a:cs typeface="Arial"/>
              </a:defRPr>
            </a:pPr>
            <a:r>
              <a:rPr sz="1800" b="0">
                <a:solidFill>
                  <a:srgbClr val="58677F"/>
                </a:solidFill>
                <a:latin typeface="Arial"/>
                <a:ea typeface="Arial"/>
                <a:cs typeface="Arial"/>
              </a:rPr>
              <a:t>Passenger features, admin operations and help are connected.</a:t>
            </a:r>
          </a:p>
        </p:txBody>
      </p:sp>
      <p:sp>
        <p:nvSpPr>
          <p:cNvPr id="4" name="shape-543">
            <a:extLst xmlns:a="http://schemas.openxmlformats.org/drawingml/2006/main">
              <a:ext uri="{FF2B5EF4-FFF2-40B4-BE49-F238E27FC236}">
                <a16:creationId xmlns:a16="http://schemas.microsoft.com/office/drawing/2014/main" id="{E73992A8-FF7B-4B40-B3B1-9AE1C10B3196}"/>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8677F"/>
                </a:solidFill>
                <a:latin typeface="Arial"/>
                <a:ea typeface="Arial"/>
                <a:cs typeface="Arial"/>
              </a:defRPr>
            </a:defPPr>
          </a:lstStyle>
          <a:p xmlns:a="http://schemas.openxmlformats.org/drawingml/2006/main">
            <a:pPr algn="l">
              <a:defRPr sz="975" b="0">
                <a:solidFill>
                  <a:srgbClr val="58677F"/>
                </a:solidFill>
                <a:latin typeface="Arial"/>
                <a:ea typeface="Arial"/>
                <a:cs typeface="Arial"/>
              </a:defRPr>
            </a:pPr>
            <a:r>
              <a:rPr sz="975" b="0">
                <a:solidFill>
                  <a:srgbClr val="58677F"/>
                </a:solidFill>
                <a:latin typeface="Arial"/>
                <a:ea typeface="Arial"/>
                <a:cs typeface="Arial"/>
              </a:rPr>
              <a:t>RAILWIZE  /  PROJECT PRESENTATION</a:t>
            </a:r>
          </a:p>
        </p:txBody>
      </p:sp>
      <p:sp>
        <p:nvSpPr>
          <p:cNvPr id="5" name="shape-544">
            <a:extLst xmlns:a="http://schemas.openxmlformats.org/drawingml/2006/main">
              <a:ext uri="{FF2B5EF4-FFF2-40B4-BE49-F238E27FC236}">
                <a16:creationId xmlns:a16="http://schemas.microsoft.com/office/drawing/2014/main" id="{1F05DA06-D41F-4AB5-84AF-D53FB808E5AD}"/>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8677F"/>
                </a:solidFill>
                <a:latin typeface="Arial"/>
                <a:ea typeface="Arial"/>
                <a:cs typeface="Arial"/>
              </a:defRPr>
            </a:defPPr>
          </a:lstStyle>
          <a:p xmlns:a="http://schemas.openxmlformats.org/drawingml/2006/main">
            <a:pPr algn="r">
              <a:defRPr sz="1125" b="0">
                <a:solidFill>
                  <a:srgbClr val="58677F"/>
                </a:solidFill>
                <a:latin typeface="Arial"/>
                <a:ea typeface="Arial"/>
                <a:cs typeface="Arial"/>
              </a:defRPr>
            </a:pPr>
            <a:r>
              <a:rPr sz="1125" b="0">
                <a:solidFill>
                  <a:srgbClr val="58677F"/>
                </a:solidFill>
                <a:latin typeface="Arial"/>
                <a:ea typeface="Arial"/>
                <a:cs typeface="Arial"/>
              </a:rPr>
              <a:t>05 / 6</a:t>
            </a:r>
          </a:p>
        </p:txBody>
      </p:sp>
      <p:sp>
        <p:nvSpPr>
          <p:cNvPr id="6" name="shape-545">
            <a:extLst xmlns:a="http://schemas.openxmlformats.org/drawingml/2006/main">
              <a:ext uri="{FF2B5EF4-FFF2-40B4-BE49-F238E27FC236}">
                <a16:creationId xmlns:a16="http://schemas.microsoft.com/office/drawing/2014/main" id="{E85E6467-1D75-4B27-AF2B-2FB3D36F7D08}"/>
              </a:ext>
            </a:extLst>
          </p:cNvPr>
          <p:cNvSpPr>
            <a:spLocks xmlns:a="http://schemas.openxmlformats.org/drawingml/2006/main" noGrp="1"/>
          </p:cNvSpPr>
          <p:nvPr/>
        </p:nvSpPr>
        <p:spPr>
          <a:xfrm xmlns:a="http://schemas.openxmlformats.org/drawingml/2006/main">
            <a:off x="3067050" y="3267075"/>
            <a:ext cx="2171700" cy="809625"/>
          </a:xfrm>
          <a:prstGeom xmlns:a="http://schemas.openxmlformats.org/drawingml/2006/main" prst="rect">
            <a:avLst/>
          </a:prstGeom>
          <a:solidFill xmlns:a="http://schemas.openxmlformats.org/drawingml/2006/main">
            <a:srgbClr val="0B163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Railwize</a:t>
            </a:r>
          </a:p>
        </p:txBody>
      </p:sp>
      <p:sp>
        <p:nvSpPr>
          <p:cNvPr id="7" name="shape-546">
            <a:extLst xmlns:a="http://schemas.openxmlformats.org/drawingml/2006/main">
              <a:ext uri="{FF2B5EF4-FFF2-40B4-BE49-F238E27FC236}">
                <a16:creationId xmlns:a16="http://schemas.microsoft.com/office/drawing/2014/main" id="{09D68747-DEA1-450B-8752-6C7F9195FB1F}"/>
              </a:ext>
            </a:extLst>
          </p:cNvPr>
          <p:cNvSpPr>
            <a:spLocks xmlns:a="http://schemas.openxmlformats.org/drawingml/2006/main" noGrp="1"/>
          </p:cNvSpPr>
          <p:nvPr/>
        </p:nvSpPr>
        <p:spPr>
          <a:xfrm xmlns:a="http://schemas.openxmlformats.org/drawingml/2006/main">
            <a:off x="533400" y="2286000"/>
            <a:ext cx="2381250" cy="7620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Passenger journey</a:t>
            </a:r>
          </a:p>
        </p:txBody>
      </p:sp>
      <p:sp>
        <p:nvSpPr>
          <p:cNvPr id="8" name="shape-547">
            <a:extLst xmlns:a="http://schemas.openxmlformats.org/drawingml/2006/main">
              <a:ext uri="{FF2B5EF4-FFF2-40B4-BE49-F238E27FC236}">
                <a16:creationId xmlns:a16="http://schemas.microsoft.com/office/drawing/2014/main" id="{CE4C72A7-ABDF-4186-807C-7BD47E9C7010}"/>
              </a:ext>
            </a:extLst>
          </p:cNvPr>
          <p:cNvSpPr>
            <a:spLocks xmlns:a="http://schemas.openxmlformats.org/drawingml/2006/main" noGrp="1"/>
          </p:cNvSpPr>
          <p:nvPr/>
        </p:nvSpPr>
        <p:spPr>
          <a:xfrm xmlns:a="http://schemas.openxmlformats.org/drawingml/2006/main">
            <a:off x="5705475" y="2286000"/>
            <a:ext cx="2543175" cy="76200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Admin workspace</a:t>
            </a:r>
          </a:p>
        </p:txBody>
      </p:sp>
      <p:sp>
        <p:nvSpPr>
          <p:cNvPr id="9" name="shape-548">
            <a:extLst xmlns:a="http://schemas.openxmlformats.org/drawingml/2006/main">
              <a:ext uri="{FF2B5EF4-FFF2-40B4-BE49-F238E27FC236}">
                <a16:creationId xmlns:a16="http://schemas.microsoft.com/office/drawing/2014/main" id="{820E9CB1-6F64-492B-9377-C5563F9977D9}"/>
              </a:ext>
            </a:extLst>
          </p:cNvPr>
          <p:cNvSpPr>
            <a:spLocks xmlns:a="http://schemas.openxmlformats.org/drawingml/2006/main" noGrp="1"/>
          </p:cNvSpPr>
          <p:nvPr/>
        </p:nvSpPr>
        <p:spPr>
          <a:xfrm xmlns:a="http://schemas.openxmlformats.org/drawingml/2006/main">
            <a:off x="2257425" y="4695825"/>
            <a:ext cx="3829050" cy="762000"/>
          </a:xfrm>
          <a:prstGeom xmlns:a="http://schemas.openxmlformats.org/drawingml/2006/main" prst="rect">
            <a:avLst/>
          </a:prstGeom>
          <a:solidFill xmlns:a="http://schemas.openxmlformats.org/drawingml/2006/main">
            <a:srgbClr val="61DCF2"/>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Support + assistant</a:t>
            </a:r>
          </a:p>
        </p:txBody>
      </p:sp>
      <p:sp>
        <p:nvSpPr>
          <p:cNvPr id="13" name="shape-549">
            <a:extLst xmlns:a="http://schemas.openxmlformats.org/drawingml/2006/main">
              <a:ext uri="{FF2B5EF4-FFF2-40B4-BE49-F238E27FC236}">
                <a16:creationId xmlns:a16="http://schemas.microsoft.com/office/drawing/2014/main" id="{F6589098-BE0C-43ED-B49D-3745F62770A2}"/>
              </a:ext>
            </a:extLst>
          </p:cNvPr>
          <p:cNvSpPr>
            <a:spLocks xmlns:a="http://schemas.openxmlformats.org/drawingml/2006/main" noGrp="1"/>
          </p:cNvSpPr>
          <p:nvPr/>
        </p:nvSpPr>
        <p:spPr>
          <a:xfrm xmlns:a="http://schemas.openxmlformats.org/drawingml/2006/main">
            <a:off x="8620125" y="19526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Passenger</a:t>
            </a:r>
          </a:p>
        </p:txBody>
      </p:sp>
      <p:sp>
        <p:nvSpPr>
          <p:cNvPr id="14" name="shape-550">
            <a:extLst xmlns:a="http://schemas.openxmlformats.org/drawingml/2006/main">
              <a:ext uri="{FF2B5EF4-FFF2-40B4-BE49-F238E27FC236}">
                <a16:creationId xmlns:a16="http://schemas.microsoft.com/office/drawing/2014/main" id="{9E7533A7-4018-43B5-A23A-D616991EF6CC}"/>
              </a:ext>
            </a:extLst>
          </p:cNvPr>
          <p:cNvSpPr>
            <a:spLocks xmlns:a="http://schemas.openxmlformats.org/drawingml/2006/main" noGrp="1"/>
          </p:cNvSpPr>
          <p:nvPr/>
        </p:nvSpPr>
        <p:spPr>
          <a:xfrm xmlns:a="http://schemas.openxmlformats.org/drawingml/2006/main">
            <a:off x="8620125" y="23907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Saved details, history, PDF, calendar and timely updates.</a:t>
            </a:r>
          </a:p>
        </p:txBody>
      </p:sp>
      <p:sp>
        <p:nvSpPr>
          <p:cNvPr id="15" name="shape-551">
            <a:extLst xmlns:a="http://schemas.openxmlformats.org/drawingml/2006/main">
              <a:ext uri="{FF2B5EF4-FFF2-40B4-BE49-F238E27FC236}">
                <a16:creationId xmlns:a16="http://schemas.microsoft.com/office/drawing/2014/main" id="{99C22C78-D9D0-4D40-8EED-227E6E3E83BB}"/>
              </a:ext>
            </a:extLst>
          </p:cNvPr>
          <p:cNvSpPr>
            <a:spLocks xmlns:a="http://schemas.openxmlformats.org/drawingml/2006/main" noGrp="1"/>
          </p:cNvSpPr>
          <p:nvPr/>
        </p:nvSpPr>
        <p:spPr>
          <a:xfrm xmlns:a="http://schemas.openxmlformats.org/drawingml/2006/main">
            <a:off x="8620125" y="3705225"/>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59E0"/>
                </a:solidFill>
                <a:latin typeface="Arial"/>
                <a:ea typeface="Arial"/>
                <a:cs typeface="Arial"/>
              </a:defRPr>
            </a:defPPr>
          </a:lstStyle>
          <a:p xmlns:a="http://schemas.openxmlformats.org/drawingml/2006/main">
            <a:pPr algn="l">
              <a:defRPr sz="1875" b="1">
                <a:solidFill>
                  <a:srgbClr val="2459E0"/>
                </a:solidFill>
                <a:latin typeface="Arial"/>
                <a:ea typeface="Arial"/>
                <a:cs typeface="Arial"/>
              </a:defRPr>
            </a:pPr>
            <a:r>
              <a:rPr sz="1875" b="1">
                <a:solidFill>
                  <a:srgbClr val="2459E0"/>
                </a:solidFill>
                <a:latin typeface="Arial"/>
                <a:ea typeface="Arial"/>
                <a:cs typeface="Arial"/>
              </a:rPr>
              <a:t>Administrator</a:t>
            </a:r>
          </a:p>
        </p:txBody>
      </p:sp>
      <p:sp>
        <p:nvSpPr>
          <p:cNvPr id="16" name="shape-552">
            <a:extLst xmlns:a="http://schemas.openxmlformats.org/drawingml/2006/main">
              <a:ext uri="{FF2B5EF4-FFF2-40B4-BE49-F238E27FC236}">
                <a16:creationId xmlns:a16="http://schemas.microsoft.com/office/drawing/2014/main" id="{EC3C01FB-2592-476E-ACE1-0532E6E6F5A2}"/>
              </a:ext>
            </a:extLst>
          </p:cNvPr>
          <p:cNvSpPr>
            <a:spLocks xmlns:a="http://schemas.openxmlformats.org/drawingml/2006/main" noGrp="1"/>
          </p:cNvSpPr>
          <p:nvPr/>
        </p:nvSpPr>
        <p:spPr>
          <a:xfrm xmlns:a="http://schemas.openxmlformats.org/drawingml/2006/main">
            <a:off x="8620125" y="4143375"/>
            <a:ext cx="29051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52442"/>
                </a:solidFill>
                <a:latin typeface="Arial"/>
                <a:ea typeface="Arial"/>
                <a:cs typeface="Arial"/>
              </a:defRPr>
            </a:defPPr>
          </a:lstStyle>
          <a:p xmlns:a="http://schemas.openxmlformats.org/drawingml/2006/main">
            <a:pPr algn="l">
              <a:defRPr sz="1875" b="0">
                <a:solidFill>
                  <a:srgbClr val="152442"/>
                </a:solidFill>
                <a:latin typeface="Arial"/>
                <a:ea typeface="Arial"/>
                <a:cs typeface="Arial"/>
              </a:defRPr>
            </a:pPr>
            <a:r>
              <a:rPr sz="1875" b="0">
                <a:solidFill>
                  <a:srgbClr val="152442"/>
                </a:solidFill>
                <a:latin typeface="Arial"/>
                <a:ea typeface="Arial"/>
                <a:cs typeface="Arial"/>
              </a:rPr>
              <a:t>Catalogue, user/bookings management, reports and dated cancellation.</a:t>
            </a:r>
          </a:p>
        </p:txBody>
      </p:sp>
      <p:sp>
        <p:nvSpPr>
          <p:cNvPr id="17" name="shape-553">
            <a:extLst xmlns:a="http://schemas.openxmlformats.org/drawingml/2006/main">
              <a:ext uri="{FF2B5EF4-FFF2-40B4-BE49-F238E27FC236}">
                <a16:creationId xmlns:a16="http://schemas.microsoft.com/office/drawing/2014/main" id="{90F24C4A-CC43-47B0-8365-06526FEDE978}"/>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C5D2E9"/>
          </a:solidFill>
          <a:ln xmlns:a="http://schemas.openxmlformats.org/drawingml/2006/main" w="0">
            <a:noFill/>
          </a:ln>
        </p:spPr>
      </p:sp>
      <p:sp>
        <p:nvSpPr>
          <p:cNvPr id="18" name="shape-554">
            <a:extLst xmlns:a="http://schemas.openxmlformats.org/drawingml/2006/main">
              <a:ext uri="{FF2B5EF4-FFF2-40B4-BE49-F238E27FC236}">
                <a16:creationId xmlns:a16="http://schemas.microsoft.com/office/drawing/2014/main" id="{D7AD97E6-5DCC-4242-A8DE-5759C11E388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459E0"/>
                </a:solidFill>
                <a:latin typeface="Arial"/>
                <a:ea typeface="Arial"/>
                <a:cs typeface="Arial"/>
              </a:defRPr>
            </a:defPPr>
          </a:lstStyle>
          <a:p xmlns:a="http://schemas.openxmlformats.org/drawingml/2006/main">
            <a:pPr algn="l">
              <a:defRPr sz="1800" b="1">
                <a:solidFill>
                  <a:srgbClr val="2459E0"/>
                </a:solidFill>
                <a:latin typeface="Arial"/>
                <a:ea typeface="Arial"/>
                <a:cs typeface="Arial"/>
              </a:defRPr>
            </a:pPr>
            <a:r>
              <a:rPr sz="1800" b="1">
                <a:solidFill>
                  <a:srgbClr val="2459E0"/>
                </a:solidFill>
                <a:latin typeface="Arial"/>
                <a:ea typeface="Arial"/>
                <a:cs typeface="Arial"/>
              </a:rPr>
              <a:t>A consistent navy, cobalt and cyan identity spans the website, tickets and emails.</a:t>
            </a:r>
          </a:p>
        </p:txBody>
      </p:sp>
    </p:spTree>
    <p:extLst>
      <p:ext uri="{BB962C8B-B14F-4D97-AF65-F5344CB8AC3E}">
        <p14:creationId xmlns:p14="http://schemas.microsoft.com/office/powerpoint/2010/main" val="736456116"/>
      </p:ext>
    </p:extLst>
  </p:cSld>
</p:sld>
</file>

<file path=ppt/slides/slide6.xml><?xml version="1.0" encoding="utf-8"?>
<p:sld xmlns:p="http://schemas.openxmlformats.org/presentationml/2006/main">
  <p:cSld>
    <p:bg>
      <p:bgPr>
        <a:solidFill xmlns:a="http://schemas.openxmlformats.org/drawingml/2006/main">
          <a:srgbClr val="0B163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B411234-B933-49C0-8DEE-1CF93CA2C920}"/>
              </a:ext>
            </a:extLst>
          </p:cNvPr>
          <p:cNvCxnSpPr>
            <a:stCxn xmlns:a="http://schemas.openxmlformats.org/drawingml/2006/main" id="7" idx="3"/>
            <a:endCxn xmlns:a="http://schemas.openxmlformats.org/drawingml/2006/main" id="8" idx="1"/>
          </p:cNvCxnSpPr>
          <p:nvPr/>
        </p:nvCxnSpPr>
        <p:spPr>
          <a:xfrm xmlns:a="http://schemas.openxmlformats.org/drawingml/2006/main">
            <a:off x="7705725" y="2819400"/>
            <a:ext cx="6953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E1007806-3EF4-46D4-98AC-F40121108FFF}"/>
              </a:ext>
            </a:extLst>
          </p:cNvPr>
          <p:cNvCxnSpPr>
            <a:stCxn xmlns:a="http://schemas.openxmlformats.org/drawingml/2006/main" id="6" idx="3"/>
            <a:endCxn xmlns:a="http://schemas.openxmlformats.org/drawingml/2006/main" id="7" idx="1"/>
          </p:cNvCxnSpPr>
          <p:nvPr/>
        </p:nvCxnSpPr>
        <p:spPr>
          <a:xfrm xmlns:a="http://schemas.openxmlformats.org/drawingml/2006/main">
            <a:off x="3771900" y="2819400"/>
            <a:ext cx="695325" cy="0"/>
          </a:xfrm>
          <a:prstGeom xmlns:a="http://schemas.openxmlformats.org/drawingml/2006/main" prst="straightConnector1">
            <a:avLst/>
          </a:prstGeom>
          <a:ln xmlns:a="http://schemas.openxmlformats.org/drawingml/2006/main" w="25718">
            <a:solidFill>
              <a:srgbClr val="2459E0"/>
            </a:solidFill>
            <a:prstDash val="solid"/>
            <a:tailEnd type="arrow" w="med" len="med"/>
          </a:ln>
        </p:spPr>
      </p:cxnSp>
      <p:sp>
        <p:nvSpPr>
          <p:cNvPr id="17" name="shape-555">
            <a:extLst xmlns:a="http://schemas.openxmlformats.org/drawingml/2006/main">
              <a:ext uri="{FF2B5EF4-FFF2-40B4-BE49-F238E27FC236}">
                <a16:creationId xmlns:a16="http://schemas.microsoft.com/office/drawing/2014/main" id="{06A4E2E1-4D68-4D42-9068-041360E42829}"/>
              </a:ext>
            </a:extLst>
          </p:cNvPr>
          <p:cNvSpPr>
            <a:spLocks xmlns:a="http://schemas.openxmlformats.org/drawingml/2006/main" noGrp="1"/>
          </p:cNvSpPr>
          <p:nvPr/>
        </p:nvSpPr>
        <p:spPr>
          <a:xfrm xmlns:a="http://schemas.openxmlformats.org/drawingml/2006/main">
            <a:off x="5334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61DCF2"/>
                </a:solidFill>
                <a:latin typeface="Arial"/>
                <a:ea typeface="Arial"/>
                <a:cs typeface="Arial"/>
              </a:defRPr>
            </a:defPPr>
          </a:lstStyle>
          <a:p xmlns:a="http://schemas.openxmlformats.org/drawingml/2006/main">
            <a:pPr algn="l">
              <a:defRPr sz="1200" b="1">
                <a:solidFill>
                  <a:srgbClr val="61DCF2"/>
                </a:solidFill>
                <a:latin typeface="Arial"/>
                <a:ea typeface="Arial"/>
                <a:cs typeface="Arial"/>
              </a:defRPr>
            </a:pPr>
            <a:r>
              <a:rPr sz="1200" b="1">
                <a:solidFill>
                  <a:srgbClr val="61DCF2"/>
                </a:solidFill>
                <a:latin typeface="Arial"/>
                <a:ea typeface="Arial"/>
                <a:cs typeface="Arial"/>
              </a:rPr>
              <a:t>EVIDENCE AND CLOSING</a:t>
            </a:r>
          </a:p>
        </p:txBody>
      </p:sp>
      <p:sp>
        <p:nvSpPr>
          <p:cNvPr id="2" name="shape-556">
            <a:extLst xmlns:a="http://schemas.openxmlformats.org/drawingml/2006/main">
              <a:ext uri="{FF2B5EF4-FFF2-40B4-BE49-F238E27FC236}">
                <a16:creationId xmlns:a16="http://schemas.microsoft.com/office/drawing/2014/main" id="{14BE2E7E-6E1D-47D4-A17D-06990221BD7B}"/>
              </a:ext>
            </a:extLst>
          </p:cNvPr>
          <p:cNvSpPr>
            <a:spLocks xmlns:a="http://schemas.openxmlformats.org/drawingml/2006/main" noGrp="1"/>
          </p:cNvSpPr>
          <p:nvPr/>
        </p:nvSpPr>
        <p:spPr>
          <a:xfrm xmlns:a="http://schemas.openxmlformats.org/drawingml/2006/main">
            <a:off x="533400" y="733425"/>
            <a:ext cx="11144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My design is explainable, testable and bounded</a:t>
            </a:r>
          </a:p>
        </p:txBody>
      </p:sp>
      <p:sp>
        <p:nvSpPr>
          <p:cNvPr id="3" name="shape-557">
            <a:extLst xmlns:a="http://schemas.openxmlformats.org/drawingml/2006/main">
              <a:ext uri="{FF2B5EF4-FFF2-40B4-BE49-F238E27FC236}">
                <a16:creationId xmlns:a16="http://schemas.microsoft.com/office/drawing/2014/main" id="{9788B98B-EEF8-482E-A3DC-5F325EACF3F6}"/>
              </a:ext>
            </a:extLst>
          </p:cNvPr>
          <p:cNvSpPr>
            <a:spLocks xmlns:a="http://schemas.openxmlformats.org/drawingml/2006/main" noGrp="1"/>
          </p:cNvSpPr>
          <p:nvPr/>
        </p:nvSpPr>
        <p:spPr>
          <a:xfrm xmlns:a="http://schemas.openxmlformats.org/drawingml/2006/main">
            <a:off x="533400" y="143827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B9C9E4"/>
                </a:solidFill>
                <a:latin typeface="Arial"/>
                <a:ea typeface="Arial"/>
                <a:cs typeface="Arial"/>
              </a:defRPr>
            </a:defPPr>
          </a:lstStyle>
          <a:p xmlns:a="http://schemas.openxmlformats.org/drawingml/2006/main">
            <a:pPr algn="l">
              <a:defRPr sz="1800" b="0">
                <a:solidFill>
                  <a:srgbClr val="B9C9E4"/>
                </a:solidFill>
                <a:latin typeface="Arial"/>
                <a:ea typeface="Arial"/>
                <a:cs typeface="Arial"/>
              </a:defRPr>
            </a:pPr>
            <a:r>
              <a:rPr sz="1800" b="0">
                <a:solidFill>
                  <a:srgbClr val="B9C9E4"/>
                </a:solidFill>
                <a:latin typeface="Arial"/>
                <a:ea typeface="Arial"/>
                <a:cs typeface="Arial"/>
              </a:rPr>
              <a:t>I can show both the feature and the safeguards behind it.</a:t>
            </a:r>
          </a:p>
        </p:txBody>
      </p:sp>
      <p:sp>
        <p:nvSpPr>
          <p:cNvPr id="4" name="shape-558">
            <a:extLst xmlns:a="http://schemas.openxmlformats.org/drawingml/2006/main">
              <a:ext uri="{FF2B5EF4-FFF2-40B4-BE49-F238E27FC236}">
                <a16:creationId xmlns:a16="http://schemas.microsoft.com/office/drawing/2014/main" id="{3B3E2325-AC6E-460A-BA64-49781DA86DDC}"/>
              </a:ext>
            </a:extLst>
          </p:cNvPr>
          <p:cNvSpPr>
            <a:spLocks xmlns:a="http://schemas.openxmlformats.org/drawingml/2006/main" noGrp="1"/>
          </p:cNvSpPr>
          <p:nvPr/>
        </p:nvSpPr>
        <p:spPr>
          <a:xfrm xmlns:a="http://schemas.openxmlformats.org/drawingml/2006/main">
            <a:off x="533400" y="6477000"/>
            <a:ext cx="809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9CB1D5"/>
                </a:solidFill>
                <a:latin typeface="Arial"/>
                <a:ea typeface="Arial"/>
                <a:cs typeface="Arial"/>
              </a:defRPr>
            </a:defPPr>
          </a:lstStyle>
          <a:p xmlns:a="http://schemas.openxmlformats.org/drawingml/2006/main">
            <a:pPr algn="l">
              <a:defRPr sz="975" b="0">
                <a:solidFill>
                  <a:srgbClr val="9CB1D5"/>
                </a:solidFill>
                <a:latin typeface="Arial"/>
                <a:ea typeface="Arial"/>
                <a:cs typeface="Arial"/>
              </a:defRPr>
            </a:pPr>
            <a:r>
              <a:rPr sz="975" b="0">
                <a:solidFill>
                  <a:srgbClr val="9CB1D5"/>
                </a:solidFill>
                <a:latin typeface="Arial"/>
                <a:ea typeface="Arial"/>
                <a:cs typeface="Arial"/>
              </a:rPr>
              <a:t>RAILWIZE  /  PROJECT PRESENTATION</a:t>
            </a:r>
          </a:p>
        </p:txBody>
      </p:sp>
      <p:sp>
        <p:nvSpPr>
          <p:cNvPr id="5" name="shape-559">
            <a:extLst xmlns:a="http://schemas.openxmlformats.org/drawingml/2006/main">
              <a:ext uri="{FF2B5EF4-FFF2-40B4-BE49-F238E27FC236}">
                <a16:creationId xmlns:a16="http://schemas.microsoft.com/office/drawing/2014/main" id="{E8C1BE21-608A-4CF3-A993-4E0ACE991EE1}"/>
              </a:ext>
            </a:extLst>
          </p:cNvPr>
          <p:cNvSpPr>
            <a:spLocks xmlns:a="http://schemas.openxmlformats.org/drawingml/2006/main" noGrp="1"/>
          </p:cNvSpPr>
          <p:nvPr/>
        </p:nvSpPr>
        <p:spPr>
          <a:xfrm xmlns:a="http://schemas.openxmlformats.org/drawingml/2006/main">
            <a:off x="10572750" y="6457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9CB1D5"/>
                </a:solidFill>
                <a:latin typeface="Arial"/>
                <a:ea typeface="Arial"/>
                <a:cs typeface="Arial"/>
              </a:defRPr>
            </a:defPPr>
          </a:lstStyle>
          <a:p xmlns:a="http://schemas.openxmlformats.org/drawingml/2006/main">
            <a:pPr algn="r">
              <a:defRPr sz="1125" b="0">
                <a:solidFill>
                  <a:srgbClr val="9CB1D5"/>
                </a:solidFill>
                <a:latin typeface="Arial"/>
                <a:ea typeface="Arial"/>
                <a:cs typeface="Arial"/>
              </a:defRPr>
            </a:pPr>
            <a:r>
              <a:rPr sz="1125" b="0">
                <a:solidFill>
                  <a:srgbClr val="9CB1D5"/>
                </a:solidFill>
                <a:latin typeface="Arial"/>
                <a:ea typeface="Arial"/>
                <a:cs typeface="Arial"/>
              </a:rPr>
              <a:t>06 / 6</a:t>
            </a:r>
          </a:p>
        </p:txBody>
      </p:sp>
      <p:sp>
        <p:nvSpPr>
          <p:cNvPr id="6" name="shape-560">
            <a:extLst xmlns:a="http://schemas.openxmlformats.org/drawingml/2006/main">
              <a:ext uri="{FF2B5EF4-FFF2-40B4-BE49-F238E27FC236}">
                <a16:creationId xmlns:a16="http://schemas.microsoft.com/office/drawing/2014/main" id="{6B1B775F-2002-423E-961F-816028B0FCB3}"/>
              </a:ext>
            </a:extLst>
          </p:cNvPr>
          <p:cNvSpPr>
            <a:spLocks xmlns:a="http://schemas.openxmlformats.org/drawingml/2006/main" noGrp="1"/>
          </p:cNvSpPr>
          <p:nvPr/>
        </p:nvSpPr>
        <p:spPr>
          <a:xfrm xmlns:a="http://schemas.openxmlformats.org/drawingml/2006/main">
            <a:off x="533400" y="2390775"/>
            <a:ext cx="3238500" cy="857250"/>
          </a:xfrm>
          <a:prstGeom xmlns:a="http://schemas.openxmlformats.org/drawingml/2006/main" prst="rect">
            <a:avLst/>
          </a:prstGeom>
          <a:solidFill xmlns:a="http://schemas.openxmlformats.org/drawingml/2006/main">
            <a:srgbClr val="2459E0"/>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Rule tests</a:t>
            </a:r>
          </a:p>
        </p:txBody>
      </p:sp>
      <p:sp>
        <p:nvSpPr>
          <p:cNvPr id="7" name="shape-561">
            <a:extLst xmlns:a="http://schemas.openxmlformats.org/drawingml/2006/main">
              <a:ext uri="{FF2B5EF4-FFF2-40B4-BE49-F238E27FC236}">
                <a16:creationId xmlns:a16="http://schemas.microsoft.com/office/drawing/2014/main" id="{D4E7FE65-AB02-4527-B8F4-4EB6B9F7A27C}"/>
              </a:ext>
            </a:extLst>
          </p:cNvPr>
          <p:cNvSpPr>
            <a:spLocks xmlns:a="http://schemas.openxmlformats.org/drawingml/2006/main" noGrp="1"/>
          </p:cNvSpPr>
          <p:nvPr/>
        </p:nvSpPr>
        <p:spPr>
          <a:xfrm xmlns:a="http://schemas.openxmlformats.org/drawingml/2006/main">
            <a:off x="4467225" y="2390775"/>
            <a:ext cx="32385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Integration checks</a:t>
            </a:r>
          </a:p>
        </p:txBody>
      </p:sp>
      <p:sp>
        <p:nvSpPr>
          <p:cNvPr id="8" name="shape-562">
            <a:extLst xmlns:a="http://schemas.openxmlformats.org/drawingml/2006/main">
              <a:ext uri="{FF2B5EF4-FFF2-40B4-BE49-F238E27FC236}">
                <a16:creationId xmlns:a16="http://schemas.microsoft.com/office/drawing/2014/main" id="{A0F0CB9A-23BE-4FE6-9E1C-747121142A33}"/>
              </a:ext>
            </a:extLst>
          </p:cNvPr>
          <p:cNvSpPr>
            <a:spLocks xmlns:a="http://schemas.openxmlformats.org/drawingml/2006/main" noGrp="1"/>
          </p:cNvSpPr>
          <p:nvPr/>
        </p:nvSpPr>
        <p:spPr>
          <a:xfrm xmlns:a="http://schemas.openxmlformats.org/drawingml/2006/main">
            <a:off x="8401050" y="2390775"/>
            <a:ext cx="3238500" cy="857250"/>
          </a:xfrm>
          <a:prstGeom xmlns:a="http://schemas.openxmlformats.org/drawingml/2006/main" prst="rect">
            <a:avLst/>
          </a:prstGeom>
          <a:solidFill xmlns:a="http://schemas.openxmlformats.org/drawingml/2006/main">
            <a:srgbClr val="EDF3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defPPr algn="ctr">
              <a:defRPr sz="1875" b="1">
                <a:solidFill>
                  <a:srgbClr val="152442"/>
                </a:solidFill>
                <a:latin typeface="Arial"/>
                <a:ea typeface="Arial"/>
                <a:cs typeface="Arial"/>
              </a:defRPr>
            </a:defPPr>
          </a:lstStyle>
          <a:p xmlns:a="http://schemas.openxmlformats.org/drawingml/2006/main">
            <a:pPr algn="ctr">
              <a:defRPr sz="1875" b="1">
                <a:solidFill>
                  <a:srgbClr val="152442"/>
                </a:solidFill>
                <a:latin typeface="Arial"/>
                <a:ea typeface="Arial"/>
                <a:cs typeface="Arial"/>
              </a:defRPr>
            </a:pPr>
            <a:r>
              <a:rPr sz="1875" b="1">
                <a:solidFill>
                  <a:srgbClr val="152442"/>
                </a:solidFill>
                <a:latin typeface="Arial"/>
                <a:ea typeface="Arial"/>
                <a:cs typeface="Arial"/>
              </a:rPr>
              <a:t>Browser journeys</a:t>
            </a:r>
          </a:p>
        </p:txBody>
      </p:sp>
      <p:sp>
        <p:nvSpPr>
          <p:cNvPr id="11" name="shape-563">
            <a:extLst xmlns:a="http://schemas.openxmlformats.org/drawingml/2006/main">
              <a:ext uri="{FF2B5EF4-FFF2-40B4-BE49-F238E27FC236}">
                <a16:creationId xmlns:a16="http://schemas.microsoft.com/office/drawing/2014/main" id="{B728902B-9DED-4194-B859-24F419D0EC66}"/>
              </a:ext>
            </a:extLst>
          </p:cNvPr>
          <p:cNvSpPr>
            <a:spLocks xmlns:a="http://schemas.openxmlformats.org/drawingml/2006/main" noGrp="1"/>
          </p:cNvSpPr>
          <p:nvPr/>
        </p:nvSpPr>
        <p:spPr>
          <a:xfrm xmlns:a="http://schemas.openxmlformats.org/drawingml/2006/main">
            <a:off x="533400" y="3571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JUnit + Mockito</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Jasmine</a:t>
            </a:r>
          </a:p>
        </p:txBody>
      </p:sp>
      <p:sp>
        <p:nvSpPr>
          <p:cNvPr id="12" name="shape-564">
            <a:extLst xmlns:a="http://schemas.openxmlformats.org/drawingml/2006/main">
              <a:ext uri="{FF2B5EF4-FFF2-40B4-BE49-F238E27FC236}">
                <a16:creationId xmlns:a16="http://schemas.microsoft.com/office/drawing/2014/main" id="{B704AFC3-EB36-41C6-AE3A-A0FE2912B0C0}"/>
              </a:ext>
            </a:extLst>
          </p:cNvPr>
          <p:cNvSpPr>
            <a:spLocks xmlns:a="http://schemas.openxmlformats.org/drawingml/2006/main" noGrp="1"/>
          </p:cNvSpPr>
          <p:nvPr/>
        </p:nvSpPr>
        <p:spPr>
          <a:xfrm xmlns:a="http://schemas.openxmlformats.org/drawingml/2006/main">
            <a:off x="4467225" y="3571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H2 + controlled</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service dependencies</a:t>
            </a:r>
          </a:p>
        </p:txBody>
      </p:sp>
      <p:sp>
        <p:nvSpPr>
          <p:cNvPr id="13" name="shape-565">
            <a:extLst xmlns:a="http://schemas.openxmlformats.org/drawingml/2006/main">
              <a:ext uri="{FF2B5EF4-FFF2-40B4-BE49-F238E27FC236}">
                <a16:creationId xmlns:a16="http://schemas.microsoft.com/office/drawing/2014/main" id="{B828F85C-7B02-4EA9-91B8-710FA007AD17}"/>
              </a:ext>
            </a:extLst>
          </p:cNvPr>
          <p:cNvSpPr>
            <a:spLocks xmlns:a="http://schemas.openxmlformats.org/drawingml/2006/main" noGrp="1"/>
          </p:cNvSpPr>
          <p:nvPr/>
        </p:nvSpPr>
        <p:spPr>
          <a:xfrm xmlns:a="http://schemas.openxmlformats.org/drawingml/2006/main">
            <a:off x="8401050" y="3571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Playwright + provider</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test-mode checks</a:t>
            </a:r>
          </a:p>
        </p:txBody>
      </p:sp>
      <p:sp>
        <p:nvSpPr>
          <p:cNvPr id="14" name="shape-566">
            <a:extLst xmlns:a="http://schemas.openxmlformats.org/drawingml/2006/main">
              <a:ext uri="{FF2B5EF4-FFF2-40B4-BE49-F238E27FC236}">
                <a16:creationId xmlns:a16="http://schemas.microsoft.com/office/drawing/2014/main" id="{A8FC2D59-4E16-4B32-8323-1C9F464D330C}"/>
              </a:ext>
            </a:extLst>
          </p:cNvPr>
          <p:cNvSpPr>
            <a:spLocks xmlns:a="http://schemas.openxmlformats.org/drawingml/2006/main" noGrp="1"/>
          </p:cNvSpPr>
          <p:nvPr/>
        </p:nvSpPr>
        <p:spPr>
          <a:xfrm xmlns:a="http://schemas.openxmlformats.org/drawingml/2006/main">
            <a:off x="533400" y="5038725"/>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Next: durable AI state, deeper observability and measured load testing.</a:t>
            </a:r>
          </a:p>
        </p:txBody>
      </p:sp>
      <p:sp>
        <p:nvSpPr>
          <p:cNvPr id="15" name="shape-567">
            <a:extLst xmlns:a="http://schemas.openxmlformats.org/drawingml/2006/main">
              <a:ext uri="{FF2B5EF4-FFF2-40B4-BE49-F238E27FC236}">
                <a16:creationId xmlns:a16="http://schemas.microsoft.com/office/drawing/2014/main" id="{E06284F4-A6E3-48FA-976F-0CDEF5C6F0DA}"/>
              </a:ext>
            </a:extLst>
          </p:cNvPr>
          <p:cNvSpPr>
            <a:spLocks xmlns:a="http://schemas.openxmlformats.org/drawingml/2006/main" noGrp="1"/>
          </p:cNvSpPr>
          <p:nvPr/>
        </p:nvSpPr>
        <p:spPr>
          <a:xfrm xmlns:a="http://schemas.openxmlformats.org/drawingml/2006/main">
            <a:off x="533400" y="5838825"/>
            <a:ext cx="11125200" cy="19050"/>
          </a:xfrm>
          <a:prstGeom xmlns:a="http://schemas.openxmlformats.org/drawingml/2006/main" prst="rect">
            <a:avLst/>
          </a:prstGeom>
          <a:solidFill xmlns:a="http://schemas.openxmlformats.org/drawingml/2006/main">
            <a:srgbClr val="304361"/>
          </a:solidFill>
          <a:ln xmlns:a="http://schemas.openxmlformats.org/drawingml/2006/main" w="0">
            <a:noFill/>
          </a:ln>
        </p:spPr>
      </p:sp>
      <p:sp>
        <p:nvSpPr>
          <p:cNvPr id="16" name="shape-568">
            <a:extLst xmlns:a="http://schemas.openxmlformats.org/drawingml/2006/main">
              <a:ext uri="{FF2B5EF4-FFF2-40B4-BE49-F238E27FC236}">
                <a16:creationId xmlns:a16="http://schemas.microsoft.com/office/drawing/2014/main" id="{8419C881-F5AA-48A1-92D3-76A500576532}"/>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61DCF2"/>
                </a:solidFill>
                <a:latin typeface="Arial"/>
                <a:ea typeface="Arial"/>
                <a:cs typeface="Arial"/>
              </a:defRPr>
            </a:defPPr>
          </a:lstStyle>
          <a:p xmlns:a="http://schemas.openxmlformats.org/drawingml/2006/main">
            <a:pPr algn="l">
              <a:defRPr sz="1800" b="1">
                <a:solidFill>
                  <a:srgbClr val="61DCF2"/>
                </a:solidFill>
                <a:latin typeface="Arial"/>
                <a:ea typeface="Arial"/>
                <a:cs typeface="Arial"/>
              </a:defRPr>
            </a:pPr>
            <a:r>
              <a:rPr sz="1800" b="1">
                <a:solidFill>
                  <a:srgbClr val="61DCF2"/>
                </a:solidFill>
                <a:latin typeface="Arial"/>
                <a:ea typeface="Arial"/>
                <a:cs typeface="Arial"/>
              </a:rPr>
              <a:t>My result: better journey discovery with visible, controlled booking outcomes.</a:t>
            </a:r>
          </a:p>
        </p:txBody>
      </p:sp>
    </p:spTree>
    <p:extLst>
      <p:ext uri="{BB962C8B-B14F-4D97-AF65-F5344CB8AC3E}">
        <p14:creationId xmlns:p14="http://schemas.microsoft.com/office/powerpoint/2010/main" val="1994992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2026-10-13T21:44:52.7020000Z</dcterms:created>
  <dcterms:modified xsi:type="dcterms:W3CDTF">2026-10-13T21:44:52.7020000Z</dcterms:modified>
</coreProperties>
</file>